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10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9" r:id="rId4"/>
    <p:sldId id="286" r:id="rId5"/>
    <p:sldId id="266" r:id="rId6"/>
    <p:sldId id="287" r:id="rId7"/>
    <p:sldId id="288" r:id="rId8"/>
    <p:sldId id="291" r:id="rId9"/>
    <p:sldId id="290" r:id="rId10"/>
    <p:sldId id="289" r:id="rId11"/>
    <p:sldId id="267" r:id="rId12"/>
    <p:sldId id="297" r:id="rId13"/>
    <p:sldId id="298" r:id="rId14"/>
    <p:sldId id="299" r:id="rId15"/>
    <p:sldId id="296" r:id="rId16"/>
    <p:sldId id="268" r:id="rId17"/>
    <p:sldId id="269" r:id="rId18"/>
    <p:sldId id="294" r:id="rId19"/>
    <p:sldId id="295" r:id="rId20"/>
    <p:sldId id="273" r:id="rId21"/>
    <p:sldId id="257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2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紫琪" initials="紫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701E5E"/>
    <a:srgbClr val="A2508C"/>
    <a:srgbClr val="B78EAE"/>
    <a:srgbClr val="AD4591"/>
    <a:srgbClr val="C65844"/>
    <a:srgbClr val="FBF9F8"/>
    <a:srgbClr val="EFE6E1"/>
    <a:srgbClr val="E0CEC3"/>
    <a:srgbClr val="DED6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86" d="100"/>
          <a:sy n="86" d="100"/>
        </p:scale>
        <p:origin x="614" y="62"/>
      </p:cViewPr>
      <p:guideLst>
        <p:guide orient="horz" pos="242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commentAuthors" Target="commentAuthors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100" name="图片 99"/>
          <p:cNvPicPr/>
          <p:nvPr userDrawn="1">
            <p:custDataLst>
              <p:tags r:id="rId7"/>
            </p:custDataLst>
          </p:nvPr>
        </p:nvPicPr>
        <p:blipFill>
          <a:blip r:embed="rId8"/>
          <a:srcRect b="5315"/>
          <a:stretch>
            <a:fillRect/>
          </a:stretch>
        </p:blipFill>
        <p:spPr>
          <a:xfrm>
            <a:off x="2538095" y="2540"/>
            <a:ext cx="9653905" cy="68554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矩形 4"/>
          <p:cNvSpPr/>
          <p:nvPr userDrawn="1"/>
        </p:nvSpPr>
        <p:spPr>
          <a:xfrm>
            <a:off x="0" y="0"/>
            <a:ext cx="5348605" cy="6858000"/>
          </a:xfrm>
          <a:prstGeom prst="rect">
            <a:avLst/>
          </a:prstGeom>
          <a:solidFill>
            <a:srgbClr val="701E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图片 99"/>
          <p:cNvPicPr/>
          <p:nvPr userDrawn="1">
            <p:custDataLst>
              <p:tags r:id="rId2"/>
            </p:custDataLst>
          </p:nvPr>
        </p:nvPicPr>
        <p:blipFill>
          <a:blip r:embed="rId3"/>
          <a:srcRect l="16424" b="5315"/>
          <a:stretch>
            <a:fillRect/>
          </a:stretch>
        </p:blipFill>
        <p:spPr>
          <a:xfrm>
            <a:off x="-29845" y="0"/>
            <a:ext cx="8068310" cy="68554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矩形 9"/>
          <p:cNvSpPr/>
          <p:nvPr userDrawn="1"/>
        </p:nvSpPr>
        <p:spPr>
          <a:xfrm>
            <a:off x="5349240" y="8890"/>
            <a:ext cx="684276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图片 99"/>
          <p:cNvPicPr/>
          <p:nvPr userDrawn="1"/>
        </p:nvPicPr>
        <p:blipFill>
          <a:blip r:embed="rId2"/>
          <a:srcRect t="-70" r="15129" b="5315"/>
          <a:stretch>
            <a:fillRect/>
          </a:stretch>
        </p:blipFill>
        <p:spPr>
          <a:xfrm>
            <a:off x="4021455" y="-5080"/>
            <a:ext cx="8193405" cy="686054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矩形 7"/>
          <p:cNvSpPr/>
          <p:nvPr userDrawn="1"/>
        </p:nvSpPr>
        <p:spPr>
          <a:xfrm>
            <a:off x="0" y="0"/>
            <a:ext cx="681228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135890" y="127000"/>
            <a:ext cx="11916000" cy="6604000"/>
          </a:xfrm>
          <a:prstGeom prst="rect">
            <a:avLst/>
          </a:prstGeom>
          <a:noFill/>
          <a:ln w="28575">
            <a:solidFill>
              <a:srgbClr val="701E5E">
                <a:alpha val="50000"/>
              </a:srgbClr>
            </a:solidFill>
            <a:beve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/>
          <a:srcRect l="44723" t="20915" r="33962" b="59482"/>
          <a:stretch>
            <a:fillRect/>
          </a:stretch>
        </p:blipFill>
        <p:spPr>
          <a:xfrm>
            <a:off x="538480" y="0"/>
            <a:ext cx="902033" cy="684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47.xml"/><Relationship Id="rId16" Type="http://schemas.openxmlformats.org/officeDocument/2006/relationships/tags" Target="../tags/tag46.xml"/><Relationship Id="rId15" Type="http://schemas.openxmlformats.org/officeDocument/2006/relationships/tags" Target="../tags/tag45.xml"/><Relationship Id="rId14" Type="http://schemas.openxmlformats.org/officeDocument/2006/relationships/tags" Target="../tags/tag44.xml"/><Relationship Id="rId13" Type="http://schemas.openxmlformats.org/officeDocument/2006/relationships/tags" Target="../tags/tag43.xml"/><Relationship Id="rId12" Type="http://schemas.openxmlformats.org/officeDocument/2006/relationships/tags" Target="../tags/tag4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4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49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58.xml"/><Relationship Id="rId8" Type="http://schemas.openxmlformats.org/officeDocument/2006/relationships/tags" Target="../tags/tag57.xml"/><Relationship Id="rId7" Type="http://schemas.openxmlformats.org/officeDocument/2006/relationships/tags" Target="../tags/tag56.xml"/><Relationship Id="rId6" Type="http://schemas.openxmlformats.org/officeDocument/2006/relationships/tags" Target="../tags/tag55.xml"/><Relationship Id="rId5" Type="http://schemas.openxmlformats.org/officeDocument/2006/relationships/tags" Target="../tags/tag54.xml"/><Relationship Id="rId40" Type="http://schemas.openxmlformats.org/officeDocument/2006/relationships/slideLayout" Target="../slideLayouts/slideLayout7.xml"/><Relationship Id="rId4" Type="http://schemas.openxmlformats.org/officeDocument/2006/relationships/tags" Target="../tags/tag53.xml"/><Relationship Id="rId39" Type="http://schemas.openxmlformats.org/officeDocument/2006/relationships/tags" Target="../tags/tag80.xml"/><Relationship Id="rId38" Type="http://schemas.openxmlformats.org/officeDocument/2006/relationships/tags" Target="../tags/tag79.xml"/><Relationship Id="rId37" Type="http://schemas.openxmlformats.org/officeDocument/2006/relationships/tags" Target="../tags/tag78.xml"/><Relationship Id="rId36" Type="http://schemas.openxmlformats.org/officeDocument/2006/relationships/tags" Target="../tags/tag77.xml"/><Relationship Id="rId35" Type="http://schemas.openxmlformats.org/officeDocument/2006/relationships/tags" Target="../tags/tag76.xml"/><Relationship Id="rId34" Type="http://schemas.openxmlformats.org/officeDocument/2006/relationships/tags" Target="../tags/tag75.xml"/><Relationship Id="rId33" Type="http://schemas.openxmlformats.org/officeDocument/2006/relationships/image" Target="../media/image10.svg"/><Relationship Id="rId32" Type="http://schemas.openxmlformats.org/officeDocument/2006/relationships/image" Target="../media/image9.png"/><Relationship Id="rId31" Type="http://schemas.openxmlformats.org/officeDocument/2006/relationships/tags" Target="../tags/tag74.xml"/><Relationship Id="rId30" Type="http://schemas.openxmlformats.org/officeDocument/2006/relationships/tags" Target="../tags/tag73.xml"/><Relationship Id="rId3" Type="http://schemas.openxmlformats.org/officeDocument/2006/relationships/tags" Target="../tags/tag52.xml"/><Relationship Id="rId29" Type="http://schemas.openxmlformats.org/officeDocument/2006/relationships/tags" Target="../tags/tag72.xml"/><Relationship Id="rId28" Type="http://schemas.openxmlformats.org/officeDocument/2006/relationships/image" Target="../media/image8.svg"/><Relationship Id="rId27" Type="http://schemas.openxmlformats.org/officeDocument/2006/relationships/image" Target="../media/image7.png"/><Relationship Id="rId26" Type="http://schemas.openxmlformats.org/officeDocument/2006/relationships/tags" Target="../tags/tag71.xml"/><Relationship Id="rId25" Type="http://schemas.openxmlformats.org/officeDocument/2006/relationships/tags" Target="../tags/tag70.xml"/><Relationship Id="rId24" Type="http://schemas.openxmlformats.org/officeDocument/2006/relationships/tags" Target="../tags/tag69.xml"/><Relationship Id="rId23" Type="http://schemas.openxmlformats.org/officeDocument/2006/relationships/image" Target="../media/image6.svg"/><Relationship Id="rId22" Type="http://schemas.openxmlformats.org/officeDocument/2006/relationships/image" Target="../media/image5.png"/><Relationship Id="rId21" Type="http://schemas.openxmlformats.org/officeDocument/2006/relationships/tags" Target="../tags/tag68.xml"/><Relationship Id="rId20" Type="http://schemas.openxmlformats.org/officeDocument/2006/relationships/tags" Target="../tags/tag67.xml"/><Relationship Id="rId2" Type="http://schemas.openxmlformats.org/officeDocument/2006/relationships/tags" Target="../tags/tag51.xml"/><Relationship Id="rId19" Type="http://schemas.openxmlformats.org/officeDocument/2006/relationships/tags" Target="../tags/tag66.xml"/><Relationship Id="rId18" Type="http://schemas.openxmlformats.org/officeDocument/2006/relationships/image" Target="../media/image4.svg"/><Relationship Id="rId17" Type="http://schemas.openxmlformats.org/officeDocument/2006/relationships/image" Target="../media/image3.png"/><Relationship Id="rId16" Type="http://schemas.openxmlformats.org/officeDocument/2006/relationships/tags" Target="../tags/tag65.xml"/><Relationship Id="rId15" Type="http://schemas.openxmlformats.org/officeDocument/2006/relationships/tags" Target="../tags/tag64.xml"/><Relationship Id="rId14" Type="http://schemas.openxmlformats.org/officeDocument/2006/relationships/tags" Target="../tags/tag63.xml"/><Relationship Id="rId13" Type="http://schemas.openxmlformats.org/officeDocument/2006/relationships/tags" Target="../tags/tag62.xml"/><Relationship Id="rId12" Type="http://schemas.openxmlformats.org/officeDocument/2006/relationships/tags" Target="../tags/tag61.xml"/><Relationship Id="rId11" Type="http://schemas.openxmlformats.org/officeDocument/2006/relationships/tags" Target="../tags/tag60.xml"/><Relationship Id="rId10" Type="http://schemas.openxmlformats.org/officeDocument/2006/relationships/tags" Target="../tags/tag59.xml"/><Relationship Id="rId1" Type="http://schemas.openxmlformats.org/officeDocument/2006/relationships/tags" Target="../tags/tag50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88.xml"/><Relationship Id="rId8" Type="http://schemas.openxmlformats.org/officeDocument/2006/relationships/tags" Target="../tags/tag87.xml"/><Relationship Id="rId7" Type="http://schemas.openxmlformats.org/officeDocument/2006/relationships/tags" Target="../tags/tag86.xml"/><Relationship Id="rId6" Type="http://schemas.openxmlformats.org/officeDocument/2006/relationships/tags" Target="../tags/tag85.xml"/><Relationship Id="rId5" Type="http://schemas.openxmlformats.org/officeDocument/2006/relationships/tags" Target="../tags/tag84.xml"/><Relationship Id="rId4" Type="http://schemas.openxmlformats.org/officeDocument/2006/relationships/tags" Target="../tags/tag83.xml"/><Relationship Id="rId3" Type="http://schemas.openxmlformats.org/officeDocument/2006/relationships/tags" Target="../tags/tag82.xml"/><Relationship Id="rId2" Type="http://schemas.openxmlformats.org/officeDocument/2006/relationships/image" Target="../media/image1.jpeg"/><Relationship Id="rId17" Type="http://schemas.openxmlformats.org/officeDocument/2006/relationships/slideLayout" Target="../slideLayouts/slideLayout7.xml"/><Relationship Id="rId16" Type="http://schemas.openxmlformats.org/officeDocument/2006/relationships/tags" Target="../tags/tag95.xml"/><Relationship Id="rId15" Type="http://schemas.openxmlformats.org/officeDocument/2006/relationships/tags" Target="../tags/tag94.xml"/><Relationship Id="rId14" Type="http://schemas.openxmlformats.org/officeDocument/2006/relationships/tags" Target="../tags/tag93.xml"/><Relationship Id="rId13" Type="http://schemas.openxmlformats.org/officeDocument/2006/relationships/tags" Target="../tags/tag92.xml"/><Relationship Id="rId12" Type="http://schemas.openxmlformats.org/officeDocument/2006/relationships/tags" Target="../tags/tag91.xml"/><Relationship Id="rId11" Type="http://schemas.openxmlformats.org/officeDocument/2006/relationships/tags" Target="../tags/tag90.xml"/><Relationship Id="rId10" Type="http://schemas.openxmlformats.org/officeDocument/2006/relationships/tags" Target="../tags/tag89.xml"/><Relationship Id="rId1" Type="http://schemas.openxmlformats.org/officeDocument/2006/relationships/tags" Target="../tags/tag8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04.xml"/><Relationship Id="rId8" Type="http://schemas.openxmlformats.org/officeDocument/2006/relationships/tags" Target="../tags/tag103.xml"/><Relationship Id="rId7" Type="http://schemas.openxmlformats.org/officeDocument/2006/relationships/tags" Target="../tags/tag102.xml"/><Relationship Id="rId6" Type="http://schemas.openxmlformats.org/officeDocument/2006/relationships/tags" Target="../tags/tag101.xml"/><Relationship Id="rId5" Type="http://schemas.openxmlformats.org/officeDocument/2006/relationships/tags" Target="../tags/tag100.xml"/><Relationship Id="rId4" Type="http://schemas.openxmlformats.org/officeDocument/2006/relationships/tags" Target="../tags/tag99.xml"/><Relationship Id="rId3" Type="http://schemas.openxmlformats.org/officeDocument/2006/relationships/tags" Target="../tags/tag98.xml"/><Relationship Id="rId2" Type="http://schemas.openxmlformats.org/officeDocument/2006/relationships/tags" Target="../tags/tag97.xml"/><Relationship Id="rId14" Type="http://schemas.openxmlformats.org/officeDocument/2006/relationships/slideLayout" Target="../slideLayouts/slideLayout7.xml"/><Relationship Id="rId13" Type="http://schemas.openxmlformats.org/officeDocument/2006/relationships/tags" Target="../tags/tag107.xml"/><Relationship Id="rId12" Type="http://schemas.openxmlformats.org/officeDocument/2006/relationships/image" Target="../media/image11.png"/><Relationship Id="rId11" Type="http://schemas.openxmlformats.org/officeDocument/2006/relationships/tags" Target="../tags/tag106.xml"/><Relationship Id="rId10" Type="http://schemas.openxmlformats.org/officeDocument/2006/relationships/tags" Target="../tags/tag105.xml"/><Relationship Id="rId1" Type="http://schemas.openxmlformats.org/officeDocument/2006/relationships/tags" Target="../tags/tag96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110.xml"/><Relationship Id="rId3" Type="http://schemas.openxmlformats.org/officeDocument/2006/relationships/tags" Target="../tags/tag109.xml"/><Relationship Id="rId2" Type="http://schemas.openxmlformats.org/officeDocument/2006/relationships/image" Target="../media/image12.png"/><Relationship Id="rId1" Type="http://schemas.openxmlformats.org/officeDocument/2006/relationships/tags" Target="../tags/tag108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118.xml"/><Relationship Id="rId7" Type="http://schemas.openxmlformats.org/officeDocument/2006/relationships/tags" Target="../tags/tag117.xml"/><Relationship Id="rId6" Type="http://schemas.openxmlformats.org/officeDocument/2006/relationships/tags" Target="../tags/tag116.xml"/><Relationship Id="rId5" Type="http://schemas.openxmlformats.org/officeDocument/2006/relationships/tags" Target="../tags/tag115.xml"/><Relationship Id="rId4" Type="http://schemas.openxmlformats.org/officeDocument/2006/relationships/tags" Target="../tags/tag114.xml"/><Relationship Id="rId3" Type="http://schemas.openxmlformats.org/officeDocument/2006/relationships/tags" Target="../tags/tag113.xml"/><Relationship Id="rId2" Type="http://schemas.openxmlformats.org/officeDocument/2006/relationships/tags" Target="../tags/tag112.xml"/><Relationship Id="rId1" Type="http://schemas.openxmlformats.org/officeDocument/2006/relationships/tags" Target="../tags/tag111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121.xml"/><Relationship Id="rId3" Type="http://schemas.openxmlformats.org/officeDocument/2006/relationships/image" Target="../media/image13.png"/><Relationship Id="rId2" Type="http://schemas.openxmlformats.org/officeDocument/2006/relationships/tags" Target="../tags/tag120.xml"/><Relationship Id="rId1" Type="http://schemas.openxmlformats.org/officeDocument/2006/relationships/tags" Target="../tags/tag119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28.xml"/><Relationship Id="rId8" Type="http://schemas.openxmlformats.org/officeDocument/2006/relationships/tags" Target="../tags/tag127.xml"/><Relationship Id="rId7" Type="http://schemas.openxmlformats.org/officeDocument/2006/relationships/tags" Target="../tags/tag126.xml"/><Relationship Id="rId6" Type="http://schemas.openxmlformats.org/officeDocument/2006/relationships/tags" Target="../tags/tag125.xml"/><Relationship Id="rId5" Type="http://schemas.openxmlformats.org/officeDocument/2006/relationships/tags" Target="../tags/tag124.xml"/><Relationship Id="rId4" Type="http://schemas.openxmlformats.org/officeDocument/2006/relationships/tags" Target="../tags/tag123.xml"/><Relationship Id="rId3" Type="http://schemas.openxmlformats.org/officeDocument/2006/relationships/tags" Target="../tags/tag122.xml"/><Relationship Id="rId2" Type="http://schemas.openxmlformats.org/officeDocument/2006/relationships/image" Target="../media/image15.png"/><Relationship Id="rId16" Type="http://schemas.openxmlformats.org/officeDocument/2006/relationships/slideLayout" Target="../slideLayouts/slideLayout7.xml"/><Relationship Id="rId15" Type="http://schemas.openxmlformats.org/officeDocument/2006/relationships/tags" Target="../tags/tag133.xml"/><Relationship Id="rId14" Type="http://schemas.openxmlformats.org/officeDocument/2006/relationships/tags" Target="../tags/tag132.xml"/><Relationship Id="rId13" Type="http://schemas.openxmlformats.org/officeDocument/2006/relationships/image" Target="../media/image16.png"/><Relationship Id="rId12" Type="http://schemas.openxmlformats.org/officeDocument/2006/relationships/tags" Target="../tags/tag131.xml"/><Relationship Id="rId11" Type="http://schemas.openxmlformats.org/officeDocument/2006/relationships/tags" Target="../tags/tag130.xml"/><Relationship Id="rId10" Type="http://schemas.openxmlformats.org/officeDocument/2006/relationships/tags" Target="../tags/tag129.xml"/><Relationship Id="rId1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42.xml"/><Relationship Id="rId8" Type="http://schemas.openxmlformats.org/officeDocument/2006/relationships/tags" Target="../tags/tag141.xml"/><Relationship Id="rId7" Type="http://schemas.openxmlformats.org/officeDocument/2006/relationships/tags" Target="../tags/tag140.xml"/><Relationship Id="rId6" Type="http://schemas.openxmlformats.org/officeDocument/2006/relationships/tags" Target="../tags/tag139.xml"/><Relationship Id="rId5" Type="http://schemas.openxmlformats.org/officeDocument/2006/relationships/tags" Target="../tags/tag138.xml"/><Relationship Id="rId4" Type="http://schemas.openxmlformats.org/officeDocument/2006/relationships/tags" Target="../tags/tag137.xml"/><Relationship Id="rId3" Type="http://schemas.openxmlformats.org/officeDocument/2006/relationships/tags" Target="../tags/tag136.xml"/><Relationship Id="rId22" Type="http://schemas.openxmlformats.org/officeDocument/2006/relationships/slideLayout" Target="../slideLayouts/slideLayout7.xml"/><Relationship Id="rId21" Type="http://schemas.openxmlformats.org/officeDocument/2006/relationships/tags" Target="../tags/tag154.xml"/><Relationship Id="rId20" Type="http://schemas.openxmlformats.org/officeDocument/2006/relationships/tags" Target="../tags/tag153.xml"/><Relationship Id="rId2" Type="http://schemas.openxmlformats.org/officeDocument/2006/relationships/tags" Target="../tags/tag135.xml"/><Relationship Id="rId19" Type="http://schemas.openxmlformats.org/officeDocument/2006/relationships/tags" Target="../tags/tag152.xml"/><Relationship Id="rId18" Type="http://schemas.openxmlformats.org/officeDocument/2006/relationships/tags" Target="../tags/tag151.xml"/><Relationship Id="rId17" Type="http://schemas.openxmlformats.org/officeDocument/2006/relationships/tags" Target="../tags/tag150.xml"/><Relationship Id="rId16" Type="http://schemas.openxmlformats.org/officeDocument/2006/relationships/tags" Target="../tags/tag149.xml"/><Relationship Id="rId15" Type="http://schemas.openxmlformats.org/officeDocument/2006/relationships/tags" Target="../tags/tag148.xml"/><Relationship Id="rId14" Type="http://schemas.openxmlformats.org/officeDocument/2006/relationships/tags" Target="../tags/tag147.xml"/><Relationship Id="rId13" Type="http://schemas.openxmlformats.org/officeDocument/2006/relationships/tags" Target="../tags/tag146.xml"/><Relationship Id="rId12" Type="http://schemas.openxmlformats.org/officeDocument/2006/relationships/tags" Target="../tags/tag145.xml"/><Relationship Id="rId11" Type="http://schemas.openxmlformats.org/officeDocument/2006/relationships/tags" Target="../tags/tag144.xml"/><Relationship Id="rId10" Type="http://schemas.openxmlformats.org/officeDocument/2006/relationships/tags" Target="../tags/tag143.xml"/><Relationship Id="rId1" Type="http://schemas.openxmlformats.org/officeDocument/2006/relationships/tags" Target="../tags/tag13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55.xml"/><Relationship Id="rId1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56.xml"/><Relationship Id="rId1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157.xml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158.xml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tags" Target="../tags/tag161.xml"/><Relationship Id="rId4" Type="http://schemas.openxmlformats.org/officeDocument/2006/relationships/tags" Target="../tags/tag160.xml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tags" Target="../tags/tag159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168.xml"/><Relationship Id="rId8" Type="http://schemas.openxmlformats.org/officeDocument/2006/relationships/image" Target="../media/image25.png"/><Relationship Id="rId7" Type="http://schemas.openxmlformats.org/officeDocument/2006/relationships/tags" Target="../tags/tag167.xml"/><Relationship Id="rId6" Type="http://schemas.openxmlformats.org/officeDocument/2006/relationships/tags" Target="../tags/tag166.xml"/><Relationship Id="rId5" Type="http://schemas.openxmlformats.org/officeDocument/2006/relationships/tags" Target="../tags/tag165.xml"/><Relationship Id="rId4" Type="http://schemas.openxmlformats.org/officeDocument/2006/relationships/image" Target="../media/image24.png"/><Relationship Id="rId30" Type="http://schemas.openxmlformats.org/officeDocument/2006/relationships/slideLayout" Target="../slideLayouts/slideLayout7.xml"/><Relationship Id="rId3" Type="http://schemas.openxmlformats.org/officeDocument/2006/relationships/tags" Target="../tags/tag164.xml"/><Relationship Id="rId29" Type="http://schemas.openxmlformats.org/officeDocument/2006/relationships/tags" Target="../tags/tag186.xml"/><Relationship Id="rId28" Type="http://schemas.openxmlformats.org/officeDocument/2006/relationships/tags" Target="../tags/tag185.xml"/><Relationship Id="rId27" Type="http://schemas.openxmlformats.org/officeDocument/2006/relationships/tags" Target="../tags/tag184.xml"/><Relationship Id="rId26" Type="http://schemas.openxmlformats.org/officeDocument/2006/relationships/tags" Target="../tags/tag183.xml"/><Relationship Id="rId25" Type="http://schemas.openxmlformats.org/officeDocument/2006/relationships/tags" Target="../tags/tag182.xml"/><Relationship Id="rId24" Type="http://schemas.openxmlformats.org/officeDocument/2006/relationships/tags" Target="../tags/tag181.xml"/><Relationship Id="rId23" Type="http://schemas.openxmlformats.org/officeDocument/2006/relationships/tags" Target="../tags/tag180.xml"/><Relationship Id="rId22" Type="http://schemas.openxmlformats.org/officeDocument/2006/relationships/tags" Target="../tags/tag179.xml"/><Relationship Id="rId21" Type="http://schemas.openxmlformats.org/officeDocument/2006/relationships/tags" Target="../tags/tag178.xml"/><Relationship Id="rId20" Type="http://schemas.openxmlformats.org/officeDocument/2006/relationships/tags" Target="../tags/tag177.xml"/><Relationship Id="rId2" Type="http://schemas.openxmlformats.org/officeDocument/2006/relationships/tags" Target="../tags/tag163.xml"/><Relationship Id="rId19" Type="http://schemas.openxmlformats.org/officeDocument/2006/relationships/tags" Target="../tags/tag176.xml"/><Relationship Id="rId18" Type="http://schemas.openxmlformats.org/officeDocument/2006/relationships/tags" Target="../tags/tag175.xml"/><Relationship Id="rId17" Type="http://schemas.openxmlformats.org/officeDocument/2006/relationships/tags" Target="../tags/tag174.xml"/><Relationship Id="rId16" Type="http://schemas.openxmlformats.org/officeDocument/2006/relationships/image" Target="../media/image27.png"/><Relationship Id="rId15" Type="http://schemas.openxmlformats.org/officeDocument/2006/relationships/tags" Target="../tags/tag173.xml"/><Relationship Id="rId14" Type="http://schemas.openxmlformats.org/officeDocument/2006/relationships/tags" Target="../tags/tag172.xml"/><Relationship Id="rId13" Type="http://schemas.openxmlformats.org/officeDocument/2006/relationships/tags" Target="../tags/tag171.xml"/><Relationship Id="rId12" Type="http://schemas.openxmlformats.org/officeDocument/2006/relationships/image" Target="../media/image26.png"/><Relationship Id="rId11" Type="http://schemas.openxmlformats.org/officeDocument/2006/relationships/tags" Target="../tags/tag170.xml"/><Relationship Id="rId10" Type="http://schemas.openxmlformats.org/officeDocument/2006/relationships/tags" Target="../tags/tag169.xml"/><Relationship Id="rId1" Type="http://schemas.openxmlformats.org/officeDocument/2006/relationships/tags" Target="../tags/tag162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192.xml"/><Relationship Id="rId7" Type="http://schemas.openxmlformats.org/officeDocument/2006/relationships/tags" Target="../tags/tag191.xml"/><Relationship Id="rId6" Type="http://schemas.openxmlformats.org/officeDocument/2006/relationships/image" Target="../media/image29.png"/><Relationship Id="rId5" Type="http://schemas.openxmlformats.org/officeDocument/2006/relationships/tags" Target="../tags/tag190.xml"/><Relationship Id="rId4" Type="http://schemas.openxmlformats.org/officeDocument/2006/relationships/tags" Target="../tags/tag189.xml"/><Relationship Id="rId3" Type="http://schemas.openxmlformats.org/officeDocument/2006/relationships/image" Target="../media/image28.png"/><Relationship Id="rId2" Type="http://schemas.openxmlformats.org/officeDocument/2006/relationships/tags" Target="../tags/tag188.xml"/><Relationship Id="rId1" Type="http://schemas.openxmlformats.org/officeDocument/2006/relationships/tags" Target="../tags/tag187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195.xml"/><Relationship Id="rId3" Type="http://schemas.openxmlformats.org/officeDocument/2006/relationships/image" Target="../media/image30.png"/><Relationship Id="rId2" Type="http://schemas.openxmlformats.org/officeDocument/2006/relationships/tags" Target="../tags/tag194.xml"/><Relationship Id="rId1" Type="http://schemas.openxmlformats.org/officeDocument/2006/relationships/tags" Target="../tags/tag193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204.xml"/><Relationship Id="rId8" Type="http://schemas.openxmlformats.org/officeDocument/2006/relationships/tags" Target="../tags/tag203.xml"/><Relationship Id="rId7" Type="http://schemas.openxmlformats.org/officeDocument/2006/relationships/tags" Target="../tags/tag202.xml"/><Relationship Id="rId6" Type="http://schemas.openxmlformats.org/officeDocument/2006/relationships/tags" Target="../tags/tag201.xml"/><Relationship Id="rId5" Type="http://schemas.openxmlformats.org/officeDocument/2006/relationships/tags" Target="../tags/tag200.xml"/><Relationship Id="rId4" Type="http://schemas.openxmlformats.org/officeDocument/2006/relationships/tags" Target="../tags/tag199.xml"/><Relationship Id="rId3" Type="http://schemas.openxmlformats.org/officeDocument/2006/relationships/tags" Target="../tags/tag198.xml"/><Relationship Id="rId2" Type="http://schemas.openxmlformats.org/officeDocument/2006/relationships/tags" Target="../tags/tag197.xml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205.xml"/><Relationship Id="rId1" Type="http://schemas.openxmlformats.org/officeDocument/2006/relationships/tags" Target="../tags/tag19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0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0455275" y="872490"/>
            <a:ext cx="994410" cy="3693160"/>
          </a:xfrm>
          <a:prstGeom prst="rect">
            <a:avLst/>
          </a:prstGeom>
          <a:solidFill>
            <a:srgbClr val="701E5E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tIns="0" rtlCol="0" anchor="ctr"/>
          <a:lstStyle/>
          <a:p>
            <a:pPr algn="ctr">
              <a:lnSpc>
                <a:spcPct val="100000"/>
              </a:lnSpc>
            </a:pPr>
            <a:r>
              <a:rPr lang="zh-CN" altLang="en-US" sz="3000" kern="3000" spc="1000" dirty="0">
                <a:solidFill>
                  <a:schemeClr val="bg2"/>
                </a:solidFill>
                <a:uFillTx/>
                <a:latin typeface="微软雅黑 Light" panose="020B0502040204020203" charset="-122"/>
                <a:ea typeface="微软雅黑 Light" panose="020B0502040204020203" charset="-122"/>
              </a:rPr>
              <a:t>信息</a:t>
            </a:r>
            <a:r>
              <a:rPr lang="zh-CN" altLang="en-US" sz="3000" kern="3000" spc="1000" dirty="0">
                <a:solidFill>
                  <a:schemeClr val="bg2"/>
                </a:solidFill>
                <a:uFillTx/>
                <a:latin typeface="微软雅黑 Light" panose="020B0502040204020203" charset="-122"/>
                <a:ea typeface="微软雅黑 Light" panose="020B0502040204020203" charset="-122"/>
              </a:rPr>
              <a:t>隐藏技术</a:t>
            </a:r>
            <a:endParaRPr lang="zh-CN" altLang="en-US" sz="3000" kern="3000" spc="1000" dirty="0">
              <a:solidFill>
                <a:schemeClr val="bg2"/>
              </a:solidFill>
              <a:uFillTx/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746500" y="570865"/>
            <a:ext cx="921385" cy="5734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eaVert" wrap="square" rtlCol="0" anchor="ctr" anchorCtr="1">
            <a:spAutoFit/>
          </a:bodyPr>
          <a:lstStyle/>
          <a:p>
            <a:pPr algn="dist">
              <a:lnSpc>
                <a:spcPct val="100000"/>
              </a:lnSpc>
            </a:pPr>
            <a:r>
              <a:rPr lang="zh-CN" altLang="en-US" sz="4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论文阅读与复现汇报</a:t>
            </a:r>
            <a:endParaRPr lang="zh-CN" altLang="en-US" sz="48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242185" y="2926715"/>
            <a:ext cx="1365885" cy="3289300"/>
          </a:xfrm>
          <a:prstGeom prst="rect">
            <a:avLst/>
          </a:prstGeom>
          <a:noFill/>
        </p:spPr>
        <p:txBody>
          <a:bodyPr vert="eaVert" wrap="none" rtlCol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汇报人：王峥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李佳璐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黄煜斐</a:t>
            </a:r>
            <a:endParaRPr lang="zh-CN" altLang="en-US" sz="2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专业：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信息安全</a:t>
            </a:r>
            <a:endParaRPr lang="zh-CN" altLang="en-US" sz="2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endParaRPr lang="zh-CN" altLang="en-US" sz="2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092133" y="655320"/>
            <a:ext cx="374650" cy="1997710"/>
          </a:xfrm>
          <a:prstGeom prst="rect">
            <a:avLst/>
          </a:prstGeom>
          <a:solidFill>
            <a:schemeClr val="bg1"/>
          </a:solidFill>
        </p:spPr>
        <p:txBody>
          <a:bodyPr vert="eaVert" wrap="square" lIns="0" tIns="0" rIns="36195" bIns="0" rtlCol="0" anchor="ctr" anchorCtr="1">
            <a:spAutoFit/>
          </a:bodyPr>
          <a:lstStyle/>
          <a:p>
            <a:pPr algn="ctr"/>
            <a:r>
              <a:rPr lang="en-US" altLang="zh-CN" sz="2200" b="1">
                <a:solidFill>
                  <a:srgbClr val="701E5E"/>
                </a:solidFill>
                <a:latin typeface="微软雅黑 Light" panose="020B0502040204020203" charset="-122"/>
                <a:ea typeface="微软雅黑 Light" panose="020B0502040204020203" charset="-122"/>
              </a:rPr>
              <a:t>PRESENTATION</a:t>
            </a:r>
            <a:endParaRPr lang="en-US" altLang="zh-CN" sz="2200" b="1">
              <a:solidFill>
                <a:srgbClr val="701E5E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8430" y="409575"/>
            <a:ext cx="2399665" cy="6002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chemeClr val="bg1"/>
                </a:solidFill>
                <a:sym typeface="+mn-ea"/>
              </a:rPr>
              <a:t>《</a:t>
            </a:r>
            <a:r>
              <a:rPr lang="en-US" altLang="zh-CN" sz="2400" b="1">
                <a:solidFill>
                  <a:schemeClr val="bg1"/>
                </a:solidFill>
                <a:sym typeface="+mn-ea"/>
              </a:rPr>
              <a:t>Practical Deep Dispersed Watermarking with Synchronization and Fusion </a:t>
            </a:r>
            <a:r>
              <a:rPr lang="zh-CN" altLang="en-US" sz="2400" b="1">
                <a:solidFill>
                  <a:schemeClr val="bg1"/>
                </a:solidFill>
                <a:sym typeface="+mn-ea"/>
              </a:rPr>
              <a:t>》</a:t>
            </a:r>
            <a:endParaRPr lang="zh-CN" altLang="en-US" sz="2400" b="1">
              <a:solidFill>
                <a:schemeClr val="bg1"/>
              </a:solidFill>
              <a:sym typeface="+mn-ea"/>
            </a:endParaRPr>
          </a:p>
          <a:p>
            <a:endParaRPr lang="zh-CN" altLang="en-US" sz="2800" b="1">
              <a:solidFill>
                <a:schemeClr val="bg1"/>
              </a:solidFill>
              <a:sym typeface="+mn-ea"/>
            </a:endParaRPr>
          </a:p>
          <a:p>
            <a:r>
              <a:rPr lang="zh-CN" altLang="en-US" sz="2800" b="1">
                <a:solidFill>
                  <a:schemeClr val="bg1"/>
                </a:solidFill>
                <a:sym typeface="+mn-ea"/>
              </a:rPr>
              <a:t>基于深度学习的图像离散水印方案</a:t>
            </a:r>
            <a:r>
              <a:rPr lang="en-US" altLang="zh-CN" sz="2800" b="1">
                <a:solidFill>
                  <a:schemeClr val="bg1"/>
                </a:solidFill>
                <a:sym typeface="+mn-ea"/>
              </a:rPr>
              <a:t>(DWSF)</a:t>
            </a:r>
            <a:endParaRPr lang="en-US" altLang="zh-CN" sz="2800" b="1">
              <a:solidFill>
                <a:schemeClr val="bg1"/>
              </a:solidFill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8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八角星 1"/>
          <p:cNvSpPr/>
          <p:nvPr/>
        </p:nvSpPr>
        <p:spPr>
          <a:xfrm>
            <a:off x="4286885" y="2373630"/>
            <a:ext cx="2129790" cy="2129790"/>
          </a:xfrm>
          <a:prstGeom prst="star8">
            <a:avLst>
              <a:gd name="adj" fmla="val 38189"/>
            </a:avLst>
          </a:prstGeom>
          <a:solidFill>
            <a:srgbClr val="701E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195" tIns="288290" rIns="36195" bIns="0" rtlCol="0" anchor="ctr" anchorCtr="1"/>
          <a:lstStyle/>
          <a:p>
            <a:pPr algn="ctr" fontAlgn="auto">
              <a:lnSpc>
                <a:spcPts val="4000"/>
              </a:lnSpc>
            </a:pPr>
            <a:r>
              <a:rPr lang="en-US" altLang="zh-CN" sz="4000" b="1">
                <a:latin typeface="微软雅黑" panose="020B0503020204020204" pitchFamily="34" charset="-122"/>
                <a:ea typeface="微软雅黑" panose="020B0503020204020204" pitchFamily="34" charset="-122"/>
              </a:rPr>
              <a:t>PART</a:t>
            </a:r>
            <a:endParaRPr lang="en-US" altLang="zh-CN" sz="4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4000"/>
              </a:lnSpc>
            </a:pPr>
            <a:r>
              <a:rPr lang="en-US" altLang="zh-CN" sz="4000" b="1"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en-US" altLang="zh-CN" sz="4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40" name="文本框 47"/>
          <p:cNvSpPr txBox="1"/>
          <p:nvPr/>
        </p:nvSpPr>
        <p:spPr>
          <a:xfrm>
            <a:off x="6429058" y="2884805"/>
            <a:ext cx="5762625" cy="101473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anchor="t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6000" b="1">
                <a:solidFill>
                  <a:srgbClr val="701E5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论文阅读</a:t>
            </a:r>
            <a:r>
              <a:rPr lang="zh-CN" altLang="en-US" sz="6000" b="1">
                <a:solidFill>
                  <a:srgbClr val="701E5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分析</a:t>
            </a:r>
            <a:endParaRPr lang="zh-CN" altLang="en-US" sz="6000" b="1">
              <a:solidFill>
                <a:srgbClr val="701E5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" name="1111"/>
          <p:cNvSpPr txBox="1"/>
          <p:nvPr/>
        </p:nvSpPr>
        <p:spPr>
          <a:xfrm>
            <a:off x="7000875" y="4082415"/>
            <a:ext cx="4608830" cy="82994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36195" rIns="36195" anchor="t">
            <a:sp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本部分将聚焦于论文中阐述的问题以及提出的结缘方案的原理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和核心技术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817235" y="104775"/>
            <a:ext cx="604774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701E5E"/>
                </a:solidFill>
                <a:sym typeface="+mn-ea"/>
              </a:rPr>
              <a:t>《</a:t>
            </a:r>
            <a:r>
              <a:rPr lang="en-US" altLang="zh-CN" b="1">
                <a:solidFill>
                  <a:srgbClr val="701E5E"/>
                </a:solidFill>
                <a:sym typeface="+mn-ea"/>
              </a:rPr>
              <a:t>Practical Deep Dispersed Watermarking with Synchronization and Fusion </a:t>
            </a:r>
            <a:r>
              <a:rPr lang="zh-CN" altLang="en-US" b="1">
                <a:solidFill>
                  <a:srgbClr val="701E5E"/>
                </a:solidFill>
                <a:sym typeface="+mn-ea"/>
              </a:rPr>
              <a:t>》</a:t>
            </a:r>
            <a:endParaRPr lang="zh-CN" altLang="en-US" b="1">
              <a:solidFill>
                <a:srgbClr val="701E5E"/>
              </a:solidFill>
              <a:sym typeface="+mn-ea"/>
            </a:endParaRPr>
          </a:p>
          <a:p>
            <a:r>
              <a:rPr lang="zh-CN" altLang="en-US">
                <a:solidFill>
                  <a:srgbClr val="701E5E"/>
                </a:solidFill>
                <a:sym typeface="+mn-ea"/>
              </a:rPr>
              <a:t>由字节跳动产品安全多媒体与</a:t>
            </a:r>
            <a:r>
              <a:rPr lang="en-US" altLang="zh-CN">
                <a:solidFill>
                  <a:srgbClr val="701E5E"/>
                </a:solidFill>
                <a:sym typeface="+mn-ea"/>
              </a:rPr>
              <a:t>AI</a:t>
            </a:r>
            <a:r>
              <a:rPr lang="zh-CN" altLang="en-US">
                <a:solidFill>
                  <a:srgbClr val="701E5E"/>
                </a:solidFill>
                <a:sym typeface="+mn-ea"/>
              </a:rPr>
              <a:t>安全团队发表于</a:t>
            </a:r>
            <a:r>
              <a:rPr lang="en-US" altLang="zh-CN" b="1">
                <a:solidFill>
                  <a:srgbClr val="701E5E"/>
                </a:solidFill>
                <a:sym typeface="+mn-ea"/>
              </a:rPr>
              <a:t>ACM MM 2023</a:t>
            </a:r>
            <a:r>
              <a:rPr lang="zh-CN" altLang="en-US">
                <a:solidFill>
                  <a:srgbClr val="701E5E"/>
                </a:solidFill>
                <a:sym typeface="+mn-ea"/>
              </a:rPr>
              <a:t>，提出了一种</a:t>
            </a:r>
            <a:r>
              <a:rPr lang="zh-CN" altLang="en-US" b="1">
                <a:solidFill>
                  <a:srgbClr val="701E5E"/>
                </a:solidFill>
                <a:sym typeface="+mn-ea"/>
              </a:rPr>
              <a:t>基于深度学习的图像离散水印方案</a:t>
            </a:r>
            <a:r>
              <a:rPr lang="en-US" altLang="zh-CN" b="1">
                <a:solidFill>
                  <a:srgbClr val="701E5E"/>
                </a:solidFill>
                <a:sym typeface="+mn-ea"/>
              </a:rPr>
              <a:t>(DWSF)</a:t>
            </a:r>
            <a:r>
              <a:rPr lang="zh-CN" altLang="en-US">
                <a:solidFill>
                  <a:srgbClr val="701E5E"/>
                </a:solidFill>
                <a:sym typeface="+mn-ea"/>
              </a:rPr>
              <a:t>，该方案能够有效提高图像水印在实际应用中的鲁棒性和隐蔽性，可促进深度图像水印技术在数字版权、内容可信和数据安全等防护体系建设中发挥作用。</a:t>
            </a:r>
            <a:endParaRPr lang="zh-CN" altLang="en-US">
              <a:solidFill>
                <a:srgbClr val="701E5E"/>
              </a:solidFill>
            </a:endParaRPr>
          </a:p>
          <a:p>
            <a:endParaRPr lang="zh-CN" altLang="en-US">
              <a:solidFill>
                <a:srgbClr val="701E5E"/>
              </a:solidFill>
            </a:endParaRPr>
          </a:p>
          <a:p>
            <a:r>
              <a:rPr lang="zh-CN" altLang="en-US" b="1">
                <a:solidFill>
                  <a:srgbClr val="701E5E"/>
                </a:solidFill>
              </a:rPr>
              <a:t>论文代码仓库</a:t>
            </a:r>
            <a:r>
              <a:rPr lang="zh-CN" altLang="en-US">
                <a:solidFill>
                  <a:srgbClr val="701E5E"/>
                </a:solidFill>
              </a:rPr>
              <a:t>：</a:t>
            </a:r>
            <a:r>
              <a:rPr lang="en-US" altLang="zh-CN">
                <a:solidFill>
                  <a:srgbClr val="701E5E"/>
                </a:solidFill>
              </a:rPr>
              <a:t>https://github.com/bytedance/DWSF</a:t>
            </a:r>
            <a:endParaRPr lang="en-US" altLang="zh-CN">
              <a:solidFill>
                <a:srgbClr val="701E5E"/>
              </a:solidFill>
            </a:endParaRPr>
          </a:p>
          <a:p>
            <a:endParaRPr lang="en-US" altLang="zh-CN">
              <a:solidFill>
                <a:srgbClr val="701E5E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/>
        </p:nvSpPr>
        <p:spPr>
          <a:xfrm>
            <a:off x="4707255" y="233680"/>
            <a:ext cx="2772410" cy="694765"/>
          </a:xfrm>
          <a:prstGeom prst="roundRect">
            <a:avLst>
              <a:gd name="adj" fmla="val 49999"/>
            </a:avLst>
          </a:prstGeom>
          <a:solidFill>
            <a:srgbClr val="701E5E"/>
          </a:solidFill>
        </p:spPr>
        <p:txBody>
          <a:bodyPr wrap="square" rtlCol="0" anchor="t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2400" b="1" spc="300" dirty="0">
                <a:solidFill>
                  <a:schemeClr val="bg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论文摘要</a:t>
            </a:r>
            <a:endParaRPr lang="zh-CN" altLang="en-US" sz="2400" b="1" spc="300" dirty="0">
              <a:solidFill>
                <a:schemeClr val="bg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23" name="组合 22"/>
          <p:cNvGrpSpPr/>
          <p:nvPr>
            <p:custDataLst>
              <p:tags r:id="rId1"/>
            </p:custDataLst>
          </p:nvPr>
        </p:nvGrpSpPr>
        <p:grpSpPr>
          <a:xfrm>
            <a:off x="3544570" y="1025525"/>
            <a:ext cx="7355840" cy="1107317"/>
            <a:chOff x="1478" y="3883"/>
            <a:chExt cx="11584" cy="1568"/>
          </a:xfrm>
        </p:grpSpPr>
        <p:sp>
          <p:nvSpPr>
            <p:cNvPr id="24" name="333333"/>
            <p:cNvSpPr txBox="1"/>
            <p:nvPr>
              <p:custDataLst>
                <p:tags r:id="rId2"/>
              </p:custDataLst>
            </p:nvPr>
          </p:nvSpPr>
          <p:spPr>
            <a:xfrm>
              <a:off x="1478" y="3883"/>
              <a:ext cx="1811" cy="5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algn="l"/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核心内容</a:t>
              </a: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1111"/>
            <p:cNvSpPr txBox="1"/>
            <p:nvPr>
              <p:custDataLst>
                <p:tags r:id="rId3"/>
              </p:custDataLst>
            </p:nvPr>
          </p:nvSpPr>
          <p:spPr>
            <a:xfrm>
              <a:off x="1478" y="4358"/>
              <a:ext cx="11584" cy="109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tIns="36195" bIns="36195" anchor="t">
              <a:no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作者提出一种实用的深度分散式水印框架</a:t>
              </a:r>
              <a:r>
                <a:rPr lang="en-US" altLang="zh-CN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 </a:t>
              </a:r>
              <a:r>
                <a:rPr lang="en-US" altLang="zh-CN" sz="1600" b="1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DWSF</a:t>
              </a:r>
              <a:r>
                <a:rPr lang="zh-CN" altLang="en-US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，旨在解决现有方法在任意分辨率图像和复杂攻击下的局限性。</a:t>
              </a:r>
              <a:endParaRPr lang="zh-CN" altLang="en-US" sz="1600" dirty="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35" name="组合 34"/>
          <p:cNvGrpSpPr/>
          <p:nvPr>
            <p:custDataLst>
              <p:tags r:id="rId4"/>
            </p:custDataLst>
          </p:nvPr>
        </p:nvGrpSpPr>
        <p:grpSpPr>
          <a:xfrm>
            <a:off x="3544570" y="2566539"/>
            <a:ext cx="7094855" cy="1112520"/>
            <a:chOff x="1478" y="3883"/>
            <a:chExt cx="11173" cy="1752"/>
          </a:xfrm>
        </p:grpSpPr>
        <p:sp>
          <p:nvSpPr>
            <p:cNvPr id="36" name="333333"/>
            <p:cNvSpPr txBox="1"/>
            <p:nvPr>
              <p:custDataLst>
                <p:tags r:id="rId5"/>
              </p:custDataLst>
            </p:nvPr>
          </p:nvSpPr>
          <p:spPr>
            <a:xfrm>
              <a:off x="1478" y="3883"/>
              <a:ext cx="4690" cy="58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algn="l"/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创新点</a:t>
              </a:r>
              <a:r>
                <a:rPr lang="en-US" altLang="zh-CN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1:</a:t>
              </a:r>
              <a:r>
                <a:rPr lang="zh-CN" altLang="en-US" b="1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分散嵌入方案</a:t>
              </a:r>
              <a:endPara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1111"/>
            <p:cNvSpPr txBox="1"/>
            <p:nvPr>
              <p:custDataLst>
                <p:tags r:id="rId6"/>
              </p:custDataLst>
            </p:nvPr>
          </p:nvSpPr>
          <p:spPr>
            <a:xfrm>
              <a:off x="1478" y="4358"/>
              <a:ext cx="11173" cy="127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tIns="36195" bIns="36195" anchor="t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从覆盖图像中稀疏随机选择多个固定尺寸小块，嵌入一致水印信息，减少对图像的整体修改，提升视觉质量并自然抵抗局部擦除攻击（如裁剪、遮挡）。</a:t>
              </a:r>
              <a:endParaRPr lang="zh-CN" altLang="en-US" sz="1600" dirty="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38" name="组合 37"/>
          <p:cNvGrpSpPr/>
          <p:nvPr>
            <p:custDataLst>
              <p:tags r:id="rId7"/>
            </p:custDataLst>
          </p:nvPr>
        </p:nvGrpSpPr>
        <p:grpSpPr>
          <a:xfrm>
            <a:off x="3544570" y="3966714"/>
            <a:ext cx="7094855" cy="1112520"/>
            <a:chOff x="1478" y="3883"/>
            <a:chExt cx="11173" cy="1752"/>
          </a:xfrm>
        </p:grpSpPr>
        <p:sp>
          <p:nvSpPr>
            <p:cNvPr id="39" name="333333"/>
            <p:cNvSpPr txBox="1"/>
            <p:nvPr>
              <p:custDataLst>
                <p:tags r:id="rId8"/>
              </p:custDataLst>
            </p:nvPr>
          </p:nvSpPr>
          <p:spPr>
            <a:xfrm>
              <a:off x="1478" y="3883"/>
              <a:ext cx="5751" cy="58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algn="l"/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创新点</a:t>
              </a:r>
              <a:r>
                <a:rPr lang="en-US" altLang="zh-CN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2:</a:t>
              </a:r>
              <a:r>
                <a:rPr lang="zh-CN" altLang="en-US" b="1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水印同步模块</a:t>
              </a:r>
              <a:endPara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1111"/>
            <p:cNvSpPr txBox="1"/>
            <p:nvPr>
              <p:custDataLst>
                <p:tags r:id="rId9"/>
              </p:custDataLst>
            </p:nvPr>
          </p:nvSpPr>
          <p:spPr>
            <a:xfrm>
              <a:off x="1478" y="4358"/>
              <a:ext cx="11173" cy="127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tIns="36195" bIns="36195" anchor="t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通过分割模型定位编码块，结合几何变换参数估计与校正，解决旋转、缩放等几何攻击导致的同步问题。</a:t>
              </a:r>
              <a:endParaRPr lang="zh-CN" altLang="en-US" sz="1600" dirty="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41" name="组合 40"/>
          <p:cNvGrpSpPr/>
          <p:nvPr>
            <p:custDataLst>
              <p:tags r:id="rId10"/>
            </p:custDataLst>
          </p:nvPr>
        </p:nvGrpSpPr>
        <p:grpSpPr>
          <a:xfrm>
            <a:off x="3544570" y="5366889"/>
            <a:ext cx="7094855" cy="742950"/>
            <a:chOff x="1478" y="3883"/>
            <a:chExt cx="11173" cy="1170"/>
          </a:xfrm>
        </p:grpSpPr>
        <p:sp>
          <p:nvSpPr>
            <p:cNvPr id="42" name="333333"/>
            <p:cNvSpPr txBox="1"/>
            <p:nvPr>
              <p:custDataLst>
                <p:tags r:id="rId11"/>
              </p:custDataLst>
            </p:nvPr>
          </p:nvSpPr>
          <p:spPr>
            <a:xfrm>
              <a:off x="1478" y="3883"/>
              <a:ext cx="5570" cy="58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algn="l"/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创新点</a:t>
              </a:r>
              <a:r>
                <a:rPr lang="en-US" altLang="zh-CN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3:</a:t>
              </a:r>
              <a:r>
                <a:rPr lang="zh-CN" altLang="en-US" b="1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消息融合策略</a:t>
              </a:r>
              <a:endPara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1111"/>
            <p:cNvSpPr txBox="1"/>
            <p:nvPr>
              <p:custDataLst>
                <p:tags r:id="rId12"/>
              </p:custDataLst>
            </p:nvPr>
          </p:nvSpPr>
          <p:spPr>
            <a:xfrm>
              <a:off x="1478" y="4358"/>
              <a:ext cx="11173" cy="69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tIns="36195" bIns="36195" anchor="t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基于解码消息的相似性聚合结果，过滤异常值，提升复杂攻击下的解码可靠性。</a:t>
              </a:r>
              <a:endParaRPr lang="zh-CN" altLang="en-US" sz="1600" dirty="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44" name="文本框 43"/>
          <p:cNvSpPr txBox="1"/>
          <p:nvPr>
            <p:custDataLst>
              <p:tags r:id="rId13"/>
            </p:custDataLst>
          </p:nvPr>
        </p:nvSpPr>
        <p:spPr>
          <a:xfrm>
            <a:off x="1981200" y="3559810"/>
            <a:ext cx="4533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en-US" altLang="zh-CN" sz="2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0" name="组合 49"/>
          <p:cNvGrpSpPr/>
          <p:nvPr>
            <p:custDataLst>
              <p:tags r:id="rId14"/>
            </p:custDataLst>
          </p:nvPr>
        </p:nvGrpSpPr>
        <p:grpSpPr>
          <a:xfrm>
            <a:off x="1720215" y="1266190"/>
            <a:ext cx="975360" cy="975360"/>
            <a:chOff x="3461" y="2138"/>
            <a:chExt cx="1536" cy="1536"/>
          </a:xfrm>
          <a:solidFill>
            <a:srgbClr val="701E5E"/>
          </a:solidFill>
        </p:grpSpPr>
        <p:sp>
          <p:nvSpPr>
            <p:cNvPr id="8" name="八角星 7"/>
            <p:cNvSpPr/>
            <p:nvPr>
              <p:custDataLst>
                <p:tags r:id="rId15"/>
              </p:custDataLst>
            </p:nvPr>
          </p:nvSpPr>
          <p:spPr>
            <a:xfrm>
              <a:off x="3461" y="2138"/>
              <a:ext cx="1537" cy="1537"/>
            </a:xfrm>
            <a:prstGeom prst="star8">
              <a:avLst>
                <a:gd name="adj" fmla="val 3828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6" name="图片 45" descr="31393935333436333b31393936333833343bcfdfd0d4cafdbeddcdbc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3872" y="2530"/>
              <a:ext cx="752" cy="752"/>
            </a:xfrm>
            <a:prstGeom prst="rect">
              <a:avLst/>
            </a:prstGeom>
          </p:spPr>
        </p:pic>
      </p:grpSp>
      <p:grpSp>
        <p:nvGrpSpPr>
          <p:cNvPr id="51" name="组合 50"/>
          <p:cNvGrpSpPr/>
          <p:nvPr>
            <p:custDataLst>
              <p:tags r:id="rId19"/>
            </p:custDataLst>
          </p:nvPr>
        </p:nvGrpSpPr>
        <p:grpSpPr>
          <a:xfrm>
            <a:off x="1720215" y="2644140"/>
            <a:ext cx="975360" cy="975360"/>
            <a:chOff x="3461" y="4343"/>
            <a:chExt cx="1536" cy="1536"/>
          </a:xfrm>
        </p:grpSpPr>
        <p:sp>
          <p:nvSpPr>
            <p:cNvPr id="9" name="八角星 8"/>
            <p:cNvSpPr/>
            <p:nvPr>
              <p:custDataLst>
                <p:tags r:id="rId20"/>
              </p:custDataLst>
            </p:nvPr>
          </p:nvSpPr>
          <p:spPr>
            <a:xfrm>
              <a:off x="3461" y="4343"/>
              <a:ext cx="1537" cy="1537"/>
            </a:xfrm>
            <a:prstGeom prst="star8">
              <a:avLst>
                <a:gd name="adj" fmla="val 38288"/>
              </a:avLst>
            </a:prstGeom>
            <a:solidFill>
              <a:srgbClr val="B78E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7" name="图片 46" descr="303b32303039333137363bc1b4bdd3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3715" y="4559"/>
              <a:ext cx="1028" cy="1028"/>
            </a:xfrm>
            <a:prstGeom prst="rect">
              <a:avLst/>
            </a:prstGeom>
          </p:spPr>
        </p:pic>
      </p:grpSp>
      <p:grpSp>
        <p:nvGrpSpPr>
          <p:cNvPr id="52" name="组合 51"/>
          <p:cNvGrpSpPr/>
          <p:nvPr>
            <p:custDataLst>
              <p:tags r:id="rId24"/>
            </p:custDataLst>
          </p:nvPr>
        </p:nvGrpSpPr>
        <p:grpSpPr>
          <a:xfrm>
            <a:off x="1720850" y="4022090"/>
            <a:ext cx="975360" cy="975360"/>
            <a:chOff x="3461" y="6548"/>
            <a:chExt cx="1536" cy="1536"/>
          </a:xfrm>
          <a:solidFill>
            <a:srgbClr val="701E5E"/>
          </a:solidFill>
        </p:grpSpPr>
        <p:sp>
          <p:nvSpPr>
            <p:cNvPr id="10" name="八角星 9"/>
            <p:cNvSpPr/>
            <p:nvPr>
              <p:custDataLst>
                <p:tags r:id="rId25"/>
              </p:custDataLst>
            </p:nvPr>
          </p:nvSpPr>
          <p:spPr>
            <a:xfrm>
              <a:off x="3461" y="6548"/>
              <a:ext cx="1537" cy="1537"/>
            </a:xfrm>
            <a:prstGeom prst="star8">
              <a:avLst>
                <a:gd name="adj" fmla="val 3828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8" name="图片 47" descr="303b32303139323730333bc7a6b1ca"/>
            <p:cNvPicPr>
              <a:picLocks noChangeAspect="1"/>
            </p:cNvPicPr>
            <p:nvPr>
              <p:custDataLst>
                <p:tags r:id="rId26"/>
              </p:custDataLst>
            </p:nvPr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3798" y="6928"/>
              <a:ext cx="864" cy="864"/>
            </a:xfrm>
            <a:prstGeom prst="rect">
              <a:avLst/>
            </a:prstGeom>
          </p:spPr>
        </p:pic>
      </p:grpSp>
      <p:grpSp>
        <p:nvGrpSpPr>
          <p:cNvPr id="53" name="组合 52"/>
          <p:cNvGrpSpPr/>
          <p:nvPr>
            <p:custDataLst>
              <p:tags r:id="rId29"/>
            </p:custDataLst>
          </p:nvPr>
        </p:nvGrpSpPr>
        <p:grpSpPr>
          <a:xfrm>
            <a:off x="1719898" y="5400040"/>
            <a:ext cx="975995" cy="975995"/>
            <a:chOff x="3461" y="8753"/>
            <a:chExt cx="1537" cy="1537"/>
          </a:xfrm>
        </p:grpSpPr>
        <p:sp>
          <p:nvSpPr>
            <p:cNvPr id="27" name="八角星 26"/>
            <p:cNvSpPr/>
            <p:nvPr>
              <p:custDataLst>
                <p:tags r:id="rId30"/>
              </p:custDataLst>
            </p:nvPr>
          </p:nvSpPr>
          <p:spPr>
            <a:xfrm>
              <a:off x="3461" y="8753"/>
              <a:ext cx="1537" cy="1537"/>
            </a:xfrm>
            <a:prstGeom prst="star8">
              <a:avLst>
                <a:gd name="adj" fmla="val 38288"/>
              </a:avLst>
            </a:prstGeom>
            <a:solidFill>
              <a:srgbClr val="B78E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9" name="图片 48" descr="303b32303039333131343bd1adbbb7"/>
            <p:cNvPicPr>
              <a:picLocks noChangeAspect="1"/>
            </p:cNvPicPr>
            <p:nvPr>
              <p:custDataLst>
                <p:tags r:id="rId31"/>
              </p:custDataLst>
            </p:nvPr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3677" y="8980"/>
              <a:ext cx="1106" cy="1106"/>
            </a:xfrm>
            <a:prstGeom prst="rect">
              <a:avLst/>
            </a:prstGeom>
          </p:spPr>
        </p:pic>
      </p:grpSp>
      <p:cxnSp>
        <p:nvCxnSpPr>
          <p:cNvPr id="54" name="直接连接符 53"/>
          <p:cNvCxnSpPr/>
          <p:nvPr>
            <p:custDataLst>
              <p:tags r:id="rId34"/>
            </p:custDataLst>
          </p:nvPr>
        </p:nvCxnSpPr>
        <p:spPr>
          <a:xfrm>
            <a:off x="3647440" y="2402840"/>
            <a:ext cx="6984000" cy="0"/>
          </a:xfrm>
          <a:prstGeom prst="line">
            <a:avLst/>
          </a:prstGeom>
          <a:ln>
            <a:solidFill>
              <a:srgbClr val="EFE6E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>
            <p:custDataLst>
              <p:tags r:id="rId35"/>
            </p:custDataLst>
          </p:nvPr>
        </p:nvCxnSpPr>
        <p:spPr>
          <a:xfrm>
            <a:off x="3655695" y="3823335"/>
            <a:ext cx="6984000" cy="0"/>
          </a:xfrm>
          <a:prstGeom prst="line">
            <a:avLst/>
          </a:prstGeom>
          <a:ln>
            <a:solidFill>
              <a:srgbClr val="EFE6E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>
            <p:custDataLst>
              <p:tags r:id="rId36"/>
            </p:custDataLst>
          </p:nvPr>
        </p:nvCxnSpPr>
        <p:spPr>
          <a:xfrm>
            <a:off x="3655695" y="5223510"/>
            <a:ext cx="6984000" cy="0"/>
          </a:xfrm>
          <a:prstGeom prst="line">
            <a:avLst/>
          </a:prstGeom>
          <a:ln>
            <a:solidFill>
              <a:srgbClr val="EFE6E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>
            <p:custDataLst>
              <p:tags r:id="rId37"/>
            </p:custDataLst>
          </p:nvPr>
        </p:nvSpPr>
        <p:spPr>
          <a:xfrm>
            <a:off x="1981835" y="2224405"/>
            <a:ext cx="477520" cy="342265"/>
          </a:xfrm>
          <a:prstGeom prst="rect">
            <a:avLst/>
          </a:prstGeom>
          <a:noFill/>
        </p:spPr>
        <p:txBody>
          <a:bodyPr wrap="none" rtlCol="0">
            <a:noAutofit/>
          </a:bodyPr>
          <a:p>
            <a:r>
              <a:rPr lang="en-US" altLang="zh-CN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endParaRPr lang="en-US" altLang="zh-CN" sz="2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38"/>
            </p:custDataLst>
          </p:nvPr>
        </p:nvSpPr>
        <p:spPr>
          <a:xfrm>
            <a:off x="1981200" y="4857750"/>
            <a:ext cx="453390" cy="525780"/>
          </a:xfrm>
          <a:prstGeom prst="rect">
            <a:avLst/>
          </a:prstGeom>
          <a:noFill/>
        </p:spPr>
        <p:txBody>
          <a:bodyPr wrap="none" rtlCol="0">
            <a:noAutofit/>
          </a:bodyPr>
          <a:p>
            <a:r>
              <a:rPr lang="en-US" altLang="zh-CN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en-US" altLang="zh-CN" sz="2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39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/>
        </p:nvSpPr>
        <p:spPr>
          <a:xfrm>
            <a:off x="4707255" y="233680"/>
            <a:ext cx="2772410" cy="727539"/>
          </a:xfrm>
          <a:prstGeom prst="roundRect">
            <a:avLst>
              <a:gd name="adj" fmla="val 49999"/>
            </a:avLst>
          </a:prstGeom>
          <a:solidFill>
            <a:srgbClr val="701E5E"/>
          </a:solidFill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2400" b="1" spc="300" dirty="0">
                <a:solidFill>
                  <a:schemeClr val="bg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论文问题描述</a:t>
            </a:r>
            <a:endParaRPr lang="zh-CN" altLang="en-US" sz="2400" b="1" spc="300" dirty="0">
              <a:solidFill>
                <a:schemeClr val="bg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8493125" y="1888490"/>
            <a:ext cx="3402330" cy="3688080"/>
            <a:chOff x="13569" y="2845"/>
            <a:chExt cx="5138" cy="5138"/>
          </a:xfrm>
        </p:grpSpPr>
        <p:pic>
          <p:nvPicPr>
            <p:cNvPr id="19" name="图片 18"/>
            <p:cNvPicPr/>
            <p:nvPr>
              <p:custDataLst>
                <p:tags r:id="rId1"/>
              </p:custDataLst>
            </p:nvPr>
          </p:nvPicPr>
          <p:blipFill>
            <a:blip r:embed="rId2"/>
            <a:srcRect l="49638" t="470" r="15010" b="5002"/>
            <a:stretch>
              <a:fillRect/>
            </a:stretch>
          </p:blipFill>
          <p:spPr>
            <a:xfrm>
              <a:off x="16145" y="2845"/>
              <a:ext cx="2562" cy="5138"/>
            </a:xfrm>
            <a:prstGeom prst="flowChartProcess">
              <a:avLst/>
            </a:prstGeom>
            <a:noFill/>
            <a:ln w="28575" cap="sq">
              <a:solidFill>
                <a:schemeClr val="bg1"/>
              </a:solidFill>
              <a:miter lim="800000"/>
              <a:headEnd/>
              <a:tailEnd/>
            </a:ln>
          </p:spPr>
        </p:pic>
        <p:pic>
          <p:nvPicPr>
            <p:cNvPr id="18" name="图片 17"/>
            <p:cNvPicPr/>
            <p:nvPr>
              <p:custDataLst>
                <p:tags r:id="rId3"/>
              </p:custDataLst>
            </p:nvPr>
          </p:nvPicPr>
          <p:blipFill>
            <a:blip r:embed="rId2"/>
            <a:srcRect l="14092" t="470" r="15010" b="5002"/>
            <a:stretch>
              <a:fillRect/>
            </a:stretch>
          </p:blipFill>
          <p:spPr>
            <a:xfrm>
              <a:off x="13569" y="2845"/>
              <a:ext cx="5138" cy="5138"/>
            </a:xfrm>
            <a:prstGeom prst="star8">
              <a:avLst>
                <a:gd name="adj" fmla="val 38202"/>
              </a:avLst>
            </a:prstGeom>
            <a:noFill/>
            <a:ln w="28575" cap="sq">
              <a:noFill/>
              <a:miter lim="800000"/>
              <a:headEnd/>
              <a:tailEnd/>
            </a:ln>
          </p:spPr>
        </p:pic>
      </p:grpSp>
      <p:grpSp>
        <p:nvGrpSpPr>
          <p:cNvPr id="4" name="组合 3"/>
          <p:cNvGrpSpPr/>
          <p:nvPr>
            <p:custDataLst>
              <p:tags r:id="rId4"/>
            </p:custDataLst>
          </p:nvPr>
        </p:nvGrpSpPr>
        <p:grpSpPr>
          <a:xfrm>
            <a:off x="587389" y="1421765"/>
            <a:ext cx="3161545" cy="1669378"/>
            <a:chOff x="1284" y="2488"/>
            <a:chExt cx="4924" cy="2600"/>
          </a:xfrm>
        </p:grpSpPr>
        <p:sp>
          <p:nvSpPr>
            <p:cNvPr id="10263" name="333333"/>
            <p:cNvSpPr txBox="1"/>
            <p:nvPr>
              <p:custDataLst>
                <p:tags r:id="rId5"/>
              </p:custDataLst>
            </p:nvPr>
          </p:nvSpPr>
          <p:spPr>
            <a:xfrm>
              <a:off x="1958" y="2641"/>
              <a:ext cx="1811" cy="5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问题定义</a:t>
              </a: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1111"/>
            <p:cNvSpPr txBox="1"/>
            <p:nvPr>
              <p:custDataLst>
                <p:tags r:id="rId6"/>
              </p:custDataLst>
            </p:nvPr>
          </p:nvSpPr>
          <p:spPr>
            <a:xfrm>
              <a:off x="1346" y="3221"/>
              <a:ext cx="4862" cy="186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b="1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盲水印应用问题：</a:t>
              </a:r>
              <a:endParaRPr lang="zh-CN" altLang="en-US" sz="1600" b="1" dirty="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endParaRPr>
            </a:p>
            <a:p>
              <a:pPr algn="just">
                <a:lnSpc>
                  <a:spcPct val="150000"/>
                </a:lnSpc>
              </a:pPr>
              <a:r>
                <a:rPr lang="en-US" altLang="zh-CN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1.</a:t>
              </a:r>
              <a:r>
                <a:rPr lang="zh-CN" altLang="en-US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高分辨率图像适应性不足</a:t>
              </a:r>
              <a:endParaRPr lang="zh-CN" altLang="en-US" sz="1600" dirty="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endParaRPr>
            </a:p>
            <a:p>
              <a:pPr algn="just">
                <a:lnSpc>
                  <a:spcPct val="150000"/>
                </a:lnSpc>
              </a:pPr>
              <a:r>
                <a:rPr lang="en-US" altLang="zh-CN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2.</a:t>
              </a:r>
              <a:r>
                <a:rPr lang="zh-CN" altLang="en-US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几何攻击鲁棒性缺失</a:t>
              </a:r>
              <a:endParaRPr lang="zh-CN" altLang="en-US" sz="1600" dirty="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endParaRPr>
            </a:p>
          </p:txBody>
        </p:sp>
        <p:sp>
          <p:nvSpPr>
            <p:cNvPr id="21" name="弦形 20"/>
            <p:cNvSpPr/>
            <p:nvPr>
              <p:custDataLst>
                <p:tags r:id="rId7"/>
              </p:custDataLst>
            </p:nvPr>
          </p:nvSpPr>
          <p:spPr>
            <a:xfrm>
              <a:off x="1284" y="2488"/>
              <a:ext cx="1474" cy="886"/>
            </a:xfrm>
            <a:prstGeom prst="chord">
              <a:avLst>
                <a:gd name="adj1" fmla="val 5385150"/>
                <a:gd name="adj2" fmla="val 16186285"/>
              </a:avLst>
            </a:prstGeom>
            <a:gradFill rotWithShape="0">
              <a:gsLst>
                <a:gs pos="0">
                  <a:srgbClr val="701E5E"/>
                </a:gs>
                <a:gs pos="100000">
                  <a:srgbClr val="AD4591"/>
                </a:gs>
              </a:gsLst>
              <a:lin ang="0" scaled="0"/>
            </a:gradFill>
            <a:ln>
              <a:noFill/>
            </a:ln>
            <a:effectLst>
              <a:innerShdw blurRad="127000" dist="50800" dir="2700000">
                <a:schemeClr val="bg1"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195" rIns="0" bIns="36195" rtlCol="0" anchor="ctr" anchorCtr="0"/>
            <a:lstStyle/>
            <a:p>
              <a:pPr algn="l" fontAlgn="auto">
                <a:lnSpc>
                  <a:spcPts val="2280"/>
                </a:lnSpc>
              </a:pPr>
              <a:r>
                <a:rPr lang="en-US" altLang="zh-CN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" name="组合 4"/>
          <p:cNvGrpSpPr/>
          <p:nvPr>
            <p:custDataLst>
              <p:tags r:id="rId8"/>
            </p:custDataLst>
          </p:nvPr>
        </p:nvGrpSpPr>
        <p:grpSpPr>
          <a:xfrm>
            <a:off x="4265930" y="1388745"/>
            <a:ext cx="4104668" cy="3546089"/>
            <a:chOff x="1346" y="6160"/>
            <a:chExt cx="6393" cy="5199"/>
          </a:xfrm>
        </p:grpSpPr>
        <p:sp>
          <p:nvSpPr>
            <p:cNvPr id="39" name="333333"/>
            <p:cNvSpPr txBox="1"/>
            <p:nvPr>
              <p:custDataLst>
                <p:tags r:id="rId9"/>
              </p:custDataLst>
            </p:nvPr>
          </p:nvSpPr>
          <p:spPr>
            <a:xfrm>
              <a:off x="2020" y="6313"/>
              <a:ext cx="1811" cy="54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评价</a:t>
              </a: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指标</a:t>
              </a: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1111"/>
            <p:cNvSpPr txBox="1"/>
            <p:nvPr>
              <p:custDataLst>
                <p:tags r:id="rId10"/>
              </p:custDataLst>
            </p:nvPr>
          </p:nvSpPr>
          <p:spPr>
            <a:xfrm>
              <a:off x="1408" y="6893"/>
              <a:ext cx="6331" cy="446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altLang="zh-CN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- </a:t>
              </a:r>
              <a:r>
                <a:rPr lang="zh-CN" altLang="en-US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视觉质量：峰值信噪比（</a:t>
              </a:r>
              <a:r>
                <a:rPr lang="en-US" altLang="zh-CN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PSNR</a:t>
              </a:r>
              <a:r>
                <a:rPr lang="zh-CN" altLang="en-US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）、结构相似性（</a:t>
              </a:r>
              <a:r>
                <a:rPr lang="en-US" altLang="zh-CN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SSIM</a:t>
              </a:r>
              <a:r>
                <a:rPr lang="zh-CN" altLang="en-US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），衡量水印嵌入后图像的失真程度。</a:t>
              </a:r>
              <a:endParaRPr lang="zh-CN" altLang="en-US" sz="1600" dirty="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endParaRPr>
            </a:p>
            <a:p>
              <a:pPr algn="just">
                <a:lnSpc>
                  <a:spcPct val="150000"/>
                </a:lnSpc>
              </a:pPr>
              <a:r>
                <a:rPr lang="en-US" altLang="zh-CN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- </a:t>
              </a:r>
              <a:r>
                <a:rPr lang="zh-CN" altLang="en-US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文件大小增量：水印嵌入导致的文件字节增长率，反映存储与传输效率。</a:t>
              </a:r>
              <a:endParaRPr lang="zh-CN" altLang="en-US" sz="1600" dirty="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endParaRPr>
            </a:p>
            <a:p>
              <a:pPr algn="just">
                <a:lnSpc>
                  <a:spcPct val="150000"/>
                </a:lnSpc>
              </a:pPr>
              <a:r>
                <a:rPr lang="en-US" altLang="zh-CN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- </a:t>
              </a:r>
              <a:r>
                <a:rPr lang="zh-CN" altLang="en-US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鲁棒性：位准确，衡量攻击后水印解码的正确性；位校验准确率，结合</a:t>
              </a:r>
              <a:r>
                <a:rPr lang="en-US" altLang="zh-CN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 CRC </a:t>
              </a:r>
              <a:r>
                <a:rPr lang="zh-CN" altLang="en-US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校验评估实际可用性。</a:t>
              </a:r>
              <a:endParaRPr lang="zh-CN" altLang="en-US" sz="1600" dirty="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endParaRPr>
            </a:p>
          </p:txBody>
        </p:sp>
        <p:sp>
          <p:nvSpPr>
            <p:cNvPr id="43" name="弦形 42"/>
            <p:cNvSpPr/>
            <p:nvPr>
              <p:custDataLst>
                <p:tags r:id="rId11"/>
              </p:custDataLst>
            </p:nvPr>
          </p:nvSpPr>
          <p:spPr>
            <a:xfrm>
              <a:off x="1346" y="6160"/>
              <a:ext cx="1474" cy="886"/>
            </a:xfrm>
            <a:prstGeom prst="chord">
              <a:avLst>
                <a:gd name="adj1" fmla="val 5385150"/>
                <a:gd name="adj2" fmla="val 16186285"/>
              </a:avLst>
            </a:prstGeom>
            <a:gradFill rotWithShape="0">
              <a:gsLst>
                <a:gs pos="0">
                  <a:srgbClr val="701E5E"/>
                </a:gs>
                <a:gs pos="100000">
                  <a:srgbClr val="AD4591"/>
                </a:gs>
              </a:gsLst>
              <a:lin ang="0" scaled="0"/>
            </a:gradFill>
            <a:ln>
              <a:noFill/>
            </a:ln>
            <a:effectLst>
              <a:innerShdw blurRad="127000" dist="50800" dir="2700000">
                <a:schemeClr val="bg1"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0" tIns="36195" rIns="0" bIns="36195" numCol="1" spcCol="0" rtlCol="0" fromWordArt="0" anchor="ctr" anchorCtr="0" forceAA="0" compatLnSpc="1">
              <a:noAutofit/>
            </a:bodyPr>
            <a:lstStyle/>
            <a:p>
              <a:pPr lvl="0" algn="l">
                <a:lnSpc>
                  <a:spcPts val="2280"/>
                </a:lnSpc>
                <a:buClrTx/>
                <a:buSzTx/>
                <a:buFontTx/>
              </a:pPr>
              <a:r>
                <a:rPr lang="en-US" altLang="zh-CN" b="1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03</a:t>
              </a:r>
              <a:endPara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grpSp>
        <p:nvGrpSpPr>
          <p:cNvPr id="6" name="组合 5"/>
          <p:cNvGrpSpPr/>
          <p:nvPr>
            <p:custDataLst>
              <p:tags r:id="rId12"/>
            </p:custDataLst>
          </p:nvPr>
        </p:nvGrpSpPr>
        <p:grpSpPr>
          <a:xfrm>
            <a:off x="626902" y="3248025"/>
            <a:ext cx="3501200" cy="3147420"/>
            <a:chOff x="7413" y="2488"/>
            <a:chExt cx="5453" cy="4902"/>
          </a:xfrm>
        </p:grpSpPr>
        <p:sp>
          <p:nvSpPr>
            <p:cNvPr id="7" name="333333"/>
            <p:cNvSpPr txBox="1"/>
            <p:nvPr>
              <p:custDataLst>
                <p:tags r:id="rId13"/>
              </p:custDataLst>
            </p:nvPr>
          </p:nvSpPr>
          <p:spPr>
            <a:xfrm>
              <a:off x="8087" y="2641"/>
              <a:ext cx="3063" cy="5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algn="ctr"/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现有技术分类</a:t>
              </a: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1111"/>
            <p:cNvSpPr txBox="1"/>
            <p:nvPr>
              <p:custDataLst>
                <p:tags r:id="rId14"/>
              </p:custDataLst>
            </p:nvPr>
          </p:nvSpPr>
          <p:spPr>
            <a:xfrm>
              <a:off x="7475" y="3221"/>
              <a:ext cx="5391" cy="41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algn="just">
                <a:lnSpc>
                  <a:spcPct val="150000"/>
                </a:lnSpc>
              </a:pPr>
              <a:r>
                <a:rPr lang="en-US" altLang="zh-CN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- </a:t>
              </a:r>
              <a:r>
                <a:rPr lang="zh-CN" altLang="en-US" sz="1600" b="1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传统水印方法：</a:t>
              </a:r>
              <a:r>
                <a:rPr lang="zh-CN" altLang="en-US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基于空间域或变换域（如</a:t>
              </a:r>
              <a:r>
                <a:rPr lang="en-US" altLang="zh-CN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 DCT</a:t>
              </a:r>
              <a:r>
                <a:rPr lang="zh-CN" altLang="en-US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、</a:t>
              </a:r>
              <a:r>
                <a:rPr lang="en-US" altLang="zh-CN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DWT</a:t>
              </a:r>
              <a:r>
                <a:rPr lang="zh-CN" altLang="en-US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）手工设计特征嵌入水印，对复杂攻击鲁棒性有限。</a:t>
              </a:r>
              <a:endParaRPr lang="zh-CN" altLang="en-US" sz="1600" dirty="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endParaRPr>
            </a:p>
            <a:p>
              <a:pPr algn="just">
                <a:lnSpc>
                  <a:spcPct val="150000"/>
                </a:lnSpc>
              </a:pPr>
              <a:r>
                <a:rPr lang="en-US" altLang="zh-CN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- </a:t>
              </a:r>
              <a:r>
                <a:rPr lang="zh-CN" altLang="en-US" sz="1600" b="1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深度学习方法：</a:t>
              </a:r>
              <a:r>
                <a:rPr lang="zh-CN" altLang="en-US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如</a:t>
              </a:r>
              <a:r>
                <a:rPr lang="en-US" altLang="zh-CN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 HiDDeN</a:t>
              </a:r>
              <a:r>
                <a:rPr lang="zh-CN" altLang="en-US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、</a:t>
              </a:r>
              <a:r>
                <a:rPr lang="en-US" altLang="zh-CN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TSDL</a:t>
              </a:r>
              <a:r>
                <a:rPr lang="zh-CN" altLang="en-US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、</a:t>
              </a:r>
              <a:r>
                <a:rPr lang="en-US" altLang="zh-CN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MBRS </a:t>
              </a:r>
              <a:r>
                <a:rPr lang="zh-CN" altLang="en-US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等，通过端到端网络自适应嵌入水印，但存在分辨率限制和几何攻击短板。</a:t>
              </a:r>
              <a:endParaRPr lang="zh-CN" altLang="en-US" sz="1600" dirty="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endParaRPr>
            </a:p>
          </p:txBody>
        </p:sp>
        <p:sp>
          <p:nvSpPr>
            <p:cNvPr id="9" name="弦形 8"/>
            <p:cNvSpPr/>
            <p:nvPr>
              <p:custDataLst>
                <p:tags r:id="rId15"/>
              </p:custDataLst>
            </p:nvPr>
          </p:nvSpPr>
          <p:spPr>
            <a:xfrm>
              <a:off x="7413" y="2488"/>
              <a:ext cx="1474" cy="886"/>
            </a:xfrm>
            <a:prstGeom prst="chord">
              <a:avLst>
                <a:gd name="adj1" fmla="val 5385150"/>
                <a:gd name="adj2" fmla="val 16186285"/>
              </a:avLst>
            </a:prstGeom>
            <a:gradFill rotWithShape="0">
              <a:gsLst>
                <a:gs pos="0">
                  <a:srgbClr val="701E5E"/>
                </a:gs>
                <a:gs pos="100000">
                  <a:srgbClr val="AD4591"/>
                </a:gs>
              </a:gsLst>
              <a:lin ang="0" scaled="0"/>
            </a:gradFill>
            <a:ln>
              <a:noFill/>
            </a:ln>
            <a:effectLst>
              <a:innerShdw blurRad="127000" dist="50800" dir="2700000">
                <a:schemeClr val="bg1"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0" tIns="36195" rIns="0" bIns="36195" numCol="1" spcCol="0" rtlCol="0" fromWordArt="0" anchor="ctr" anchorCtr="0" forceAA="0" compatLnSpc="1">
              <a:noAutofit/>
            </a:bodyPr>
            <a:p>
              <a:pPr lvl="0" algn="l">
                <a:lnSpc>
                  <a:spcPts val="2280"/>
                </a:lnSpc>
                <a:buClrTx/>
                <a:buSzTx/>
                <a:buFontTx/>
              </a:pPr>
              <a:r>
                <a:rPr lang="en-US" altLang="zh-CN" b="1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02</a:t>
              </a:r>
              <a:endPara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</p:spTree>
    <p:custDataLst>
      <p:tags r:id="rId16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/>
        </p:nvSpPr>
        <p:spPr>
          <a:xfrm>
            <a:off x="4326255" y="233680"/>
            <a:ext cx="3359785" cy="651097"/>
          </a:xfrm>
          <a:prstGeom prst="roundRect">
            <a:avLst>
              <a:gd name="adj" fmla="val 49999"/>
            </a:avLst>
          </a:prstGeom>
          <a:solidFill>
            <a:srgbClr val="701E5E"/>
          </a:solidFill>
        </p:spPr>
        <p:txBody>
          <a:bodyPr wrap="square" rtlCol="0" anchor="t">
            <a:sp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2400" b="1" spc="300" dirty="0">
                <a:solidFill>
                  <a:schemeClr val="bg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DWSF</a:t>
            </a:r>
            <a:r>
              <a:rPr lang="zh-CN" altLang="en-US" sz="2400" b="1" spc="300" dirty="0">
                <a:solidFill>
                  <a:schemeClr val="bg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框架</a:t>
            </a:r>
            <a:r>
              <a:rPr lang="zh-CN" altLang="en-US" sz="2400" b="1" spc="300" dirty="0">
                <a:solidFill>
                  <a:schemeClr val="bg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概述</a:t>
            </a:r>
            <a:endParaRPr lang="zh-CN" altLang="en-US" sz="2400" b="1" spc="300" dirty="0">
              <a:solidFill>
                <a:schemeClr val="bg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12" name="组合 11"/>
          <p:cNvGrpSpPr/>
          <p:nvPr>
            <p:custDataLst>
              <p:tags r:id="rId1"/>
            </p:custDataLst>
          </p:nvPr>
        </p:nvGrpSpPr>
        <p:grpSpPr>
          <a:xfrm>
            <a:off x="2482663" y="3041015"/>
            <a:ext cx="7313838" cy="1939581"/>
            <a:chOff x="2112" y="2147"/>
            <a:chExt cx="14661" cy="3888"/>
          </a:xfrm>
        </p:grpSpPr>
        <p:sp>
          <p:nvSpPr>
            <p:cNvPr id="11" name="右箭头 10"/>
            <p:cNvSpPr/>
            <p:nvPr>
              <p:custDataLst>
                <p:tags r:id="rId2"/>
              </p:custDataLst>
            </p:nvPr>
          </p:nvSpPr>
          <p:spPr>
            <a:xfrm>
              <a:off x="10081" y="2147"/>
              <a:ext cx="4174" cy="2469"/>
            </a:xfrm>
            <a:prstGeom prst="rightArrow">
              <a:avLst>
                <a:gd name="adj1" fmla="val 60388"/>
                <a:gd name="adj2" fmla="val 50000"/>
              </a:avLst>
            </a:prstGeom>
            <a:solidFill>
              <a:schemeClr val="bg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右箭头 6"/>
            <p:cNvSpPr/>
            <p:nvPr>
              <p:custDataLst>
                <p:tags r:id="rId3"/>
              </p:custDataLst>
            </p:nvPr>
          </p:nvSpPr>
          <p:spPr>
            <a:xfrm>
              <a:off x="4489" y="3565"/>
              <a:ext cx="3663" cy="2469"/>
            </a:xfrm>
            <a:prstGeom prst="rightArrow">
              <a:avLst>
                <a:gd name="adj1" fmla="val 60388"/>
                <a:gd name="adj2" fmla="val 50000"/>
              </a:avLst>
            </a:prstGeom>
            <a:solidFill>
              <a:schemeClr val="bg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" name="右箭头 1"/>
            <p:cNvSpPr/>
            <p:nvPr>
              <p:custDataLst>
                <p:tags r:id="rId4"/>
              </p:custDataLst>
            </p:nvPr>
          </p:nvSpPr>
          <p:spPr>
            <a:xfrm>
              <a:off x="2112" y="2800"/>
              <a:ext cx="3696" cy="2614"/>
            </a:xfrm>
            <a:prstGeom prst="rightArrow">
              <a:avLst/>
            </a:prstGeom>
            <a:solidFill>
              <a:srgbClr val="B78EAE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嵌入阶段</a:t>
              </a: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3" name="燕尾形箭头 2"/>
            <p:cNvSpPr/>
            <p:nvPr>
              <p:custDataLst>
                <p:tags r:id="rId5"/>
              </p:custDataLst>
            </p:nvPr>
          </p:nvSpPr>
          <p:spPr>
            <a:xfrm>
              <a:off x="6467" y="2179"/>
              <a:ext cx="5312" cy="3856"/>
            </a:xfrm>
            <a:prstGeom prst="notchedRightArrow">
              <a:avLst/>
            </a:prstGeom>
            <a:solidFill>
              <a:srgbClr val="701E5E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传输阶段</a:t>
              </a:r>
              <a:endPara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4" name="燕尾形箭头 3"/>
            <p:cNvSpPr/>
            <p:nvPr>
              <p:custDataLst>
                <p:tags r:id="rId6"/>
              </p:custDataLst>
            </p:nvPr>
          </p:nvSpPr>
          <p:spPr>
            <a:xfrm>
              <a:off x="12725" y="2499"/>
              <a:ext cx="4048" cy="3216"/>
            </a:xfrm>
            <a:prstGeom prst="notchedRightArrow">
              <a:avLst>
                <a:gd name="adj1" fmla="val 48009"/>
                <a:gd name="adj2" fmla="val 50000"/>
              </a:avLst>
            </a:prstGeom>
            <a:solidFill>
              <a:srgbClr val="B78EAE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/>
                <a:t>提取阶段</a:t>
              </a:r>
              <a:endParaRPr lang="zh-CN" altLang="en-US"/>
            </a:p>
          </p:txBody>
        </p:sp>
      </p:grpSp>
      <p:sp>
        <p:nvSpPr>
          <p:cNvPr id="25" name="1111"/>
          <p:cNvSpPr txBox="1"/>
          <p:nvPr>
            <p:custDataLst>
              <p:tags r:id="rId7"/>
            </p:custDataLst>
          </p:nvPr>
        </p:nvSpPr>
        <p:spPr>
          <a:xfrm>
            <a:off x="2165819" y="4820555"/>
            <a:ext cx="2165068" cy="1549400"/>
          </a:xfrm>
          <a:prstGeom prst="rect">
            <a:avLst/>
          </a:prstGeom>
          <a:noFill/>
          <a:ln w="9525">
            <a:noFill/>
          </a:ln>
        </p:spPr>
        <p:txBody>
          <a:bodyPr wrap="square" tIns="36195" bIns="36195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dirty="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随机选择覆盖图像中的多个小块，通过编码器嵌入一致水印消息，生成水印图像。</a:t>
            </a:r>
            <a:endParaRPr lang="zh-CN" altLang="en-US" sz="1600" dirty="0">
              <a:solidFill>
                <a:srgbClr val="262626"/>
              </a:solidFill>
              <a:latin typeface="微软雅黑 Light" panose="020B0502040204020203" charset="-122"/>
              <a:ea typeface="微软雅黑 Light" panose="020B0502040204020203" charset="-122"/>
              <a:sym typeface="微软雅黑" panose="020B0503020204020204" pitchFamily="34" charset="-122"/>
            </a:endParaRPr>
          </a:p>
        </p:txBody>
      </p:sp>
      <p:sp>
        <p:nvSpPr>
          <p:cNvPr id="5" name="1111"/>
          <p:cNvSpPr txBox="1"/>
          <p:nvPr>
            <p:custDataLst>
              <p:tags r:id="rId8"/>
            </p:custDataLst>
          </p:nvPr>
        </p:nvSpPr>
        <p:spPr>
          <a:xfrm>
            <a:off x="4741452" y="4820555"/>
            <a:ext cx="2165068" cy="1918970"/>
          </a:xfrm>
          <a:prstGeom prst="rect">
            <a:avLst/>
          </a:prstGeom>
          <a:noFill/>
          <a:ln w="9525">
            <a:noFill/>
          </a:ln>
        </p:spPr>
        <p:txBody>
          <a:bodyPr wrap="square" tIns="36195" bIns="36195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dirty="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水印图像可能遭受几何攻击（如</a:t>
            </a:r>
            <a:r>
              <a:rPr lang="en-US" altLang="zh-CN" sz="1600" dirty="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 Rotate</a:t>
            </a:r>
            <a:r>
              <a:rPr lang="zh-CN" altLang="en-US" sz="1600" dirty="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、</a:t>
            </a:r>
            <a:r>
              <a:rPr lang="en-US" altLang="zh-CN" sz="1600" dirty="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Crop</a:t>
            </a:r>
            <a:r>
              <a:rPr lang="zh-CN" altLang="en-US" sz="1600" dirty="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）和非几何攻击（如</a:t>
            </a:r>
            <a:r>
              <a:rPr lang="en-US" altLang="zh-CN" sz="1600" dirty="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 JPEG</a:t>
            </a:r>
            <a:r>
              <a:rPr lang="zh-CN" altLang="en-US" sz="1600" dirty="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、</a:t>
            </a:r>
            <a:r>
              <a:rPr lang="en-US" altLang="zh-CN" sz="1600" dirty="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Gaussian Noise</a:t>
            </a:r>
            <a:r>
              <a:rPr lang="zh-CN" altLang="en-US" sz="1600" dirty="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）。</a:t>
            </a:r>
            <a:endParaRPr lang="zh-CN" altLang="en-US" sz="1600" dirty="0">
              <a:solidFill>
                <a:srgbClr val="262626"/>
              </a:solidFill>
              <a:latin typeface="微软雅黑 Light" panose="020B0502040204020203" charset="-122"/>
              <a:ea typeface="微软雅黑 Light" panose="020B0502040204020203" charset="-122"/>
              <a:sym typeface="微软雅黑" panose="020B0503020204020204" pitchFamily="34" charset="-122"/>
            </a:endParaRPr>
          </a:p>
        </p:txBody>
      </p:sp>
      <p:sp>
        <p:nvSpPr>
          <p:cNvPr id="6" name="1111"/>
          <p:cNvSpPr txBox="1"/>
          <p:nvPr>
            <p:custDataLst>
              <p:tags r:id="rId9"/>
            </p:custDataLst>
          </p:nvPr>
        </p:nvSpPr>
        <p:spPr>
          <a:xfrm>
            <a:off x="7548058" y="4820555"/>
            <a:ext cx="2165068" cy="1549400"/>
          </a:xfrm>
          <a:prstGeom prst="rect">
            <a:avLst/>
          </a:prstGeom>
          <a:noFill/>
          <a:ln w="9525">
            <a:noFill/>
          </a:ln>
        </p:spPr>
        <p:txBody>
          <a:bodyPr wrap="square" tIns="36195" bIns="36195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dirty="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同步模块定位并校正编码块，解码器提取消息后通过融合策略生成最终结果。</a:t>
            </a:r>
            <a:endParaRPr lang="zh-CN" altLang="en-US" sz="1600" dirty="0">
              <a:solidFill>
                <a:srgbClr val="262626"/>
              </a:solidFill>
              <a:latin typeface="微软雅黑 Light" panose="020B0502040204020203" charset="-122"/>
              <a:ea typeface="微软雅黑 Light" panose="020B0502040204020203" charset="-122"/>
              <a:sym typeface="微软雅黑" panose="020B0503020204020204" pitchFamily="34" charset="-122"/>
            </a:endParaRPr>
          </a:p>
        </p:txBody>
      </p:sp>
      <p:sp>
        <p:nvSpPr>
          <p:cNvPr id="16" name="八角星 15"/>
          <p:cNvSpPr/>
          <p:nvPr>
            <p:custDataLst>
              <p:tags r:id="rId10"/>
            </p:custDataLst>
          </p:nvPr>
        </p:nvSpPr>
        <p:spPr>
          <a:xfrm>
            <a:off x="3655426" y="5179736"/>
            <a:ext cx="1708109" cy="1708109"/>
          </a:xfrm>
          <a:prstGeom prst="star8">
            <a:avLst>
              <a:gd name="adj" fmla="val 37895"/>
            </a:avLst>
          </a:prstGeom>
          <a:noFill/>
          <a:ln w="28575">
            <a:solidFill>
              <a:srgbClr val="B78EAE">
                <a:alpha val="10000"/>
              </a:srgb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EFE6E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1280X1280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2221230" y="838835"/>
            <a:ext cx="7575550" cy="2187575"/>
          </a:xfrm>
          <a:prstGeom prst="rect">
            <a:avLst/>
          </a:prstGeom>
        </p:spPr>
      </p:pic>
    </p:spTree>
    <p:custDataLst>
      <p:tags r:id="rId1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/>
        </p:nvSpPr>
        <p:spPr>
          <a:xfrm>
            <a:off x="4326255" y="233680"/>
            <a:ext cx="3359785" cy="695891"/>
          </a:xfrm>
          <a:prstGeom prst="roundRect">
            <a:avLst>
              <a:gd name="adj" fmla="val 49999"/>
            </a:avLst>
          </a:prstGeom>
          <a:solidFill>
            <a:srgbClr val="701E5E"/>
          </a:solidFill>
        </p:spPr>
        <p:txBody>
          <a:bodyPr wrap="square" rtlCol="0" anchor="t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2400" b="1" spc="300" dirty="0">
                <a:solidFill>
                  <a:schemeClr val="bg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模型训练流程</a:t>
            </a:r>
            <a:endParaRPr lang="zh-CN" altLang="en-US" sz="2400" b="1" spc="300" dirty="0">
              <a:solidFill>
                <a:schemeClr val="bg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6" name="八角星 15"/>
          <p:cNvSpPr/>
          <p:nvPr>
            <p:custDataLst>
              <p:tags r:id="rId1"/>
            </p:custDataLst>
          </p:nvPr>
        </p:nvSpPr>
        <p:spPr>
          <a:xfrm>
            <a:off x="3655426" y="5179736"/>
            <a:ext cx="1708109" cy="1708109"/>
          </a:xfrm>
          <a:prstGeom prst="star8">
            <a:avLst>
              <a:gd name="adj" fmla="val 37895"/>
            </a:avLst>
          </a:prstGeom>
          <a:noFill/>
          <a:ln w="28575">
            <a:solidFill>
              <a:srgbClr val="B78EAE">
                <a:alpha val="10000"/>
              </a:srgb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EFE6E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 descr="1280X1280 (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4025" y="929640"/>
            <a:ext cx="8744585" cy="4087495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889000" y="5179695"/>
            <a:ext cx="10313035" cy="1258570"/>
          </a:xfrm>
          <a:prstGeom prst="rect">
            <a:avLst/>
          </a:prstGeom>
          <a:solidFill>
            <a:srgbClr val="701E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1111"/>
          <p:cNvSpPr txBox="1"/>
          <p:nvPr>
            <p:custDataLst>
              <p:tags r:id="rId3"/>
            </p:custDataLst>
          </p:nvPr>
        </p:nvSpPr>
        <p:spPr>
          <a:xfrm>
            <a:off x="1139190" y="5179695"/>
            <a:ext cx="9913620" cy="1051560"/>
          </a:xfrm>
          <a:prstGeom prst="rect">
            <a:avLst/>
          </a:prstGeom>
          <a:noFill/>
          <a:ln w="9525">
            <a:noFill/>
          </a:ln>
        </p:spPr>
        <p:txBody>
          <a:bodyPr wrap="square" tIns="36195" bIns="36195" anchor="t">
            <a:noAutofit/>
          </a:bodyPr>
          <a:p>
            <a:pPr algn="just"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为实现水印嵌入的高隐蔽性与提取鲁棒性，</a:t>
            </a:r>
            <a:r>
              <a:rPr lang="en-US" altLang="zh-CN" sz="1600" dirty="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DWSF </a:t>
            </a:r>
            <a:r>
              <a:rPr lang="zh-CN" altLang="en-US" sz="1600" dirty="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通过端到端对抗训练优化模型。</a:t>
            </a:r>
            <a:r>
              <a:rPr lang="en-US" altLang="zh-CN" sz="1600" dirty="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Encoder </a:t>
            </a:r>
            <a:r>
              <a:rPr lang="zh-CN" altLang="en-US" sz="1600" dirty="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接收原始图像与水印消息，经多层网络嵌入水印；</a:t>
            </a:r>
            <a:r>
              <a:rPr lang="en-US" altLang="zh-CN" sz="1600" dirty="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Noise Layer </a:t>
            </a:r>
            <a:r>
              <a:rPr lang="zh-CN" altLang="en-US" sz="1600" dirty="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模拟攻击生成受扰图像，驱动</a:t>
            </a:r>
            <a:r>
              <a:rPr lang="en-US" altLang="zh-CN" sz="1600" dirty="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 Decoder </a:t>
            </a:r>
            <a:r>
              <a:rPr lang="zh-CN" altLang="en-US" sz="1600" dirty="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精准提取水印；</a:t>
            </a:r>
            <a:r>
              <a:rPr lang="en-US" altLang="zh-CN" sz="1600" dirty="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Adversary </a:t>
            </a:r>
            <a:r>
              <a:rPr lang="zh-CN" altLang="en-US" sz="1600" dirty="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模块通过对抗损失约束</a:t>
            </a:r>
            <a:r>
              <a:rPr lang="en-US" altLang="zh-CN" sz="1600" dirty="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 Encoder</a:t>
            </a:r>
            <a:r>
              <a:rPr lang="zh-CN" altLang="en-US" sz="1600" dirty="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，让水印更难被察觉。多损失函数、解码损失、对抗损失协同优化，保障水印</a:t>
            </a:r>
            <a:r>
              <a:rPr lang="en-US" altLang="zh-CN" sz="1600" dirty="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 “</a:t>
            </a:r>
            <a:r>
              <a:rPr lang="zh-CN" altLang="en-US" sz="1600" dirty="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藏得好、提得出</a:t>
            </a:r>
            <a:r>
              <a:rPr lang="en-US" altLang="zh-CN" sz="1600" dirty="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”</a:t>
            </a:r>
            <a:r>
              <a:rPr lang="zh-CN" altLang="en-US" sz="1600" dirty="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。</a:t>
            </a:r>
            <a:endParaRPr lang="zh-CN" altLang="en-US" sz="1600" dirty="0">
              <a:solidFill>
                <a:schemeClr val="bg1"/>
              </a:solidFill>
              <a:latin typeface="微软雅黑 Light" panose="020B0502040204020203" charset="-122"/>
              <a:ea typeface="微软雅黑 Light" panose="020B0502040204020203" charset="-122"/>
              <a:sym typeface="微软雅黑" panose="020B0503020204020204" pitchFamily="34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/>
        </p:nvSpPr>
        <p:spPr>
          <a:xfrm>
            <a:off x="4707255" y="233680"/>
            <a:ext cx="2772410" cy="651059"/>
          </a:xfrm>
          <a:prstGeom prst="roundRect">
            <a:avLst>
              <a:gd name="adj" fmla="val 49999"/>
            </a:avLst>
          </a:prstGeom>
          <a:solidFill>
            <a:srgbClr val="701E5E"/>
          </a:solidFill>
        </p:spPr>
        <p:txBody>
          <a:bodyPr wrap="square" rtlCol="0" anchor="t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2400" b="1" spc="300" dirty="0">
                <a:solidFill>
                  <a:schemeClr val="bg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分散嵌入</a:t>
            </a:r>
            <a:endParaRPr lang="zh-CN" altLang="en-US" sz="2400" b="1" spc="300" dirty="0">
              <a:solidFill>
                <a:schemeClr val="bg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75" name="组合 74"/>
          <p:cNvGrpSpPr/>
          <p:nvPr>
            <p:custDataLst>
              <p:tags r:id="rId1"/>
            </p:custDataLst>
          </p:nvPr>
        </p:nvGrpSpPr>
        <p:grpSpPr>
          <a:xfrm>
            <a:off x="543560" y="1245235"/>
            <a:ext cx="10966892" cy="1902460"/>
            <a:chOff x="1478" y="3883"/>
            <a:chExt cx="8197" cy="2996"/>
          </a:xfrm>
        </p:grpSpPr>
        <p:sp>
          <p:nvSpPr>
            <p:cNvPr id="76" name="333333"/>
            <p:cNvSpPr txBox="1"/>
            <p:nvPr>
              <p:custDataLst>
                <p:tags r:id="rId2"/>
              </p:custDataLst>
            </p:nvPr>
          </p:nvSpPr>
          <p:spPr>
            <a:xfrm>
              <a:off x="1478" y="3883"/>
              <a:ext cx="1811" cy="58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algn="l"/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设计动机</a:t>
              </a: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7" name="1111"/>
            <p:cNvSpPr txBox="1"/>
            <p:nvPr>
              <p:custDataLst>
                <p:tags r:id="rId3"/>
              </p:custDataLst>
            </p:nvPr>
          </p:nvSpPr>
          <p:spPr>
            <a:xfrm>
              <a:off x="1478" y="4312"/>
              <a:ext cx="8197" cy="256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no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分散嵌入通过以下特性解决问题：</a:t>
              </a:r>
              <a:endParaRPr lang="zh-CN" altLang="en-US" sz="1600" dirty="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endParaRPr>
            </a:p>
            <a:p>
              <a:pPr algn="just">
                <a:lnSpc>
                  <a:spcPct val="150000"/>
                </a:lnSpc>
              </a:pPr>
              <a:r>
                <a:rPr lang="en-US" altLang="zh-CN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-</a:t>
              </a:r>
              <a:r>
                <a:rPr lang="en-US" altLang="zh-CN" sz="1600" b="1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 </a:t>
              </a:r>
              <a:r>
                <a:rPr lang="zh-CN" altLang="en-US" sz="1600" b="1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稀疏性</a:t>
              </a:r>
              <a:r>
                <a:rPr lang="zh-CN" altLang="en-US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：仅修改图像中少量固定尺寸块（面积占比</a:t>
              </a:r>
              <a:r>
                <a:rPr lang="en-US" altLang="zh-CN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 &lt; 25%</a:t>
              </a:r>
              <a:r>
                <a:rPr lang="zh-CN" altLang="en-US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），降低像素修改范围，</a:t>
              </a:r>
              <a:r>
                <a:rPr lang="en-US" altLang="zh-CN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PSNR </a:t>
              </a:r>
              <a:r>
                <a:rPr lang="zh-CN" altLang="en-US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较</a:t>
              </a:r>
              <a:r>
                <a:rPr lang="en-US" altLang="zh-CN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 HiDDeN </a:t>
              </a:r>
              <a:r>
                <a:rPr lang="zh-CN" altLang="en-US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提升</a:t>
              </a:r>
              <a:r>
                <a:rPr lang="en-US" altLang="zh-CN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 12.16dB</a:t>
              </a:r>
              <a:r>
                <a:rPr lang="zh-CN" altLang="en-US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。</a:t>
              </a:r>
              <a:endParaRPr lang="zh-CN" altLang="en-US" sz="1600" dirty="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endParaRPr>
            </a:p>
            <a:p>
              <a:pPr algn="just">
                <a:lnSpc>
                  <a:spcPct val="150000"/>
                </a:lnSpc>
              </a:pPr>
              <a:r>
                <a:rPr lang="en-US" altLang="zh-CN" sz="1600" b="1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- </a:t>
              </a:r>
              <a:r>
                <a:rPr lang="zh-CN" altLang="en-US" sz="1600" b="1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随机性</a:t>
              </a:r>
              <a:r>
                <a:rPr lang="zh-CN" altLang="en-US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：嵌入位置随机选择，避免攻击者针对性擦除，安全性高于固定位置嵌入。</a:t>
              </a:r>
              <a:endParaRPr lang="zh-CN" altLang="en-US" sz="1600" dirty="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endParaRPr>
            </a:p>
            <a:p>
              <a:pPr algn="just">
                <a:lnSpc>
                  <a:spcPct val="150000"/>
                </a:lnSpc>
              </a:pPr>
              <a:r>
                <a:rPr lang="en-US" altLang="zh-CN" sz="1600" b="1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- </a:t>
              </a:r>
              <a:r>
                <a:rPr lang="zh-CN" altLang="en-US" sz="1600" b="1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一致性</a:t>
              </a:r>
              <a:r>
                <a:rPr lang="zh-CN" altLang="en-US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：每个块嵌入相同消息，通过多块解码结果聚合提升鲁棒性。</a:t>
              </a:r>
              <a:endParaRPr lang="zh-CN" altLang="en-US" sz="1600" dirty="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81" name="组合 80"/>
          <p:cNvGrpSpPr/>
          <p:nvPr>
            <p:custDataLst>
              <p:tags r:id="rId4"/>
            </p:custDataLst>
          </p:nvPr>
        </p:nvGrpSpPr>
        <p:grpSpPr>
          <a:xfrm>
            <a:off x="543560" y="4688205"/>
            <a:ext cx="10692130" cy="1971675"/>
            <a:chOff x="1478" y="3883"/>
            <a:chExt cx="7910" cy="3105"/>
          </a:xfrm>
        </p:grpSpPr>
        <p:sp>
          <p:nvSpPr>
            <p:cNvPr id="82" name="333333"/>
            <p:cNvSpPr txBox="1"/>
            <p:nvPr>
              <p:custDataLst>
                <p:tags r:id="rId5"/>
              </p:custDataLst>
            </p:nvPr>
          </p:nvSpPr>
          <p:spPr>
            <a:xfrm>
              <a:off x="1478" y="3883"/>
              <a:ext cx="1811" cy="58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algn="l"/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实现方法</a:t>
              </a: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3" name="1111"/>
            <p:cNvSpPr txBox="1"/>
            <p:nvPr>
              <p:custDataLst>
                <p:tags r:id="rId6"/>
              </p:custDataLst>
            </p:nvPr>
          </p:nvSpPr>
          <p:spPr>
            <a:xfrm>
              <a:off x="1478" y="4518"/>
              <a:ext cx="7910" cy="247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altLang="zh-CN" sz="1600" b="1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1. </a:t>
              </a:r>
              <a:r>
                <a:rPr lang="zh-CN" altLang="en-US" sz="1600" b="1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块选择</a:t>
              </a:r>
              <a:r>
                <a:rPr lang="zh-CN" altLang="en-US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：从覆盖图像</a:t>
              </a:r>
              <a:r>
                <a:rPr lang="en-US" altLang="zh-CN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Ico</a:t>
              </a:r>
              <a:r>
                <a:rPr lang="zh-CN" altLang="en-US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中随机选取非重叠的</a:t>
              </a:r>
              <a:r>
                <a:rPr lang="en-US" altLang="zh-CN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h</a:t>
              </a:r>
              <a:r>
                <a:rPr lang="en-US" altLang="en-US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×</a:t>
              </a:r>
              <a:r>
                <a:rPr lang="en-US" altLang="zh-CN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w</a:t>
              </a:r>
              <a:r>
                <a:rPr lang="zh-CN" altLang="en-US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块（默认</a:t>
              </a:r>
              <a:r>
                <a:rPr lang="en-US" altLang="zh-CN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 128</a:t>
              </a:r>
              <a:r>
                <a:rPr lang="en-US" altLang="en-US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×</a:t>
              </a:r>
              <a:r>
                <a:rPr lang="en-US" altLang="zh-CN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128</a:t>
              </a:r>
              <a:r>
                <a:rPr lang="zh-CN" altLang="en-US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），总覆盖面积</a:t>
              </a:r>
              <a:r>
                <a:rPr lang="en-US" altLang="zh-CN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≤Q%</a:t>
              </a:r>
              <a:r>
                <a:rPr lang="zh-CN" altLang="en-US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（</a:t>
              </a:r>
              <a:r>
                <a:rPr lang="en-US" altLang="zh-CN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Q=25</a:t>
              </a:r>
              <a:r>
                <a:rPr lang="zh-CN" altLang="en-US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）。</a:t>
              </a:r>
              <a:endParaRPr lang="zh-CN" altLang="en-US" sz="1600" dirty="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endParaRPr>
            </a:p>
            <a:p>
              <a:pPr algn="just">
                <a:lnSpc>
                  <a:spcPct val="150000"/>
                </a:lnSpc>
              </a:pPr>
              <a:r>
                <a:rPr lang="en-US" altLang="zh-CN" sz="1600" b="1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2. </a:t>
              </a:r>
              <a:r>
                <a:rPr lang="zh-CN" altLang="en-US" sz="1600" b="1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编码器架构</a:t>
              </a:r>
              <a:r>
                <a:rPr lang="zh-CN" altLang="en-US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：基于</a:t>
              </a:r>
              <a:r>
                <a:rPr lang="en-US" altLang="zh-CN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 SE</a:t>
              </a:r>
              <a:r>
                <a:rPr lang="zh-CN" altLang="en-US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模块，将长度小于</a:t>
              </a:r>
              <a:r>
                <a:rPr lang="en-US" altLang="zh-CN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L</a:t>
              </a:r>
              <a:r>
                <a:rPr lang="zh-CN" altLang="en-US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的二进制消息嵌入块</a:t>
              </a:r>
              <a:r>
                <a:rPr lang="en-US" altLang="zh-CN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Xco</a:t>
              </a:r>
              <a:r>
                <a:rPr lang="zh-CN" altLang="en-US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，其中</a:t>
              </a:r>
              <a:r>
                <a:rPr lang="en-US" altLang="zh-CN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α</a:t>
              </a:r>
              <a:r>
                <a:rPr lang="zh-CN" altLang="en-US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平衡像素级与结构级损失。</a:t>
              </a:r>
              <a:endParaRPr lang="zh-CN" altLang="en-US" sz="1600" dirty="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endParaRPr>
            </a:p>
            <a:p>
              <a:pPr algn="just">
                <a:lnSpc>
                  <a:spcPct val="150000"/>
                </a:lnSpc>
              </a:pPr>
              <a:r>
                <a:rPr lang="en-US" altLang="zh-CN" sz="1600" b="1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3. </a:t>
              </a:r>
              <a:r>
                <a:rPr lang="zh-CN" altLang="en-US" sz="1600" b="1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噪声层</a:t>
              </a:r>
              <a:r>
                <a:rPr lang="zh-CN" altLang="en-US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：训练时模拟</a:t>
              </a:r>
              <a:r>
                <a:rPr lang="en-US" altLang="zh-CN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 5 </a:t>
              </a:r>
              <a:r>
                <a:rPr lang="zh-CN" altLang="en-US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种非几何攻击（</a:t>
              </a:r>
              <a:r>
                <a:rPr lang="en-US" altLang="zh-CN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JPEG</a:t>
              </a:r>
              <a:r>
                <a:rPr lang="zh-CN" altLang="en-US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、</a:t>
              </a:r>
              <a:r>
                <a:rPr lang="en-US" altLang="zh-CN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GN</a:t>
              </a:r>
              <a:r>
                <a:rPr lang="zh-CN" altLang="en-US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、</a:t>
              </a:r>
              <a:r>
                <a:rPr lang="en-US" altLang="zh-CN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GF</a:t>
              </a:r>
              <a:r>
                <a:rPr lang="zh-CN" altLang="en-US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、</a:t>
              </a:r>
              <a:r>
                <a:rPr lang="en-US" altLang="zh-CN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Color</a:t>
              </a:r>
              <a:r>
                <a:rPr lang="zh-CN" altLang="en-US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、</a:t>
              </a:r>
              <a:r>
                <a:rPr lang="en-US" altLang="zh-CN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Dropout</a:t>
              </a:r>
              <a:r>
                <a:rPr lang="zh-CN" altLang="en-US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）及无攻击（</a:t>
              </a:r>
              <a:r>
                <a:rPr lang="en-US" altLang="zh-CN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Identity</a:t>
              </a:r>
              <a:r>
                <a:rPr lang="zh-CN" altLang="en-US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），增强模型泛化能力。</a:t>
              </a:r>
              <a:endParaRPr lang="zh-CN" altLang="en-US" sz="1600" dirty="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89" name="文本框 88"/>
          <p:cNvSpPr txBox="1"/>
          <p:nvPr>
            <p:custDataLst>
              <p:tags r:id="rId7"/>
            </p:custDataLst>
          </p:nvPr>
        </p:nvSpPr>
        <p:spPr>
          <a:xfrm>
            <a:off x="949960" y="3147695"/>
            <a:ext cx="10061575" cy="136334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6734" h="3016">
                <a:moveTo>
                  <a:pt x="15039" y="521"/>
                </a:moveTo>
                <a:lnTo>
                  <a:pt x="15044" y="550"/>
                </a:lnTo>
                <a:cubicBezTo>
                  <a:pt x="15067" y="676"/>
                  <a:pt x="15079" y="816"/>
                  <a:pt x="15079" y="970"/>
                </a:cubicBezTo>
                <a:lnTo>
                  <a:pt x="15079" y="2983"/>
                </a:lnTo>
                <a:lnTo>
                  <a:pt x="14947" y="2989"/>
                </a:lnTo>
                <a:cubicBezTo>
                  <a:pt x="14668" y="3002"/>
                  <a:pt x="14388" y="3009"/>
                  <a:pt x="14109" y="3013"/>
                </a:cubicBezTo>
                <a:lnTo>
                  <a:pt x="14048" y="3014"/>
                </a:lnTo>
                <a:lnTo>
                  <a:pt x="14048" y="1038"/>
                </a:lnTo>
                <a:cubicBezTo>
                  <a:pt x="14048" y="903"/>
                  <a:pt x="14032" y="809"/>
                  <a:pt x="14000" y="757"/>
                </a:cubicBezTo>
                <a:cubicBezTo>
                  <a:pt x="13968" y="704"/>
                  <a:pt x="13910" y="678"/>
                  <a:pt x="13827" y="678"/>
                </a:cubicBezTo>
                <a:cubicBezTo>
                  <a:pt x="13666" y="678"/>
                  <a:pt x="13586" y="798"/>
                  <a:pt x="13586" y="1038"/>
                </a:cubicBezTo>
                <a:lnTo>
                  <a:pt x="13586" y="1470"/>
                </a:lnTo>
                <a:lnTo>
                  <a:pt x="13883" y="1470"/>
                </a:lnTo>
                <a:lnTo>
                  <a:pt x="13883" y="2384"/>
                </a:lnTo>
                <a:lnTo>
                  <a:pt x="13586" y="2384"/>
                </a:lnTo>
                <a:lnTo>
                  <a:pt x="13586" y="3016"/>
                </a:lnTo>
                <a:lnTo>
                  <a:pt x="13550" y="3016"/>
                </a:lnTo>
                <a:cubicBezTo>
                  <a:pt x="13224" y="3015"/>
                  <a:pt x="12898" y="3008"/>
                  <a:pt x="12572" y="2998"/>
                </a:cubicBezTo>
                <a:lnTo>
                  <a:pt x="12555" y="2998"/>
                </a:lnTo>
                <a:lnTo>
                  <a:pt x="12555" y="1005"/>
                </a:lnTo>
                <a:cubicBezTo>
                  <a:pt x="12555" y="846"/>
                  <a:pt x="12571" y="699"/>
                  <a:pt x="12604" y="566"/>
                </a:cubicBezTo>
                <a:lnTo>
                  <a:pt x="12612" y="535"/>
                </a:lnTo>
                <a:lnTo>
                  <a:pt x="12712" y="538"/>
                </a:lnTo>
                <a:cubicBezTo>
                  <a:pt x="13457" y="559"/>
                  <a:pt x="14202" y="558"/>
                  <a:pt x="14947" y="525"/>
                </a:cubicBezTo>
                <a:lnTo>
                  <a:pt x="15039" y="521"/>
                </a:lnTo>
                <a:close/>
                <a:moveTo>
                  <a:pt x="10818" y="448"/>
                </a:moveTo>
                <a:lnTo>
                  <a:pt x="11035" y="462"/>
                </a:lnTo>
                <a:cubicBezTo>
                  <a:pt x="11268" y="476"/>
                  <a:pt x="11501" y="489"/>
                  <a:pt x="11734" y="500"/>
                </a:cubicBezTo>
                <a:lnTo>
                  <a:pt x="11837" y="505"/>
                </a:lnTo>
                <a:lnTo>
                  <a:pt x="11367" y="1315"/>
                </a:lnTo>
                <a:lnTo>
                  <a:pt x="12168" y="2984"/>
                </a:lnTo>
                <a:lnTo>
                  <a:pt x="12153" y="2983"/>
                </a:lnTo>
                <a:cubicBezTo>
                  <a:pt x="11780" y="2968"/>
                  <a:pt x="11408" y="2949"/>
                  <a:pt x="11035" y="2926"/>
                </a:cubicBezTo>
                <a:lnTo>
                  <a:pt x="11001" y="2924"/>
                </a:lnTo>
                <a:lnTo>
                  <a:pt x="10333" y="1295"/>
                </a:lnTo>
                <a:lnTo>
                  <a:pt x="10818" y="448"/>
                </a:lnTo>
                <a:close/>
                <a:moveTo>
                  <a:pt x="16734" y="379"/>
                </a:moveTo>
                <a:lnTo>
                  <a:pt x="16734" y="2843"/>
                </a:lnTo>
                <a:lnTo>
                  <a:pt x="16624" y="2856"/>
                </a:lnTo>
                <a:cubicBezTo>
                  <a:pt x="16344" y="2889"/>
                  <a:pt x="16065" y="2916"/>
                  <a:pt x="15785" y="2938"/>
                </a:cubicBezTo>
                <a:lnTo>
                  <a:pt x="15703" y="2944"/>
                </a:lnTo>
                <a:lnTo>
                  <a:pt x="15703" y="480"/>
                </a:lnTo>
                <a:lnTo>
                  <a:pt x="15785" y="474"/>
                </a:lnTo>
                <a:cubicBezTo>
                  <a:pt x="16065" y="452"/>
                  <a:pt x="16344" y="425"/>
                  <a:pt x="16624" y="392"/>
                </a:cubicBezTo>
                <a:lnTo>
                  <a:pt x="16734" y="379"/>
                </a:lnTo>
                <a:close/>
                <a:moveTo>
                  <a:pt x="9272" y="336"/>
                </a:moveTo>
                <a:lnTo>
                  <a:pt x="9359" y="343"/>
                </a:lnTo>
                <a:cubicBezTo>
                  <a:pt x="9638" y="364"/>
                  <a:pt x="9918" y="386"/>
                  <a:pt x="10197" y="406"/>
                </a:cubicBezTo>
                <a:lnTo>
                  <a:pt x="10303" y="413"/>
                </a:lnTo>
                <a:lnTo>
                  <a:pt x="10303" y="2877"/>
                </a:lnTo>
                <a:lnTo>
                  <a:pt x="10197" y="2870"/>
                </a:lnTo>
                <a:cubicBezTo>
                  <a:pt x="9918" y="2850"/>
                  <a:pt x="9638" y="2829"/>
                  <a:pt x="9359" y="2807"/>
                </a:cubicBezTo>
                <a:lnTo>
                  <a:pt x="9272" y="2800"/>
                </a:lnTo>
                <a:lnTo>
                  <a:pt x="9272" y="336"/>
                </a:lnTo>
                <a:close/>
                <a:moveTo>
                  <a:pt x="6402" y="116"/>
                </a:moveTo>
                <a:lnTo>
                  <a:pt x="6565" y="127"/>
                </a:lnTo>
                <a:cubicBezTo>
                  <a:pt x="7030" y="159"/>
                  <a:pt x="7496" y="194"/>
                  <a:pt x="7962" y="231"/>
                </a:cubicBezTo>
                <a:lnTo>
                  <a:pt x="8511" y="275"/>
                </a:lnTo>
                <a:lnTo>
                  <a:pt x="8511" y="276"/>
                </a:lnTo>
                <a:cubicBezTo>
                  <a:pt x="8600" y="472"/>
                  <a:pt x="8645" y="712"/>
                  <a:pt x="8645" y="995"/>
                </a:cubicBezTo>
                <a:lnTo>
                  <a:pt x="8645" y="2750"/>
                </a:lnTo>
                <a:lnTo>
                  <a:pt x="8521" y="2740"/>
                </a:lnTo>
                <a:cubicBezTo>
                  <a:pt x="8241" y="2718"/>
                  <a:pt x="7962" y="2695"/>
                  <a:pt x="7682" y="2673"/>
                </a:cubicBezTo>
                <a:lnTo>
                  <a:pt x="7614" y="2668"/>
                </a:lnTo>
                <a:lnTo>
                  <a:pt x="7614" y="995"/>
                </a:lnTo>
                <a:cubicBezTo>
                  <a:pt x="7614" y="784"/>
                  <a:pt x="7539" y="678"/>
                  <a:pt x="7388" y="678"/>
                </a:cubicBezTo>
                <a:cubicBezTo>
                  <a:pt x="7243" y="678"/>
                  <a:pt x="7170" y="784"/>
                  <a:pt x="7170" y="995"/>
                </a:cubicBezTo>
                <a:lnTo>
                  <a:pt x="7170" y="2634"/>
                </a:lnTo>
                <a:lnTo>
                  <a:pt x="7123" y="2631"/>
                </a:lnTo>
                <a:cubicBezTo>
                  <a:pt x="6844" y="2610"/>
                  <a:pt x="6565" y="2590"/>
                  <a:pt x="6285" y="2572"/>
                </a:cubicBezTo>
                <a:lnTo>
                  <a:pt x="6139" y="2563"/>
                </a:lnTo>
                <a:lnTo>
                  <a:pt x="6139" y="960"/>
                </a:lnTo>
                <a:cubicBezTo>
                  <a:pt x="6139" y="627"/>
                  <a:pt x="6223" y="350"/>
                  <a:pt x="6391" y="129"/>
                </a:cubicBezTo>
                <a:lnTo>
                  <a:pt x="6402" y="116"/>
                </a:lnTo>
                <a:close/>
                <a:moveTo>
                  <a:pt x="2212" y="22"/>
                </a:moveTo>
                <a:lnTo>
                  <a:pt x="2214" y="24"/>
                </a:lnTo>
                <a:cubicBezTo>
                  <a:pt x="2409" y="253"/>
                  <a:pt x="2506" y="577"/>
                  <a:pt x="2506" y="995"/>
                </a:cubicBezTo>
                <a:lnTo>
                  <a:pt x="2506" y="2476"/>
                </a:lnTo>
                <a:lnTo>
                  <a:pt x="2373" y="2480"/>
                </a:lnTo>
                <a:cubicBezTo>
                  <a:pt x="2094" y="2489"/>
                  <a:pt x="1814" y="2503"/>
                  <a:pt x="1535" y="2522"/>
                </a:cubicBezTo>
                <a:lnTo>
                  <a:pt x="1475" y="2526"/>
                </a:lnTo>
                <a:lnTo>
                  <a:pt x="1475" y="995"/>
                </a:lnTo>
                <a:cubicBezTo>
                  <a:pt x="1475" y="784"/>
                  <a:pt x="1400" y="678"/>
                  <a:pt x="1249" y="678"/>
                </a:cubicBezTo>
                <a:cubicBezTo>
                  <a:pt x="1104" y="678"/>
                  <a:pt x="1031" y="784"/>
                  <a:pt x="1031" y="995"/>
                </a:cubicBezTo>
                <a:lnTo>
                  <a:pt x="1031" y="2561"/>
                </a:lnTo>
                <a:lnTo>
                  <a:pt x="976" y="2566"/>
                </a:lnTo>
                <a:cubicBezTo>
                  <a:pt x="697" y="2591"/>
                  <a:pt x="417" y="2622"/>
                  <a:pt x="138" y="2659"/>
                </a:cubicBezTo>
                <a:lnTo>
                  <a:pt x="0" y="2677"/>
                </a:lnTo>
                <a:lnTo>
                  <a:pt x="0" y="960"/>
                </a:lnTo>
                <a:cubicBezTo>
                  <a:pt x="0" y="664"/>
                  <a:pt x="66" y="412"/>
                  <a:pt x="199" y="205"/>
                </a:cubicBezTo>
                <a:lnTo>
                  <a:pt x="213" y="185"/>
                </a:lnTo>
                <a:lnTo>
                  <a:pt x="278" y="177"/>
                </a:lnTo>
                <a:cubicBezTo>
                  <a:pt x="883" y="101"/>
                  <a:pt x="1488" y="53"/>
                  <a:pt x="2094" y="27"/>
                </a:cubicBezTo>
                <a:lnTo>
                  <a:pt x="2212" y="22"/>
                </a:lnTo>
                <a:close/>
                <a:moveTo>
                  <a:pt x="3423" y="0"/>
                </a:moveTo>
                <a:lnTo>
                  <a:pt x="3491" y="0"/>
                </a:lnTo>
                <a:cubicBezTo>
                  <a:pt x="4096" y="3"/>
                  <a:pt x="4702" y="22"/>
                  <a:pt x="5307" y="51"/>
                </a:cubicBezTo>
                <a:lnTo>
                  <a:pt x="5355" y="54"/>
                </a:lnTo>
                <a:lnTo>
                  <a:pt x="5362" y="64"/>
                </a:lnTo>
                <a:cubicBezTo>
                  <a:pt x="5511" y="277"/>
                  <a:pt x="5586" y="579"/>
                  <a:pt x="5586" y="970"/>
                </a:cubicBezTo>
                <a:lnTo>
                  <a:pt x="5586" y="2530"/>
                </a:lnTo>
                <a:lnTo>
                  <a:pt x="5447" y="2523"/>
                </a:lnTo>
                <a:cubicBezTo>
                  <a:pt x="5167" y="2508"/>
                  <a:pt x="4888" y="2496"/>
                  <a:pt x="4609" y="2486"/>
                </a:cubicBezTo>
                <a:lnTo>
                  <a:pt x="4555" y="2485"/>
                </a:lnTo>
                <a:lnTo>
                  <a:pt x="4555" y="1038"/>
                </a:lnTo>
                <a:cubicBezTo>
                  <a:pt x="4555" y="903"/>
                  <a:pt x="4539" y="809"/>
                  <a:pt x="4507" y="757"/>
                </a:cubicBezTo>
                <a:cubicBezTo>
                  <a:pt x="4475" y="704"/>
                  <a:pt x="4417" y="678"/>
                  <a:pt x="4334" y="678"/>
                </a:cubicBezTo>
                <a:cubicBezTo>
                  <a:pt x="4173" y="678"/>
                  <a:pt x="4093" y="798"/>
                  <a:pt x="4093" y="1038"/>
                </a:cubicBezTo>
                <a:lnTo>
                  <a:pt x="4093" y="1470"/>
                </a:lnTo>
                <a:lnTo>
                  <a:pt x="4390" y="1470"/>
                </a:lnTo>
                <a:lnTo>
                  <a:pt x="4390" y="2384"/>
                </a:lnTo>
                <a:lnTo>
                  <a:pt x="4093" y="2384"/>
                </a:lnTo>
                <a:lnTo>
                  <a:pt x="4093" y="2472"/>
                </a:lnTo>
                <a:lnTo>
                  <a:pt x="4050" y="2471"/>
                </a:lnTo>
                <a:cubicBezTo>
                  <a:pt x="3724" y="2465"/>
                  <a:pt x="3398" y="2462"/>
                  <a:pt x="3072" y="2465"/>
                </a:cubicBezTo>
                <a:lnTo>
                  <a:pt x="3062" y="2465"/>
                </a:lnTo>
                <a:lnTo>
                  <a:pt x="3062" y="1005"/>
                </a:lnTo>
                <a:cubicBezTo>
                  <a:pt x="3062" y="579"/>
                  <a:pt x="3178" y="247"/>
                  <a:pt x="3411" y="11"/>
                </a:cubicBezTo>
                <a:lnTo>
                  <a:pt x="3423" y="0"/>
                </a:lnTo>
                <a:close/>
              </a:path>
            </a:pathLst>
          </a:custGeom>
          <a:solidFill>
            <a:srgbClr val="B78EAE"/>
          </a:solidFill>
          <a:effectLst/>
        </p:spPr>
        <p:txBody>
          <a:bodyPr wrap="square" rtlCol="0">
            <a:noAutofit/>
          </a:bodyPr>
          <a:lstStyle/>
          <a:p>
            <a:endParaRPr lang="en-US" altLang="zh-CN" sz="26000">
              <a:solidFill>
                <a:srgbClr val="C65844"/>
              </a:solidFill>
              <a:latin typeface="Bauhaus 93" panose="04030905020B02020C02" charset="0"/>
              <a:cs typeface="Bauhaus 93" panose="04030905020B02020C02" charset="0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/>
        </p:nvSpPr>
        <p:spPr>
          <a:xfrm>
            <a:off x="4326255" y="233680"/>
            <a:ext cx="3359785" cy="651087"/>
          </a:xfrm>
          <a:prstGeom prst="roundRect">
            <a:avLst>
              <a:gd name="adj" fmla="val 49999"/>
            </a:avLst>
          </a:prstGeom>
          <a:solidFill>
            <a:srgbClr val="701E5E"/>
          </a:solidFill>
        </p:spPr>
        <p:txBody>
          <a:bodyPr wrap="square" rtlCol="0" anchor="t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2400" b="1" spc="300" dirty="0">
                <a:solidFill>
                  <a:schemeClr val="bg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水印同步模块</a:t>
            </a:r>
            <a:endParaRPr lang="zh-CN" altLang="en-US" sz="2400" b="1" spc="300" dirty="0">
              <a:solidFill>
                <a:schemeClr val="bg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6" name="八角星 15"/>
          <p:cNvSpPr/>
          <p:nvPr>
            <p:custDataLst>
              <p:tags r:id="rId1"/>
            </p:custDataLst>
          </p:nvPr>
        </p:nvSpPr>
        <p:spPr>
          <a:xfrm>
            <a:off x="3655426" y="5179736"/>
            <a:ext cx="1708109" cy="1708109"/>
          </a:xfrm>
          <a:prstGeom prst="star8">
            <a:avLst>
              <a:gd name="adj" fmla="val 37895"/>
            </a:avLst>
          </a:prstGeom>
          <a:noFill/>
          <a:ln w="28575">
            <a:solidFill>
              <a:srgbClr val="B78EAE">
                <a:alpha val="10000"/>
              </a:srgb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EFE6E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889000" y="4351655"/>
            <a:ext cx="10313035" cy="1852295"/>
          </a:xfrm>
          <a:prstGeom prst="rect">
            <a:avLst/>
          </a:prstGeom>
          <a:solidFill>
            <a:srgbClr val="701E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1111"/>
          <p:cNvSpPr txBox="1"/>
          <p:nvPr>
            <p:custDataLst>
              <p:tags r:id="rId2"/>
            </p:custDataLst>
          </p:nvPr>
        </p:nvSpPr>
        <p:spPr>
          <a:xfrm>
            <a:off x="1139190" y="4479925"/>
            <a:ext cx="9913620" cy="1422400"/>
          </a:xfrm>
          <a:prstGeom prst="rect">
            <a:avLst/>
          </a:prstGeom>
          <a:noFill/>
          <a:ln w="9525">
            <a:noFill/>
          </a:ln>
        </p:spPr>
        <p:txBody>
          <a:bodyPr wrap="square" tIns="36195" bIns="36195" anchor="t">
            <a:noAutofit/>
          </a:bodyPr>
          <a:p>
            <a:pPr algn="just"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几何攻击（如旋转、缩放）会破坏编码块的位置和形状，导致解码器无法正确提取消息。同步模块需解决两大问题。</a:t>
            </a:r>
            <a:endParaRPr lang="zh-CN" altLang="en-US" sz="1600" dirty="0">
              <a:solidFill>
                <a:schemeClr val="bg1"/>
              </a:solidFill>
              <a:latin typeface="微软雅黑 Light" panose="020B0502040204020203" charset="-122"/>
              <a:ea typeface="微软雅黑 Light" panose="020B0502040204020203" charset="-122"/>
              <a:sym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600" b="1" dirty="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块定位：</a:t>
            </a:r>
            <a:r>
              <a:rPr lang="zh-CN" altLang="en-US" sz="1600" dirty="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在攻击后图像中识别编码块区域。</a:t>
            </a:r>
            <a:endParaRPr lang="zh-CN" altLang="en-US" sz="1600" dirty="0">
              <a:solidFill>
                <a:schemeClr val="bg1"/>
              </a:solidFill>
              <a:latin typeface="微软雅黑 Light" panose="020B0502040204020203" charset="-122"/>
              <a:ea typeface="微软雅黑 Light" panose="020B0502040204020203" charset="-122"/>
              <a:sym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600" b="1" dirty="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几何校正：</a:t>
            </a:r>
            <a:r>
              <a:rPr lang="zh-CN" altLang="en-US" sz="1600" dirty="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估计并逆变换几何参数（如旋转角度、缩放比例），恢复编码块原始形态。</a:t>
            </a:r>
            <a:endParaRPr lang="zh-CN" altLang="en-US" sz="1600" dirty="0">
              <a:solidFill>
                <a:schemeClr val="bg1"/>
              </a:solidFill>
              <a:latin typeface="微软雅黑 Light" panose="020B0502040204020203" charset="-122"/>
              <a:ea typeface="微软雅黑 Light" panose="020B0502040204020203" charset="-122"/>
              <a:sym typeface="微软雅黑" panose="020B0503020204020204" pitchFamily="34" charset="-122"/>
            </a:endParaRPr>
          </a:p>
        </p:txBody>
      </p:sp>
      <p:pic>
        <p:nvPicPr>
          <p:cNvPr id="2" name="图片 1" descr="9b8624e6-5980-42f4-b4c3-3670f74e95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645" y="1229360"/>
            <a:ext cx="10210165" cy="301180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4091940" y="936625"/>
            <a:ext cx="9692005" cy="3225165"/>
            <a:chOff x="6444" y="1475"/>
            <a:chExt cx="15263" cy="5079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444" y="1475"/>
              <a:ext cx="4345" cy="3310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653" y="3466"/>
              <a:ext cx="4054" cy="3088"/>
            </a:xfrm>
            <a:prstGeom prst="rect">
              <a:avLst/>
            </a:prstGeom>
          </p:spPr>
        </p:pic>
      </p:grpSp>
      <p:sp>
        <p:nvSpPr>
          <p:cNvPr id="14" name="文本框 13"/>
          <p:cNvSpPr txBox="1"/>
          <p:nvPr/>
        </p:nvSpPr>
        <p:spPr>
          <a:xfrm>
            <a:off x="4707255" y="233680"/>
            <a:ext cx="2772410" cy="651059"/>
          </a:xfrm>
          <a:prstGeom prst="roundRect">
            <a:avLst>
              <a:gd name="adj" fmla="val 49999"/>
            </a:avLst>
          </a:prstGeom>
          <a:solidFill>
            <a:srgbClr val="701E5E"/>
          </a:solidFill>
        </p:spPr>
        <p:txBody>
          <a:bodyPr wrap="square" rtlCol="0" anchor="t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2400" b="1" spc="300" dirty="0">
                <a:solidFill>
                  <a:schemeClr val="bg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消息融合策略</a:t>
            </a:r>
            <a:endParaRPr lang="zh-CN" altLang="en-US" sz="2400" b="1" spc="300" dirty="0">
              <a:solidFill>
                <a:schemeClr val="bg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78" name="组合 77"/>
          <p:cNvGrpSpPr/>
          <p:nvPr>
            <p:custDataLst>
              <p:tags r:id="rId3"/>
            </p:custDataLst>
          </p:nvPr>
        </p:nvGrpSpPr>
        <p:grpSpPr>
          <a:xfrm>
            <a:off x="5881370" y="1736725"/>
            <a:ext cx="5349875" cy="1602105"/>
            <a:chOff x="1478" y="3883"/>
            <a:chExt cx="7242" cy="2523"/>
          </a:xfrm>
        </p:grpSpPr>
        <p:sp>
          <p:nvSpPr>
            <p:cNvPr id="79" name="333333"/>
            <p:cNvSpPr txBox="1"/>
            <p:nvPr>
              <p:custDataLst>
                <p:tags r:id="rId4"/>
              </p:custDataLst>
            </p:nvPr>
          </p:nvSpPr>
          <p:spPr>
            <a:xfrm>
              <a:off x="1478" y="3883"/>
              <a:ext cx="1811" cy="58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algn="l"/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设计</a:t>
              </a: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原因</a:t>
              </a: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0" name="1111"/>
            <p:cNvSpPr txBox="1"/>
            <p:nvPr>
              <p:custDataLst>
                <p:tags r:id="rId5"/>
              </p:custDataLst>
            </p:nvPr>
          </p:nvSpPr>
          <p:spPr>
            <a:xfrm>
              <a:off x="1478" y="4518"/>
              <a:ext cx="7242" cy="18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分散嵌入生成多个解码消息，高强度攻击下部分消息可能失真，直接平均会引入偏差。融合策略通过相似性筛选可靠消息</a:t>
              </a:r>
              <a:endParaRPr lang="zh-CN" altLang="en-US" sz="1600" dirty="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endParaRPr>
            </a:p>
          </p:txBody>
        </p:sp>
      </p:grpSp>
      <p:cxnSp>
        <p:nvCxnSpPr>
          <p:cNvPr id="10" name="直接连接符 9"/>
          <p:cNvCxnSpPr/>
          <p:nvPr>
            <p:custDataLst>
              <p:tags r:id="rId6"/>
            </p:custDataLst>
          </p:nvPr>
        </p:nvCxnSpPr>
        <p:spPr>
          <a:xfrm>
            <a:off x="4998720" y="3545840"/>
            <a:ext cx="6695440" cy="0"/>
          </a:xfrm>
          <a:prstGeom prst="line">
            <a:avLst/>
          </a:prstGeom>
          <a:ln w="19050">
            <a:solidFill>
              <a:srgbClr val="B78EAE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组合 10"/>
          <p:cNvGrpSpPr/>
          <p:nvPr>
            <p:custDataLst>
              <p:tags r:id="rId7"/>
            </p:custDataLst>
          </p:nvPr>
        </p:nvGrpSpPr>
        <p:grpSpPr>
          <a:xfrm>
            <a:off x="5153025" y="3908186"/>
            <a:ext cx="2851785" cy="2341482"/>
            <a:chOff x="1478" y="3883"/>
            <a:chExt cx="4491" cy="3687"/>
          </a:xfrm>
        </p:grpSpPr>
        <p:sp>
          <p:nvSpPr>
            <p:cNvPr id="12" name="333333"/>
            <p:cNvSpPr txBox="1"/>
            <p:nvPr>
              <p:custDataLst>
                <p:tags r:id="rId8"/>
              </p:custDataLst>
            </p:nvPr>
          </p:nvSpPr>
          <p:spPr>
            <a:xfrm>
              <a:off x="1478" y="3883"/>
              <a:ext cx="4145" cy="58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algn="l"/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差异计算</a:t>
              </a: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与分组筛选</a:t>
              </a: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1111"/>
            <p:cNvSpPr txBox="1"/>
            <p:nvPr>
              <p:custDataLst>
                <p:tags r:id="rId9"/>
              </p:custDataLst>
            </p:nvPr>
          </p:nvSpPr>
          <p:spPr>
            <a:xfrm>
              <a:off x="1478" y="4518"/>
              <a:ext cx="4491" cy="305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altLang="zh-CN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1. </a:t>
              </a:r>
              <a:r>
                <a:rPr lang="zh-CN" altLang="en-US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差异计算：对</a:t>
              </a:r>
              <a:r>
                <a:rPr lang="en-US" altLang="zh-CN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N</a:t>
              </a:r>
              <a:r>
                <a:rPr lang="zh-CN" altLang="en-US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个解码消息</a:t>
              </a:r>
              <a:r>
                <a:rPr lang="en-US" altLang="zh-CN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Mi</a:t>
              </a:r>
              <a:r>
                <a:rPr lang="zh-CN" altLang="en-US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，计算任意两者的位差异</a:t>
              </a:r>
              <a:endParaRPr lang="en-US" altLang="zh-CN" sz="1600" dirty="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endParaRPr>
            </a:p>
            <a:p>
              <a:pPr algn="just">
                <a:lnSpc>
                  <a:spcPct val="150000"/>
                </a:lnSpc>
              </a:pPr>
              <a:r>
                <a:rPr lang="en-US" altLang="zh-CN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2. </a:t>
              </a:r>
              <a:r>
                <a:rPr lang="zh-CN" altLang="en-US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分组筛选：设置位差异阈值</a:t>
              </a:r>
              <a:r>
                <a:rPr lang="en-US" altLang="zh-CN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T</a:t>
              </a:r>
              <a:r>
                <a:rPr lang="zh-CN" altLang="en-US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，寻找满足条件的消息组，其中为差异</a:t>
              </a:r>
              <a:r>
                <a:rPr lang="en-US" altLang="zh-CN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≤t</a:t>
              </a:r>
              <a:r>
                <a:rPr lang="zh-CN" altLang="en-US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的消息集合。</a:t>
              </a:r>
              <a:endParaRPr lang="zh-CN" altLang="en-US" sz="1600" dirty="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5" name="组合 14"/>
          <p:cNvGrpSpPr/>
          <p:nvPr>
            <p:custDataLst>
              <p:tags r:id="rId10"/>
            </p:custDataLst>
          </p:nvPr>
        </p:nvGrpSpPr>
        <p:grpSpPr>
          <a:xfrm>
            <a:off x="8159115" y="3908425"/>
            <a:ext cx="3787140" cy="2586355"/>
            <a:chOff x="1478" y="3883"/>
            <a:chExt cx="5322" cy="4073"/>
          </a:xfrm>
        </p:grpSpPr>
        <p:sp>
          <p:nvSpPr>
            <p:cNvPr id="16" name="333333"/>
            <p:cNvSpPr txBox="1"/>
            <p:nvPr>
              <p:custDataLst>
                <p:tags r:id="rId11"/>
              </p:custDataLst>
            </p:nvPr>
          </p:nvSpPr>
          <p:spPr>
            <a:xfrm>
              <a:off x="1478" y="3883"/>
              <a:ext cx="1811" cy="58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algn="l"/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结果聚合</a:t>
              </a: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1111"/>
            <p:cNvSpPr txBox="1"/>
            <p:nvPr>
              <p:custDataLst>
                <p:tags r:id="rId12"/>
              </p:custDataLst>
            </p:nvPr>
          </p:nvSpPr>
          <p:spPr>
            <a:xfrm>
              <a:off x="1478" y="4518"/>
              <a:ext cx="5322" cy="343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no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对筛选后的消息取平均并二值化，得到最终消息与简单平均（</a:t>
              </a:r>
              <a:r>
                <a:rPr lang="en-US" altLang="zh-CN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Mean</a:t>
              </a:r>
              <a:r>
                <a:rPr lang="zh-CN" altLang="en-US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）或最优选择（</a:t>
              </a:r>
              <a:r>
                <a:rPr lang="en-US" altLang="zh-CN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Min</a:t>
              </a:r>
              <a:r>
                <a:rPr lang="zh-CN" altLang="en-US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）相比，融合策略在</a:t>
              </a:r>
              <a:r>
                <a:rPr lang="en-US" altLang="zh-CN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 ImageNet </a:t>
              </a:r>
              <a:r>
                <a:rPr lang="zh-CN" altLang="en-US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数据集上平均位准确率达</a:t>
              </a:r>
              <a:r>
                <a:rPr lang="en-US" altLang="zh-CN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 99.45%</a:t>
              </a:r>
              <a:r>
                <a:rPr lang="zh-CN" altLang="en-US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，仅比理论上限（</a:t>
              </a:r>
              <a:r>
                <a:rPr lang="en-US" altLang="zh-CN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Min</a:t>
              </a:r>
              <a:r>
                <a:rPr lang="zh-CN" altLang="en-US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）低</a:t>
              </a:r>
              <a:r>
                <a:rPr lang="en-US" altLang="zh-CN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 0.16%</a:t>
              </a:r>
              <a:r>
                <a:rPr lang="zh-CN" altLang="en-US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，有效过滤了异常解码结果。</a:t>
              </a:r>
              <a:endParaRPr lang="zh-CN" altLang="en-US" sz="1600" dirty="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3" name="图片 2" descr="e88ffadc-7ab0-4a88-a06d-b1564a18d89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7320" y="1736725"/>
            <a:ext cx="4851400" cy="3429000"/>
          </a:xfrm>
          <a:prstGeom prst="rect">
            <a:avLst/>
          </a:prstGeom>
        </p:spPr>
      </p:pic>
      <p:sp>
        <p:nvSpPr>
          <p:cNvPr id="4" name="333333"/>
          <p:cNvSpPr txBox="1"/>
          <p:nvPr>
            <p:custDataLst>
              <p:tags r:id="rId14"/>
            </p:custDataLst>
          </p:nvPr>
        </p:nvSpPr>
        <p:spPr>
          <a:xfrm>
            <a:off x="282575" y="5219065"/>
            <a:ext cx="4509135" cy="94424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noAutofit/>
          </a:bodyPr>
          <a:p>
            <a:pPr algn="l"/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为验证消息融合策略的鲁棒性，在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ImageNet 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数据集上对比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Min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（最优单块解码）、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Mean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（简单平均）与本文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Message Fusion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Ours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）的位准确率。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5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/>
          <p:cNvGrpSpPr/>
          <p:nvPr>
            <p:custDataLst>
              <p:tags r:id="rId1"/>
            </p:custDataLst>
          </p:nvPr>
        </p:nvGrpSpPr>
        <p:grpSpPr>
          <a:xfrm>
            <a:off x="678815" y="1433595"/>
            <a:ext cx="3164205" cy="2306555"/>
            <a:chOff x="1478" y="3938"/>
            <a:chExt cx="4983" cy="3632"/>
          </a:xfrm>
        </p:grpSpPr>
        <p:sp>
          <p:nvSpPr>
            <p:cNvPr id="10263" name="333333"/>
            <p:cNvSpPr txBox="1"/>
            <p:nvPr>
              <p:custDataLst>
                <p:tags r:id="rId2"/>
              </p:custDataLst>
            </p:nvPr>
          </p:nvSpPr>
          <p:spPr>
            <a:xfrm>
              <a:off x="3224" y="3938"/>
              <a:ext cx="3237" cy="58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algn="l"/>
              <a:r>
                <a:rPr lang="en-US" altLang="zh-CN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COCO </a:t>
              </a: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数据集</a:t>
              </a: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1111"/>
            <p:cNvSpPr txBox="1"/>
            <p:nvPr>
              <p:custDataLst>
                <p:tags r:id="rId3"/>
              </p:custDataLst>
            </p:nvPr>
          </p:nvSpPr>
          <p:spPr>
            <a:xfrm>
              <a:off x="1478" y="4518"/>
              <a:ext cx="4983" cy="305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b="1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规模：</a:t>
              </a:r>
              <a:r>
                <a:rPr lang="zh-CN" altLang="en-US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随机采样</a:t>
              </a:r>
              <a:r>
                <a:rPr lang="en-US" altLang="zh-CN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 40,000 </a:t>
              </a:r>
              <a:r>
                <a:rPr lang="zh-CN" altLang="en-US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张图像</a:t>
              </a:r>
              <a:r>
                <a:rPr lang="en-US" altLang="zh-CN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​</a:t>
              </a:r>
              <a:endParaRPr lang="en-US" altLang="zh-CN" sz="1600" dirty="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endParaRPr>
            </a:p>
            <a:p>
              <a:pPr algn="just">
                <a:lnSpc>
                  <a:spcPct val="150000"/>
                </a:lnSpc>
              </a:pPr>
              <a:r>
                <a:rPr lang="zh-CN" altLang="en-US" sz="1600" b="1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处理：</a:t>
              </a:r>
              <a:r>
                <a:rPr lang="zh-CN" altLang="en-US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裁剪</a:t>
              </a:r>
              <a:r>
                <a:rPr lang="en-US" altLang="zh-CN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 128</a:t>
              </a:r>
              <a:r>
                <a:rPr lang="en-US" altLang="en-US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×</a:t>
              </a:r>
              <a:r>
                <a:rPr lang="en-US" altLang="zh-CN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128 </a:t>
              </a:r>
              <a:r>
                <a:rPr lang="zh-CN" altLang="en-US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小块训练核心能力</a:t>
              </a:r>
              <a:r>
                <a:rPr lang="en-US" altLang="zh-CN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​</a:t>
              </a:r>
              <a:endParaRPr lang="en-US" altLang="zh-CN" sz="1600" dirty="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endParaRPr>
            </a:p>
            <a:p>
              <a:pPr algn="just">
                <a:lnSpc>
                  <a:spcPct val="150000"/>
                </a:lnSpc>
              </a:pPr>
              <a:r>
                <a:rPr lang="zh-CN" altLang="en-US" sz="1600" b="1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作用：</a:t>
              </a:r>
              <a:r>
                <a:rPr lang="zh-CN" altLang="en-US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主体训练集，抗非几何攻击</a:t>
              </a:r>
              <a:endParaRPr lang="zh-CN" altLang="en-US" sz="1600" dirty="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2512060" y="233680"/>
            <a:ext cx="7132955" cy="694783"/>
          </a:xfrm>
          <a:prstGeom prst="roundRect">
            <a:avLst>
              <a:gd name="adj" fmla="val 49999"/>
            </a:avLst>
          </a:prstGeom>
          <a:solidFill>
            <a:srgbClr val="701E5E"/>
          </a:solidFill>
        </p:spPr>
        <p:txBody>
          <a:bodyPr wrap="square" rtlCol="0" anchor="t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2400" b="1" spc="300" dirty="0">
                <a:solidFill>
                  <a:schemeClr val="bg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实验设计</a:t>
            </a:r>
            <a:r>
              <a:rPr lang="en-US" altLang="zh-CN" sz="2400" b="1" spc="300" dirty="0">
                <a:solidFill>
                  <a:schemeClr val="bg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—</a:t>
            </a:r>
            <a:r>
              <a:rPr lang="zh-CN" altLang="en-US" sz="2400" b="1" spc="300" dirty="0">
                <a:solidFill>
                  <a:schemeClr val="bg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水印模型数据集与对比方法</a:t>
            </a:r>
            <a:endParaRPr lang="zh-CN" altLang="en-US" sz="2400" b="1" spc="300" dirty="0">
              <a:solidFill>
                <a:schemeClr val="bg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20" name="组合 19"/>
          <p:cNvGrpSpPr/>
          <p:nvPr>
            <p:custDataLst>
              <p:tags r:id="rId4"/>
            </p:custDataLst>
          </p:nvPr>
        </p:nvGrpSpPr>
        <p:grpSpPr>
          <a:xfrm>
            <a:off x="1151890" y="3728485"/>
            <a:ext cx="3164205" cy="1567339"/>
            <a:chOff x="1478" y="3938"/>
            <a:chExt cx="4983" cy="2468"/>
          </a:xfrm>
        </p:grpSpPr>
        <p:sp>
          <p:nvSpPr>
            <p:cNvPr id="21" name="333333"/>
            <p:cNvSpPr txBox="1"/>
            <p:nvPr>
              <p:custDataLst>
                <p:tags r:id="rId5"/>
              </p:custDataLst>
            </p:nvPr>
          </p:nvSpPr>
          <p:spPr>
            <a:xfrm>
              <a:off x="3094" y="3938"/>
              <a:ext cx="3367" cy="58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algn="l"/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水印图像子区域</a:t>
              </a: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1111"/>
            <p:cNvSpPr txBox="1"/>
            <p:nvPr>
              <p:custDataLst>
                <p:tags r:id="rId6"/>
              </p:custDataLst>
            </p:nvPr>
          </p:nvSpPr>
          <p:spPr>
            <a:xfrm>
              <a:off x="1478" y="4518"/>
              <a:ext cx="4983" cy="18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b="1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处理：</a:t>
              </a:r>
              <a:r>
                <a:rPr lang="zh-CN" altLang="en-US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裁剪</a:t>
              </a:r>
              <a:r>
                <a:rPr lang="en-US" altLang="zh-CN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 512</a:t>
              </a:r>
              <a:r>
                <a:rPr lang="en-US" altLang="en-US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×</a:t>
              </a:r>
              <a:r>
                <a:rPr lang="en-US" altLang="zh-CN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512 </a:t>
              </a:r>
              <a:r>
                <a:rPr lang="zh-CN" altLang="en-US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区域</a:t>
              </a:r>
              <a:r>
                <a:rPr lang="en-US" altLang="zh-CN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​</a:t>
              </a:r>
              <a:endParaRPr lang="en-US" altLang="zh-CN" sz="1600" dirty="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endParaRPr>
            </a:p>
            <a:p>
              <a:pPr algn="just">
                <a:lnSpc>
                  <a:spcPct val="150000"/>
                </a:lnSpc>
              </a:pPr>
              <a:r>
                <a:rPr lang="zh-CN" altLang="en-US" sz="1600" b="1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作用：</a:t>
              </a:r>
              <a:r>
                <a:rPr lang="zh-CN" altLang="en-US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训练分割模型定位水印，应对几何攻击</a:t>
              </a:r>
              <a:endParaRPr lang="zh-CN" altLang="en-US" sz="1600" dirty="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23" name="组合 22"/>
          <p:cNvGrpSpPr/>
          <p:nvPr>
            <p:custDataLst>
              <p:tags r:id="rId7"/>
            </p:custDataLst>
          </p:nvPr>
        </p:nvGrpSpPr>
        <p:grpSpPr>
          <a:xfrm>
            <a:off x="7733030" y="996711"/>
            <a:ext cx="4458335" cy="1971876"/>
            <a:chOff x="1241" y="3883"/>
            <a:chExt cx="7021" cy="3105"/>
          </a:xfrm>
        </p:grpSpPr>
        <p:sp>
          <p:nvSpPr>
            <p:cNvPr id="24" name="333333"/>
            <p:cNvSpPr txBox="1"/>
            <p:nvPr>
              <p:custDataLst>
                <p:tags r:id="rId8"/>
              </p:custDataLst>
            </p:nvPr>
          </p:nvSpPr>
          <p:spPr>
            <a:xfrm>
              <a:off x="1241" y="3883"/>
              <a:ext cx="7021" cy="58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algn="l"/>
              <a:r>
                <a:rPr lang="en-US" altLang="zh-CN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ImageNet</a:t>
              </a: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en-US" altLang="zh-CN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LabelMe</a:t>
              </a: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en-US" altLang="zh-CN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OpenImages</a:t>
              </a:r>
              <a:endPara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1111"/>
            <p:cNvSpPr txBox="1"/>
            <p:nvPr>
              <p:custDataLst>
                <p:tags r:id="rId9"/>
              </p:custDataLst>
            </p:nvPr>
          </p:nvSpPr>
          <p:spPr>
            <a:xfrm>
              <a:off x="1478" y="4518"/>
              <a:ext cx="4983" cy="247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b="1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规模：</a:t>
              </a:r>
              <a:r>
                <a:rPr lang="zh-CN" altLang="en-US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各</a:t>
              </a:r>
              <a:r>
                <a:rPr lang="en-US" altLang="zh-CN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 1000 </a:t>
              </a:r>
              <a:r>
                <a:rPr lang="zh-CN" altLang="en-US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张原始分辨率图像</a:t>
              </a:r>
              <a:r>
                <a:rPr lang="en-US" altLang="zh-CN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​</a:t>
              </a:r>
              <a:endParaRPr lang="en-US" altLang="zh-CN" sz="1600" dirty="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endParaRPr>
            </a:p>
            <a:p>
              <a:pPr algn="just">
                <a:lnSpc>
                  <a:spcPct val="150000"/>
                </a:lnSpc>
              </a:pPr>
              <a:r>
                <a:rPr lang="zh-CN" altLang="en-US" sz="1600" b="1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处理：</a:t>
              </a:r>
              <a:r>
                <a:rPr lang="zh-CN" altLang="en-US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原始尺寸（仅</a:t>
              </a:r>
              <a:r>
                <a:rPr lang="en-US" altLang="zh-CN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 MBRS </a:t>
              </a:r>
              <a:r>
                <a:rPr lang="zh-CN" altLang="en-US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需缩放）</a:t>
              </a:r>
              <a:r>
                <a:rPr lang="en-US" altLang="zh-CN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​</a:t>
              </a:r>
              <a:endParaRPr lang="en-US" altLang="zh-CN" sz="1600" dirty="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endParaRPr>
            </a:p>
            <a:p>
              <a:pPr algn="just">
                <a:lnSpc>
                  <a:spcPct val="150000"/>
                </a:lnSpc>
              </a:pPr>
              <a:r>
                <a:rPr lang="zh-CN" altLang="en-US" sz="1600" b="1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作用：</a:t>
              </a:r>
              <a:r>
                <a:rPr lang="zh-CN" altLang="en-US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评估模型泛化与鲁棒性</a:t>
              </a:r>
              <a:endParaRPr lang="zh-CN" altLang="en-US" sz="1600" dirty="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26" name="组合 25"/>
          <p:cNvGrpSpPr/>
          <p:nvPr>
            <p:custDataLst>
              <p:tags r:id="rId10"/>
            </p:custDataLst>
          </p:nvPr>
        </p:nvGrpSpPr>
        <p:grpSpPr>
          <a:xfrm>
            <a:off x="8495030" y="3370341"/>
            <a:ext cx="3164205" cy="3080064"/>
            <a:chOff x="1478" y="3883"/>
            <a:chExt cx="4983" cy="4850"/>
          </a:xfrm>
        </p:grpSpPr>
        <p:sp>
          <p:nvSpPr>
            <p:cNvPr id="27" name="333333"/>
            <p:cNvSpPr txBox="1"/>
            <p:nvPr>
              <p:custDataLst>
                <p:tags r:id="rId11"/>
              </p:custDataLst>
            </p:nvPr>
          </p:nvSpPr>
          <p:spPr>
            <a:xfrm>
              <a:off x="1478" y="3883"/>
              <a:ext cx="1811" cy="58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algn="l"/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对比方法</a:t>
              </a: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1111"/>
            <p:cNvSpPr txBox="1"/>
            <p:nvPr>
              <p:custDataLst>
                <p:tags r:id="rId12"/>
              </p:custDataLst>
            </p:nvPr>
          </p:nvSpPr>
          <p:spPr>
            <a:xfrm>
              <a:off x="1478" y="4518"/>
              <a:ext cx="4983" cy="421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b="1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深度学习方法：</a:t>
              </a:r>
              <a:r>
                <a:rPr lang="en-US" altLang="zh-CN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HiDDeN</a:t>
              </a:r>
              <a:r>
                <a:rPr lang="zh-CN" altLang="en-US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、</a:t>
              </a:r>
              <a:r>
                <a:rPr lang="en-US" altLang="zh-CN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TSDL</a:t>
              </a:r>
              <a:r>
                <a:rPr lang="zh-CN" altLang="en-US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、</a:t>
              </a:r>
              <a:r>
                <a:rPr lang="en-US" altLang="zh-CN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MBRS</a:t>
              </a:r>
              <a:r>
                <a:rPr lang="zh-CN" altLang="en-US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、</a:t>
              </a:r>
              <a:r>
                <a:rPr lang="en-US" altLang="zh-CN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SSLW​</a:t>
              </a:r>
              <a:endParaRPr lang="en-US" altLang="zh-CN" sz="1600" dirty="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endParaRPr>
            </a:p>
            <a:p>
              <a:pPr algn="just">
                <a:lnSpc>
                  <a:spcPct val="150000"/>
                </a:lnSpc>
              </a:pPr>
              <a:r>
                <a:rPr lang="zh-CN" altLang="en-US" sz="1600" b="1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训练参数</a:t>
              </a:r>
              <a:r>
                <a:rPr lang="en-US" altLang="zh-CN" sz="1600" b="1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​</a:t>
              </a:r>
              <a:r>
                <a:rPr lang="zh-CN" altLang="en-US" sz="1600" b="1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：</a:t>
              </a:r>
              <a:endParaRPr lang="en-US" altLang="zh-CN" sz="1600" b="1" dirty="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endParaRPr>
            </a:p>
            <a:p>
              <a:pPr algn="just">
                <a:lnSpc>
                  <a:spcPct val="150000"/>
                </a:lnSpc>
              </a:pPr>
              <a:r>
                <a:rPr lang="zh-CN" altLang="en-US" sz="1600" b="1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水印模型：</a:t>
              </a:r>
              <a:r>
                <a:rPr lang="en-US" altLang="zh-CN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AdamW</a:t>
              </a:r>
              <a:r>
                <a:rPr lang="zh-CN" altLang="en-US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，</a:t>
              </a:r>
              <a:r>
                <a:rPr lang="en-US" altLang="zh-CN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1e-4</a:t>
              </a:r>
              <a:r>
                <a:rPr lang="zh-CN" altLang="en-US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，</a:t>
              </a:r>
              <a:r>
                <a:rPr lang="en-US" altLang="zh-CN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100 </a:t>
              </a:r>
              <a:r>
                <a:rPr lang="zh-CN" altLang="en-US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轮，</a:t>
              </a:r>
              <a:r>
                <a:rPr lang="en-US" altLang="zh-CN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64​</a:t>
              </a:r>
              <a:endParaRPr lang="en-US" altLang="zh-CN" sz="1600" dirty="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endParaRPr>
            </a:p>
            <a:p>
              <a:pPr algn="just">
                <a:lnSpc>
                  <a:spcPct val="150000"/>
                </a:lnSpc>
              </a:pPr>
              <a:r>
                <a:rPr lang="zh-CN" altLang="en-US" sz="1600" b="1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分割模型：</a:t>
              </a:r>
              <a:r>
                <a:rPr lang="zh-CN" altLang="en-US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批量</a:t>
              </a:r>
              <a:r>
                <a:rPr lang="en-US" altLang="zh-CN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 24</a:t>
              </a:r>
              <a:r>
                <a:rPr lang="zh-CN" altLang="en-US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，</a:t>
              </a:r>
              <a:r>
                <a:rPr lang="en-US" altLang="zh-CN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100 </a:t>
              </a:r>
              <a:r>
                <a:rPr lang="zh-CN" altLang="en-US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轮，</a:t>
              </a:r>
              <a:r>
                <a:rPr lang="en-US" altLang="zh-CN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PSNR 35dB</a:t>
              </a:r>
              <a:endParaRPr lang="en-US" altLang="zh-CN" sz="1600" dirty="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5" name="组合 4"/>
          <p:cNvGrpSpPr/>
          <p:nvPr>
            <p:custDataLst>
              <p:tags r:id="rId13"/>
            </p:custDataLst>
          </p:nvPr>
        </p:nvGrpSpPr>
        <p:grpSpPr>
          <a:xfrm>
            <a:off x="4216400" y="1982470"/>
            <a:ext cx="3756660" cy="4702810"/>
            <a:chOff x="6640" y="3122"/>
            <a:chExt cx="5916" cy="7406"/>
          </a:xfrm>
        </p:grpSpPr>
        <p:grpSp>
          <p:nvGrpSpPr>
            <p:cNvPr id="4" name="组合 3"/>
            <p:cNvGrpSpPr/>
            <p:nvPr/>
          </p:nvGrpSpPr>
          <p:grpSpPr>
            <a:xfrm>
              <a:off x="7975" y="8620"/>
              <a:ext cx="3247" cy="1908"/>
              <a:chOff x="7975" y="8620"/>
              <a:chExt cx="3247" cy="1908"/>
            </a:xfrm>
          </p:grpSpPr>
          <p:sp>
            <p:nvSpPr>
              <p:cNvPr id="2" name="菱形 1"/>
              <p:cNvSpPr/>
              <p:nvPr>
                <p:custDataLst>
                  <p:tags r:id="rId14"/>
                </p:custDataLst>
              </p:nvPr>
            </p:nvSpPr>
            <p:spPr>
              <a:xfrm>
                <a:off x="8527" y="8620"/>
                <a:ext cx="2143" cy="593"/>
              </a:xfrm>
              <a:prstGeom prst="diamond">
                <a:avLst/>
              </a:prstGeom>
              <a:solidFill>
                <a:srgbClr val="701E5E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3" name="组合 2"/>
              <p:cNvGrpSpPr/>
              <p:nvPr/>
            </p:nvGrpSpPr>
            <p:grpSpPr>
              <a:xfrm>
                <a:off x="8525" y="8922"/>
                <a:ext cx="2145" cy="1606"/>
                <a:chOff x="8525" y="8922"/>
                <a:chExt cx="2145" cy="1606"/>
              </a:xfrm>
            </p:grpSpPr>
            <p:sp>
              <p:nvSpPr>
                <p:cNvPr id="30" name="椭圆 29"/>
                <p:cNvSpPr/>
                <p:nvPr/>
              </p:nvSpPr>
              <p:spPr>
                <a:xfrm>
                  <a:off x="8525" y="9692"/>
                  <a:ext cx="2144" cy="837"/>
                </a:xfrm>
                <a:prstGeom prst="ellipse">
                  <a:avLst/>
                </a:prstGeom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95000"/>
                      </a:scheme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" name="平行四边形 5"/>
                <p:cNvSpPr/>
                <p:nvPr/>
              </p:nvSpPr>
              <p:spPr>
                <a:xfrm rot="16200000">
                  <a:off x="8332" y="9117"/>
                  <a:ext cx="1463" cy="1072"/>
                </a:xfrm>
                <a:prstGeom prst="parallelogram">
                  <a:avLst>
                    <a:gd name="adj" fmla="val 27747"/>
                  </a:avLst>
                </a:prstGeom>
                <a:solidFill>
                  <a:srgbClr val="A2508C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" name="文本框 31"/>
                <p:cNvSpPr txBox="1"/>
                <p:nvPr/>
              </p:nvSpPr>
              <p:spPr>
                <a:xfrm rot="180000">
                  <a:off x="8586" y="9925"/>
                  <a:ext cx="954" cy="3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prstTxWarp prst="textSlantDown">
                    <a:avLst/>
                  </a:prstTxWarp>
                  <a:spAutoFit/>
                </a:bodyPr>
                <a:lstStyle/>
                <a:p>
                  <a:pPr algn="dist"/>
                  <a:r>
                    <a:rPr lang="en-US" altLang="zh-CN" sz="700">
                      <a:solidFill>
                        <a:schemeClr val="bg1">
                          <a:alpha val="50000"/>
                        </a:schemeClr>
                      </a:solidFill>
                      <a:latin typeface="微软雅黑 Light" panose="020B0502040204020203" charset="-122"/>
                      <a:ea typeface="微软雅黑 Light" panose="020B0502040204020203" charset="-122"/>
                    </a:rPr>
                    <a:t>NANKAI</a:t>
                  </a:r>
                  <a:endParaRPr lang="en-US" altLang="zh-CN" sz="700">
                    <a:solidFill>
                      <a:schemeClr val="bg1">
                        <a:alpha val="50000"/>
                      </a:schemeClr>
                    </a:solidFill>
                    <a:latin typeface="微软雅黑 Light" panose="020B0502040204020203" charset="-122"/>
                    <a:ea typeface="微软雅黑 Light" panose="020B0502040204020203" charset="-122"/>
                  </a:endParaRPr>
                </a:p>
              </p:txBody>
            </p:sp>
            <p:sp>
              <p:nvSpPr>
                <p:cNvPr id="9" name="平行四边形 8"/>
                <p:cNvSpPr/>
                <p:nvPr/>
              </p:nvSpPr>
              <p:spPr>
                <a:xfrm rot="5400000" flipH="1">
                  <a:off x="9403" y="9118"/>
                  <a:ext cx="1463" cy="1072"/>
                </a:xfrm>
                <a:prstGeom prst="parallelogram">
                  <a:avLst>
                    <a:gd name="adj" fmla="val 27747"/>
                  </a:avLst>
                </a:prstGeom>
                <a:solidFill>
                  <a:srgbClr val="A2508C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文本框 32"/>
                <p:cNvSpPr txBox="1"/>
                <p:nvPr/>
              </p:nvSpPr>
              <p:spPr>
                <a:xfrm rot="21360000">
                  <a:off x="9629" y="9935"/>
                  <a:ext cx="1011" cy="35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prstTxWarp prst="textSlantUp">
                    <a:avLst>
                      <a:gd name="adj" fmla="val 49572"/>
                    </a:avLst>
                  </a:prstTxWarp>
                  <a:spAutoFit/>
                </a:bodyPr>
                <a:lstStyle/>
                <a:p>
                  <a:pPr algn="ctr"/>
                  <a:r>
                    <a:rPr lang="en-US" altLang="zh-CN" sz="700">
                      <a:solidFill>
                        <a:schemeClr val="bg1">
                          <a:alpha val="50000"/>
                        </a:schemeClr>
                      </a:solidFill>
                      <a:latin typeface="微软雅黑 Light" panose="020B0502040204020203" charset="-122"/>
                      <a:ea typeface="微软雅黑 Light" panose="020B0502040204020203" charset="-122"/>
                    </a:rPr>
                    <a:t>UNIVERSITY</a:t>
                  </a:r>
                  <a:endParaRPr lang="en-US" altLang="zh-CN" sz="700">
                    <a:solidFill>
                      <a:schemeClr val="bg1">
                        <a:alpha val="50000"/>
                      </a:schemeClr>
                    </a:solidFill>
                    <a:latin typeface="微软雅黑 Light" panose="020B0502040204020203" charset="-122"/>
                    <a:ea typeface="微软雅黑 Light" panose="020B0502040204020203" charset="-122"/>
                  </a:endParaRPr>
                </a:p>
              </p:txBody>
            </p:sp>
          </p:grpSp>
          <p:sp>
            <p:nvSpPr>
              <p:cNvPr id="10" name="平行四边形 9"/>
              <p:cNvSpPr/>
              <p:nvPr>
                <p:custDataLst>
                  <p:tags r:id="rId15"/>
                </p:custDataLst>
              </p:nvPr>
            </p:nvSpPr>
            <p:spPr>
              <a:xfrm rot="900000">
                <a:off x="7975" y="8997"/>
                <a:ext cx="1589" cy="479"/>
              </a:xfrm>
              <a:prstGeom prst="parallelogram">
                <a:avLst>
                  <a:gd name="adj" fmla="val 99146"/>
                </a:avLst>
              </a:prstGeom>
              <a:solidFill>
                <a:srgbClr val="B78EAE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bIns="0" rtlCol="0" anchor="b" anchorCtr="0"/>
              <a:lstStyle/>
              <a:p>
                <a:pPr algn="dist"/>
                <a:endParaRPr lang="en-US" altLang="zh-CN" sz="800">
                  <a:latin typeface="微软雅黑 Light" panose="020B0502040204020203" charset="-122"/>
                  <a:ea typeface="微软雅黑 Light" panose="020B0502040204020203" charset="-122"/>
                </a:endParaRPr>
              </a:p>
            </p:txBody>
          </p:sp>
          <p:sp>
            <p:nvSpPr>
              <p:cNvPr id="12" name="平行四边形 11"/>
              <p:cNvSpPr/>
              <p:nvPr>
                <p:custDataLst>
                  <p:tags r:id="rId16"/>
                </p:custDataLst>
              </p:nvPr>
            </p:nvSpPr>
            <p:spPr>
              <a:xfrm rot="20700000" flipH="1">
                <a:off x="9634" y="8997"/>
                <a:ext cx="1589" cy="479"/>
              </a:xfrm>
              <a:prstGeom prst="parallelogram">
                <a:avLst>
                  <a:gd name="adj" fmla="val 99146"/>
                </a:avLst>
              </a:prstGeom>
              <a:solidFill>
                <a:srgbClr val="B78EAE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5" name="圆角右箭头 14"/>
            <p:cNvSpPr/>
            <p:nvPr>
              <p:custDataLst>
                <p:tags r:id="rId17"/>
              </p:custDataLst>
            </p:nvPr>
          </p:nvSpPr>
          <p:spPr>
            <a:xfrm>
              <a:off x="9580" y="3122"/>
              <a:ext cx="2131" cy="5660"/>
            </a:xfrm>
            <a:prstGeom prst="bentArrow">
              <a:avLst>
                <a:gd name="adj1" fmla="val 8399"/>
                <a:gd name="adj2" fmla="val 13033"/>
                <a:gd name="adj3" fmla="val 20027"/>
                <a:gd name="adj4" fmla="val 43750"/>
              </a:avLst>
            </a:prstGeom>
            <a:gradFill>
              <a:gsLst>
                <a:gs pos="0">
                  <a:srgbClr val="701E5E"/>
                </a:gs>
                <a:gs pos="100000">
                  <a:srgbClr val="A2508C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圆角右箭头 16"/>
            <p:cNvSpPr/>
            <p:nvPr>
              <p:custDataLst>
                <p:tags r:id="rId18"/>
              </p:custDataLst>
            </p:nvPr>
          </p:nvSpPr>
          <p:spPr>
            <a:xfrm flipH="1">
              <a:off x="6640" y="3920"/>
              <a:ext cx="2940" cy="5001"/>
            </a:xfrm>
            <a:prstGeom prst="bentArrow">
              <a:avLst>
                <a:gd name="adj1" fmla="val 6292"/>
                <a:gd name="adj2" fmla="val 10222"/>
                <a:gd name="adj3" fmla="val 17201"/>
                <a:gd name="adj4" fmla="val 43750"/>
              </a:avLst>
            </a:prstGeom>
            <a:gradFill>
              <a:gsLst>
                <a:gs pos="0">
                  <a:srgbClr val="701E5E"/>
                </a:gs>
                <a:gs pos="100000">
                  <a:srgbClr val="A2508C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圆角右箭头 15"/>
            <p:cNvSpPr/>
            <p:nvPr>
              <p:custDataLst>
                <p:tags r:id="rId19"/>
              </p:custDataLst>
            </p:nvPr>
          </p:nvSpPr>
          <p:spPr>
            <a:xfrm>
              <a:off x="9598" y="5901"/>
              <a:ext cx="2958" cy="2881"/>
            </a:xfrm>
            <a:prstGeom prst="bentArrow">
              <a:avLst>
                <a:gd name="adj1" fmla="val 7636"/>
                <a:gd name="adj2" fmla="val 13033"/>
                <a:gd name="adj3" fmla="val 20027"/>
                <a:gd name="adj4" fmla="val 43750"/>
              </a:avLst>
            </a:prstGeom>
            <a:gradFill>
              <a:gsLst>
                <a:gs pos="0">
                  <a:srgbClr val="701E5E"/>
                </a:gs>
                <a:gs pos="100000">
                  <a:srgbClr val="A2508C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8" name="圆角右箭头 17"/>
            <p:cNvSpPr/>
            <p:nvPr>
              <p:custDataLst>
                <p:tags r:id="rId20"/>
              </p:custDataLst>
            </p:nvPr>
          </p:nvSpPr>
          <p:spPr>
            <a:xfrm flipH="1">
              <a:off x="7449" y="6617"/>
              <a:ext cx="2148" cy="2305"/>
            </a:xfrm>
            <a:prstGeom prst="bentArrow">
              <a:avLst>
                <a:gd name="adj1" fmla="val 8752"/>
                <a:gd name="adj2" fmla="val 12536"/>
                <a:gd name="adj3" fmla="val 17201"/>
                <a:gd name="adj4" fmla="val 43750"/>
              </a:avLst>
            </a:prstGeom>
            <a:gradFill>
              <a:gsLst>
                <a:gs pos="0">
                  <a:srgbClr val="701E5E"/>
                </a:gs>
                <a:gs pos="100000">
                  <a:srgbClr val="A2508C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  <p:custDataLst>
      <p:tags r:id="rId2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/>
        </p:nvSpPr>
        <p:spPr>
          <a:xfrm>
            <a:off x="2218690" y="246380"/>
            <a:ext cx="7190740" cy="698541"/>
          </a:xfrm>
          <a:prstGeom prst="roundRect">
            <a:avLst>
              <a:gd name="adj" fmla="val 49999"/>
            </a:avLst>
          </a:prstGeom>
          <a:solidFill>
            <a:srgbClr val="701E5E"/>
          </a:solidFill>
        </p:spPr>
        <p:txBody>
          <a:bodyPr wrap="square" rtlCol="0" anchor="t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2400" b="1" spc="300" dirty="0">
                <a:solidFill>
                  <a:schemeClr val="bg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实验结果分析</a:t>
            </a:r>
            <a:r>
              <a:rPr lang="en-US" altLang="zh-CN" sz="2400" b="1" spc="300" dirty="0">
                <a:solidFill>
                  <a:schemeClr val="bg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——</a:t>
            </a:r>
            <a:r>
              <a:rPr lang="zh-CN" altLang="en-US" sz="2400" b="1" spc="300" dirty="0">
                <a:solidFill>
                  <a:schemeClr val="bg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视觉质量与文件大小</a:t>
            </a:r>
            <a:endParaRPr lang="zh-CN" altLang="en-US" sz="2400" b="1" spc="300" dirty="0">
              <a:solidFill>
                <a:schemeClr val="bg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492365" y="1149985"/>
            <a:ext cx="3837305" cy="2025015"/>
          </a:xfrm>
          <a:prstGeom prst="rect">
            <a:avLst/>
          </a:prstGeom>
          <a:solidFill>
            <a:srgbClr val="701E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DWSF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的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PSNR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比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HiDDeN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高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6.17-12.16dB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，文件大小增量降低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80%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以上，得益于分散嵌入对图像修改的限制。同时作者也通过可视化方式向我们展现了水印嵌入的视觉差异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9" name="图片 8" descr="712c34de-da4d-4cfb-8188-bc93eabdba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53995" y="3634105"/>
            <a:ext cx="7548245" cy="309308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/>
        </p:nvSpPr>
        <p:spPr>
          <a:xfrm>
            <a:off x="2218690" y="246380"/>
            <a:ext cx="7190740" cy="651059"/>
          </a:xfrm>
          <a:prstGeom prst="roundRect">
            <a:avLst>
              <a:gd name="adj" fmla="val 49999"/>
            </a:avLst>
          </a:prstGeom>
          <a:solidFill>
            <a:srgbClr val="701E5E"/>
          </a:solidFill>
        </p:spPr>
        <p:txBody>
          <a:bodyPr wrap="square" rtlCol="0" anchor="t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2400" b="1" spc="300" dirty="0">
                <a:solidFill>
                  <a:schemeClr val="bg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实验结果分析</a:t>
            </a:r>
            <a:r>
              <a:rPr lang="en-US" altLang="zh-CN" sz="2400" b="1" spc="300" dirty="0">
                <a:solidFill>
                  <a:schemeClr val="bg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——</a:t>
            </a:r>
            <a:r>
              <a:rPr lang="zh-CN" altLang="en-US" sz="2400" b="1" spc="300" dirty="0">
                <a:solidFill>
                  <a:schemeClr val="bg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鲁棒性</a:t>
            </a:r>
            <a:endParaRPr lang="zh-CN" altLang="en-US" sz="2400" b="1" spc="300" dirty="0">
              <a:solidFill>
                <a:schemeClr val="bg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400290" y="1149985"/>
            <a:ext cx="3929380" cy="2025015"/>
          </a:xfrm>
          <a:prstGeom prst="rect">
            <a:avLst/>
          </a:prstGeom>
          <a:solidFill>
            <a:srgbClr val="701E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DWSF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在各类攻击下平均位准确率超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99%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，尤其在几何攻击（如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Rotate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）和组合攻击中优势显著，同步模块有效解决了几何失真问题。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400290" y="3842385"/>
            <a:ext cx="3929380" cy="2025015"/>
          </a:xfrm>
          <a:prstGeom prst="rect">
            <a:avLst/>
          </a:prstGeom>
          <a:solidFill>
            <a:srgbClr val="701E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组合攻击下，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DWSF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位准确率比次优方法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SSLW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高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5.93%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，分散嵌入与消息融合的联合作用有效抵抗了多重攻击的叠加影响。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905" y="1149985"/>
            <a:ext cx="6637020" cy="462724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/>
        </p:nvSpPr>
        <p:spPr>
          <a:xfrm>
            <a:off x="2218690" y="246380"/>
            <a:ext cx="7190740" cy="651059"/>
          </a:xfrm>
          <a:prstGeom prst="roundRect">
            <a:avLst>
              <a:gd name="adj" fmla="val 49999"/>
            </a:avLst>
          </a:prstGeom>
          <a:solidFill>
            <a:srgbClr val="701E5E"/>
          </a:solidFill>
        </p:spPr>
        <p:txBody>
          <a:bodyPr wrap="square" rtlCol="0" anchor="t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2400" b="1" spc="300" dirty="0">
                <a:solidFill>
                  <a:schemeClr val="bg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实验结果分析</a:t>
            </a:r>
            <a:r>
              <a:rPr lang="en-US" altLang="zh-CN" sz="2400" b="1" spc="300" dirty="0">
                <a:solidFill>
                  <a:schemeClr val="bg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——</a:t>
            </a:r>
            <a:r>
              <a:rPr lang="zh-CN" altLang="en-US" sz="2400" b="1" spc="300" dirty="0">
                <a:solidFill>
                  <a:schemeClr val="bg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消融</a:t>
            </a:r>
            <a:r>
              <a:rPr lang="zh-CN" altLang="en-US" sz="2400" b="1" spc="300" dirty="0">
                <a:solidFill>
                  <a:schemeClr val="bg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实验</a:t>
            </a:r>
            <a:endParaRPr lang="zh-CN" altLang="en-US" sz="2400" b="1" spc="300" dirty="0">
              <a:solidFill>
                <a:schemeClr val="bg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492365" y="1149985"/>
            <a:ext cx="3837305" cy="2025015"/>
          </a:xfrm>
          <a:prstGeom prst="rect">
            <a:avLst/>
          </a:prstGeom>
          <a:solidFill>
            <a:srgbClr val="701E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Pad&amp;Split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策略在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JPEG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攻击下比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Scale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策略位准确率高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14.5%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，证明分块处理能减少分辨率缩放引入的额外失真，提升分割精度。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492365" y="4134485"/>
            <a:ext cx="3837305" cy="1390650"/>
          </a:xfrm>
          <a:prstGeom prst="rect">
            <a:avLst/>
          </a:prstGeom>
          <a:solidFill>
            <a:srgbClr val="701E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融合策略与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Min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策略性能接近，但无需预知最优消息，更具实用性，平均位准确率仅比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Min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低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0.16%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。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595" y="1490980"/>
            <a:ext cx="3841115" cy="220916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9710" y="1490980"/>
            <a:ext cx="3306445" cy="23526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380" y="4134485"/>
            <a:ext cx="7089775" cy="133858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0" name="文本框 47"/>
          <p:cNvSpPr txBox="1"/>
          <p:nvPr/>
        </p:nvSpPr>
        <p:spPr>
          <a:xfrm>
            <a:off x="7938" y="2884805"/>
            <a:ext cx="5762625" cy="101473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anchor="t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6000" b="1">
                <a:solidFill>
                  <a:srgbClr val="701E5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实验</a:t>
            </a:r>
            <a:r>
              <a:rPr lang="zh-CN" altLang="en-US" sz="6000" b="1">
                <a:solidFill>
                  <a:srgbClr val="701E5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复现</a:t>
            </a:r>
            <a:endParaRPr lang="zh-CN" altLang="en-US" sz="6000" b="1">
              <a:solidFill>
                <a:srgbClr val="701E5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" name="1111"/>
          <p:cNvSpPr txBox="1"/>
          <p:nvPr/>
        </p:nvSpPr>
        <p:spPr>
          <a:xfrm>
            <a:off x="585470" y="4082415"/>
            <a:ext cx="4608830" cy="119888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36195" rIns="36195" anchor="t">
            <a:sp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实验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主要环境：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环境：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AutoDL-RTX 3090 * 1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卡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数据集：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coco2017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中随机选取的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3200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张图片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2" name="八角星 1"/>
          <p:cNvSpPr/>
          <p:nvPr/>
        </p:nvSpPr>
        <p:spPr>
          <a:xfrm>
            <a:off x="5739765" y="2373630"/>
            <a:ext cx="2129790" cy="2129790"/>
          </a:xfrm>
          <a:prstGeom prst="star8">
            <a:avLst>
              <a:gd name="adj" fmla="val 38189"/>
            </a:avLst>
          </a:prstGeom>
          <a:solidFill>
            <a:srgbClr val="701E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195" tIns="288290" rIns="36195" bIns="0" rtlCol="0" anchor="ctr" anchorCtr="1"/>
          <a:lstStyle/>
          <a:p>
            <a:pPr algn="ctr" fontAlgn="auto">
              <a:lnSpc>
                <a:spcPts val="4000"/>
              </a:lnSpc>
            </a:pPr>
            <a:r>
              <a:rPr lang="en-US" altLang="zh-CN" sz="4000" b="1">
                <a:latin typeface="微软雅黑" panose="020B0503020204020204" pitchFamily="34" charset="-122"/>
                <a:ea typeface="微软雅黑" panose="020B0503020204020204" pitchFamily="34" charset="-122"/>
              </a:rPr>
              <a:t>PART</a:t>
            </a:r>
            <a:endParaRPr lang="en-US" altLang="zh-CN" sz="4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4000"/>
              </a:lnSpc>
            </a:pPr>
            <a:r>
              <a:rPr lang="en-US" altLang="zh-CN" sz="4000" b="1"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en-US" altLang="zh-CN" sz="4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/>
        </p:nvSpPr>
        <p:spPr>
          <a:xfrm>
            <a:off x="4037965" y="244475"/>
            <a:ext cx="4761230" cy="654911"/>
          </a:xfrm>
          <a:prstGeom prst="roundRect">
            <a:avLst>
              <a:gd name="adj" fmla="val 49999"/>
            </a:avLst>
          </a:prstGeom>
          <a:solidFill>
            <a:srgbClr val="701E5E"/>
          </a:solidFill>
        </p:spPr>
        <p:txBody>
          <a:bodyPr wrap="square" rtlCol="0" anchor="t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2400" b="1" spc="300" dirty="0">
                <a:solidFill>
                  <a:schemeClr val="bg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实验复现</a:t>
            </a:r>
            <a:r>
              <a:rPr lang="en-US" altLang="zh-CN" sz="2400" b="1" spc="300" dirty="0">
                <a:solidFill>
                  <a:schemeClr val="bg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2400" b="1" spc="300" dirty="0">
                <a:solidFill>
                  <a:schemeClr val="bg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训练编码器</a:t>
            </a:r>
            <a:endParaRPr lang="zh-CN" altLang="en-US" sz="2400" b="1" spc="300" dirty="0">
              <a:solidFill>
                <a:schemeClr val="bg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6" name="任意多边形 35"/>
          <p:cNvSpPr/>
          <p:nvPr>
            <p:custDataLst>
              <p:tags r:id="rId1"/>
            </p:custDataLst>
          </p:nvPr>
        </p:nvSpPr>
        <p:spPr>
          <a:xfrm rot="16200000" flipH="1">
            <a:off x="8799830" y="1905000"/>
            <a:ext cx="1974850" cy="3566160"/>
          </a:xfrm>
          <a:custGeom>
            <a:avLst/>
            <a:gdLst>
              <a:gd name="adj" fmla="val 50000"/>
              <a:gd name="a" fmla="pin 0 adj 100000"/>
              <a:gd name="x1" fmla="*/ w a 200000"/>
              <a:gd name="x2" fmla="*/ w a 100000"/>
              <a:gd name="x3" fmla="+- x1 wd2 0"/>
            </a:gdLst>
            <a:ahLst/>
            <a:cxnLst>
              <a:cxn ang="3">
                <a:pos x="x2" y="t"/>
              </a:cxn>
              <a:cxn ang="cd2">
                <a:pos x="x1" y="vc"/>
              </a:cxn>
              <a:cxn ang="cd4">
                <a:pos x="l" y="b"/>
              </a:cxn>
              <a:cxn ang="cd4">
                <a:pos x="x2" y="b"/>
              </a:cxn>
              <a:cxn ang="cd4">
                <a:pos x="r" y="b"/>
              </a:cxn>
              <a:cxn ang="0">
                <a:pos x="x3" y="vc"/>
              </a:cxn>
            </a:cxnLst>
            <a:rect l="l" t="t" r="r" b="b"/>
            <a:pathLst>
              <a:path w="2551" h="5616">
                <a:moveTo>
                  <a:pt x="900" y="511"/>
                </a:moveTo>
                <a:lnTo>
                  <a:pt x="1276" y="0"/>
                </a:lnTo>
                <a:lnTo>
                  <a:pt x="1652" y="511"/>
                </a:lnTo>
                <a:lnTo>
                  <a:pt x="900" y="511"/>
                </a:lnTo>
                <a:close/>
                <a:moveTo>
                  <a:pt x="0" y="5616"/>
                </a:moveTo>
                <a:lnTo>
                  <a:pt x="0" y="513"/>
                </a:lnTo>
                <a:lnTo>
                  <a:pt x="2551" y="513"/>
                </a:lnTo>
                <a:lnTo>
                  <a:pt x="2551" y="5616"/>
                </a:lnTo>
                <a:lnTo>
                  <a:pt x="0" y="5616"/>
                </a:lnTo>
                <a:close/>
              </a:path>
            </a:pathLst>
          </a:custGeom>
          <a:solidFill>
            <a:srgbClr val="AD459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4" name="图片 3" descr="27815312-2142-42a8-ad5c-5e630d3c43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045" y="1063625"/>
            <a:ext cx="6600825" cy="3171825"/>
          </a:xfrm>
          <a:prstGeom prst="rect">
            <a:avLst/>
          </a:prstGeom>
        </p:spPr>
      </p:pic>
      <p:pic>
        <p:nvPicPr>
          <p:cNvPr id="5" name="图片 4" descr="514c296b-ca69-420b-8155-2979f432380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195" y="4410710"/>
            <a:ext cx="6543040" cy="1891665"/>
          </a:xfrm>
          <a:prstGeom prst="rect">
            <a:avLst/>
          </a:prstGeom>
        </p:spPr>
      </p:pic>
      <p:sp>
        <p:nvSpPr>
          <p:cNvPr id="25" name="1111"/>
          <p:cNvSpPr txBox="1"/>
          <p:nvPr>
            <p:custDataLst>
              <p:tags r:id="rId4"/>
            </p:custDataLst>
          </p:nvPr>
        </p:nvSpPr>
        <p:spPr>
          <a:xfrm>
            <a:off x="8587105" y="2851150"/>
            <a:ext cx="2844800" cy="156845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just">
              <a:lnSpc>
                <a:spcPct val="150000"/>
              </a:lnSpc>
            </a:pPr>
            <a:r>
              <a:rPr lang="zh-CN" altLang="en-US" sz="1600" dirty="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输出训练模型以及</a:t>
            </a:r>
            <a:r>
              <a:rPr lang="en-US" altLang="zh-CN" sz="1600" dirty="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img</a:t>
            </a:r>
            <a:r>
              <a:rPr lang="zh-CN" altLang="en-US" sz="1600" dirty="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（观察模型在不同训练阶段对图像的编码和解码效果，以及噪声处理的影响）</a:t>
            </a:r>
            <a:endParaRPr lang="zh-CN" altLang="en-US" sz="1600" dirty="0">
              <a:solidFill>
                <a:srgbClr val="262626"/>
              </a:solidFill>
              <a:latin typeface="微软雅黑 Light" panose="020B0502040204020203" charset="-122"/>
              <a:ea typeface="微软雅黑 Light" panose="020B0502040204020203" charset="-122"/>
              <a:sym typeface="微软雅黑" panose="020B0503020204020204" pitchFamily="34" charset="-122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/>
        </p:nvSpPr>
        <p:spPr>
          <a:xfrm>
            <a:off x="4707255" y="233680"/>
            <a:ext cx="2772410" cy="651059"/>
          </a:xfrm>
          <a:prstGeom prst="roundRect">
            <a:avLst>
              <a:gd name="adj" fmla="val 49999"/>
            </a:avLst>
          </a:prstGeom>
          <a:solidFill>
            <a:srgbClr val="701E5E"/>
          </a:solidFill>
        </p:spPr>
        <p:txBody>
          <a:bodyPr wrap="square" rtlCol="0" anchor="t">
            <a:spAutoFit/>
          </a:bodyPr>
          <a:lstStyle/>
          <a:p>
            <a:pPr lvl="0" algn="ctr">
              <a:buClrTx/>
              <a:buSzTx/>
              <a:buFontTx/>
            </a:pPr>
            <a:endParaRPr lang="zh-CN" altLang="en-US" sz="2400" b="1" spc="300" dirty="0">
              <a:solidFill>
                <a:schemeClr val="bg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19" name="组合 18"/>
          <p:cNvGrpSpPr/>
          <p:nvPr>
            <p:custDataLst>
              <p:tags r:id="rId1"/>
            </p:custDataLst>
          </p:nvPr>
        </p:nvGrpSpPr>
        <p:grpSpPr>
          <a:xfrm>
            <a:off x="3388360" y="1264920"/>
            <a:ext cx="2541905" cy="4754880"/>
            <a:chOff x="5336" y="1992"/>
            <a:chExt cx="4003" cy="7488"/>
          </a:xfrm>
        </p:grpSpPr>
        <p:sp>
          <p:nvSpPr>
            <p:cNvPr id="4" name="矩形 3"/>
            <p:cNvSpPr/>
            <p:nvPr>
              <p:custDataLst>
                <p:tags r:id="rId2"/>
              </p:custDataLst>
            </p:nvPr>
          </p:nvSpPr>
          <p:spPr>
            <a:xfrm>
              <a:off x="5336" y="1992"/>
              <a:ext cx="3997" cy="7488"/>
            </a:xfrm>
            <a:prstGeom prst="rect">
              <a:avLst/>
            </a:prstGeom>
            <a:solidFill>
              <a:srgbClr val="701E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00" name="图片 99" descr="D:/desktop/3d7dfc50-9e54-4438-ae40-d16614f593b3.png3d7dfc50-9e54-4438-ae40-d16614f593b3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rcRect t="13835" b="13835"/>
            <a:stretch>
              <a:fillRect/>
            </a:stretch>
          </p:blipFill>
          <p:spPr>
            <a:xfrm>
              <a:off x="5342" y="2527"/>
              <a:ext cx="3997" cy="2891"/>
            </a:xfrm>
            <a:prstGeom prst="flowChartProcess">
              <a:avLst/>
            </a:prstGeom>
            <a:noFill/>
            <a:ln w="28575" cap="sq">
              <a:noFill/>
              <a:miter lim="800000"/>
              <a:headEnd/>
              <a:tailEnd/>
            </a:ln>
          </p:spPr>
        </p:pic>
      </p:grpSp>
      <p:grpSp>
        <p:nvGrpSpPr>
          <p:cNvPr id="21" name="组合 20"/>
          <p:cNvGrpSpPr/>
          <p:nvPr>
            <p:custDataLst>
              <p:tags r:id="rId5"/>
            </p:custDataLst>
          </p:nvPr>
        </p:nvGrpSpPr>
        <p:grpSpPr>
          <a:xfrm>
            <a:off x="9088120" y="1264920"/>
            <a:ext cx="2541905" cy="4754880"/>
            <a:chOff x="14312" y="1992"/>
            <a:chExt cx="4003" cy="7488"/>
          </a:xfrm>
        </p:grpSpPr>
        <p:sp>
          <p:nvSpPr>
            <p:cNvPr id="5" name="矩形 4"/>
            <p:cNvSpPr/>
            <p:nvPr>
              <p:custDataLst>
                <p:tags r:id="rId6"/>
              </p:custDataLst>
            </p:nvPr>
          </p:nvSpPr>
          <p:spPr>
            <a:xfrm>
              <a:off x="14312" y="1992"/>
              <a:ext cx="3997" cy="7488"/>
            </a:xfrm>
            <a:prstGeom prst="rect">
              <a:avLst/>
            </a:prstGeom>
            <a:solidFill>
              <a:srgbClr val="701E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" name="图片 5" descr="D:/desktop/70f39df7-38c9-4454-b8eb-e3d5715d277d.png70f39df7-38c9-4454-b8eb-e3d5715d277d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/>
            <a:srcRect l="-13" t="14398" r="13" b="14398"/>
            <a:stretch>
              <a:fillRect/>
            </a:stretch>
          </p:blipFill>
          <p:spPr>
            <a:xfrm>
              <a:off x="14318" y="2527"/>
              <a:ext cx="3997" cy="2891"/>
            </a:xfrm>
            <a:prstGeom prst="flowChartProcess">
              <a:avLst/>
            </a:prstGeom>
            <a:noFill/>
            <a:ln w="28575" cap="sq">
              <a:noFill/>
              <a:miter lim="800000"/>
              <a:headEnd/>
              <a:tailEnd/>
            </a:ln>
          </p:spPr>
        </p:pic>
      </p:grpSp>
      <p:grpSp>
        <p:nvGrpSpPr>
          <p:cNvPr id="20" name="组合 19"/>
          <p:cNvGrpSpPr/>
          <p:nvPr>
            <p:custDataLst>
              <p:tags r:id="rId9"/>
            </p:custDataLst>
          </p:nvPr>
        </p:nvGrpSpPr>
        <p:grpSpPr>
          <a:xfrm>
            <a:off x="6238240" y="1264920"/>
            <a:ext cx="2538095" cy="4754880"/>
            <a:chOff x="9824" y="1992"/>
            <a:chExt cx="3997" cy="7488"/>
          </a:xfrm>
        </p:grpSpPr>
        <p:sp>
          <p:nvSpPr>
            <p:cNvPr id="3" name="矩形 2"/>
            <p:cNvSpPr/>
            <p:nvPr>
              <p:custDataLst>
                <p:tags r:id="rId10"/>
              </p:custDataLst>
            </p:nvPr>
          </p:nvSpPr>
          <p:spPr>
            <a:xfrm>
              <a:off x="9824" y="1992"/>
              <a:ext cx="3997" cy="7488"/>
            </a:xfrm>
            <a:prstGeom prst="rect">
              <a:avLst/>
            </a:prstGeom>
            <a:solidFill>
              <a:srgbClr val="B78E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04" name="图片 103" descr="D:/desktop/c66228ef-ec8a-438f-9293-e94aeae3ef7a.pngc66228ef-ec8a-438f-9293-e94aeae3ef7a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>
              <a:lum bright="12000" contrast="-12000"/>
            </a:blip>
            <a:srcRect l="-13" t="14069" r="13" b="14069"/>
            <a:stretch>
              <a:fillRect/>
            </a:stretch>
          </p:blipFill>
          <p:spPr>
            <a:xfrm>
              <a:off x="9830" y="2531"/>
              <a:ext cx="3991" cy="2883"/>
            </a:xfrm>
            <a:prstGeom prst="rect">
              <a:avLst/>
            </a:prstGeom>
            <a:noFill/>
            <a:ln w="9525">
              <a:noFill/>
            </a:ln>
            <a:effectLst/>
          </p:spPr>
        </p:pic>
      </p:grpSp>
      <p:grpSp>
        <p:nvGrpSpPr>
          <p:cNvPr id="18" name="组合 17"/>
          <p:cNvGrpSpPr/>
          <p:nvPr>
            <p:custDataLst>
              <p:tags r:id="rId13"/>
            </p:custDataLst>
          </p:nvPr>
        </p:nvGrpSpPr>
        <p:grpSpPr>
          <a:xfrm>
            <a:off x="538480" y="1264920"/>
            <a:ext cx="2541905" cy="4754880"/>
            <a:chOff x="848" y="1992"/>
            <a:chExt cx="4003" cy="7488"/>
          </a:xfrm>
        </p:grpSpPr>
        <p:sp>
          <p:nvSpPr>
            <p:cNvPr id="2" name="矩形 1"/>
            <p:cNvSpPr/>
            <p:nvPr>
              <p:custDataLst>
                <p:tags r:id="rId14"/>
              </p:custDataLst>
            </p:nvPr>
          </p:nvSpPr>
          <p:spPr>
            <a:xfrm>
              <a:off x="848" y="1992"/>
              <a:ext cx="3997" cy="7488"/>
            </a:xfrm>
            <a:prstGeom prst="rect">
              <a:avLst/>
            </a:prstGeom>
            <a:solidFill>
              <a:srgbClr val="B78E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7" name="图片 6" descr="D:/desktop/d7a3a85f-4552-45c2-a13c-fcc2d5d1f4ad.pngd7a3a85f-4552-45c2-a13c-fcc2d5d1f4ad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16">
              <a:lum bright="12000" contrast="-12000"/>
            </a:blip>
            <a:srcRect t="14082" b="14082"/>
            <a:stretch>
              <a:fillRect/>
            </a:stretch>
          </p:blipFill>
          <p:spPr>
            <a:xfrm>
              <a:off x="860" y="2535"/>
              <a:ext cx="3991" cy="2883"/>
            </a:xfrm>
            <a:prstGeom prst="rect">
              <a:avLst/>
            </a:prstGeom>
            <a:noFill/>
            <a:ln w="9525">
              <a:noFill/>
            </a:ln>
            <a:effectLst/>
          </p:spPr>
        </p:pic>
      </p:grpSp>
      <p:grpSp>
        <p:nvGrpSpPr>
          <p:cNvPr id="23" name="组合 22"/>
          <p:cNvGrpSpPr/>
          <p:nvPr>
            <p:custDataLst>
              <p:tags r:id="rId17"/>
            </p:custDataLst>
          </p:nvPr>
        </p:nvGrpSpPr>
        <p:grpSpPr>
          <a:xfrm>
            <a:off x="527685" y="3591325"/>
            <a:ext cx="2545080" cy="1936947"/>
            <a:chOff x="1478" y="3938"/>
            <a:chExt cx="4008" cy="3050"/>
          </a:xfrm>
        </p:grpSpPr>
        <p:sp>
          <p:nvSpPr>
            <p:cNvPr id="24" name="333333"/>
            <p:cNvSpPr txBox="1"/>
            <p:nvPr>
              <p:custDataLst>
                <p:tags r:id="rId18"/>
              </p:custDataLst>
            </p:nvPr>
          </p:nvSpPr>
          <p:spPr>
            <a:xfrm>
              <a:off x="2588" y="3938"/>
              <a:ext cx="1811" cy="58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原始图像</a:t>
              </a:r>
              <a:r>
                <a:rPr lang="en-US" altLang="zh-CN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endPara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1111"/>
            <p:cNvSpPr txBox="1"/>
            <p:nvPr>
              <p:custDataLst>
                <p:tags r:id="rId19"/>
              </p:custDataLst>
            </p:nvPr>
          </p:nvSpPr>
          <p:spPr>
            <a:xfrm>
              <a:off x="1478" y="4518"/>
              <a:ext cx="4008" cy="247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保存了编码后的图像。编码过程是将原始图像和随机生成的消息进行结合，生成包含消息的编码图像。</a:t>
              </a:r>
              <a:endParaRPr lang="zh-CN" altLang="en-US" sz="1600" dirty="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8" name="组合 7"/>
          <p:cNvGrpSpPr/>
          <p:nvPr>
            <p:custDataLst>
              <p:tags r:id="rId20"/>
            </p:custDataLst>
          </p:nvPr>
        </p:nvGrpSpPr>
        <p:grpSpPr>
          <a:xfrm>
            <a:off x="3377565" y="3591325"/>
            <a:ext cx="2545080" cy="2307190"/>
            <a:chOff x="1478" y="3938"/>
            <a:chExt cx="4008" cy="3633"/>
          </a:xfrm>
        </p:grpSpPr>
        <p:sp>
          <p:nvSpPr>
            <p:cNvPr id="9" name="333333"/>
            <p:cNvSpPr txBox="1"/>
            <p:nvPr>
              <p:custDataLst>
                <p:tags r:id="rId21"/>
              </p:custDataLst>
            </p:nvPr>
          </p:nvSpPr>
          <p:spPr>
            <a:xfrm>
              <a:off x="1830" y="3938"/>
              <a:ext cx="3603" cy="58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编码后图像</a:t>
              </a:r>
              <a:endPara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1111"/>
            <p:cNvSpPr txBox="1"/>
            <p:nvPr>
              <p:custDataLst>
                <p:tags r:id="rId22"/>
              </p:custDataLst>
            </p:nvPr>
          </p:nvSpPr>
          <p:spPr>
            <a:xfrm>
              <a:off x="1478" y="4518"/>
              <a:ext cx="4008" cy="305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no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altLang="zh-CN" sz="1600" dirty="0">
                  <a:solidFill>
                    <a:schemeClr val="bg1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保存了编码后的图像。编码过程是将原始图像和随机生成的消息进行结合，生成包含消息的编码图像。</a:t>
              </a:r>
              <a:endParaRPr lang="zh-CN" altLang="en-US" sz="1600" dirty="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1" name="组合 10"/>
          <p:cNvGrpSpPr/>
          <p:nvPr>
            <p:custDataLst>
              <p:tags r:id="rId23"/>
            </p:custDataLst>
          </p:nvPr>
        </p:nvGrpSpPr>
        <p:grpSpPr>
          <a:xfrm>
            <a:off x="6232525" y="3598311"/>
            <a:ext cx="2545080" cy="2299569"/>
            <a:chOff x="1478" y="3949"/>
            <a:chExt cx="4008" cy="3621"/>
          </a:xfrm>
        </p:grpSpPr>
        <p:sp>
          <p:nvSpPr>
            <p:cNvPr id="12" name="333333"/>
            <p:cNvSpPr txBox="1"/>
            <p:nvPr>
              <p:custDataLst>
                <p:tags r:id="rId24"/>
              </p:custDataLst>
            </p:nvPr>
          </p:nvSpPr>
          <p:spPr>
            <a:xfrm>
              <a:off x="1510" y="3949"/>
              <a:ext cx="3862" cy="86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noAutofit/>
            </a:bodyPr>
            <a:lstStyle/>
            <a:p>
              <a:pPr algn="ctr"/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编码并经过噪声处理后的图像</a:t>
              </a: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1111"/>
            <p:cNvSpPr txBox="1"/>
            <p:nvPr>
              <p:custDataLst>
                <p:tags r:id="rId25"/>
              </p:custDataLst>
            </p:nvPr>
          </p:nvSpPr>
          <p:spPr>
            <a:xfrm>
              <a:off x="1478" y="4813"/>
              <a:ext cx="4008" cy="275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no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保存经过噪声层处理后的编码图像。噪声层模拟了图像在传输或存储过程中可能遇到的各种干扰，如</a:t>
              </a:r>
              <a:r>
                <a:rPr lang="en-US" altLang="zh-CN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 JPEG </a:t>
              </a:r>
              <a:r>
                <a:rPr lang="zh-CN" altLang="en-US" sz="1600" dirty="0">
                  <a:solidFill>
                    <a:srgbClr val="262626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压缩、高斯噪声等。</a:t>
              </a:r>
              <a:endParaRPr lang="zh-CN" altLang="en-US" sz="1600" dirty="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5" name="组合 14"/>
          <p:cNvGrpSpPr/>
          <p:nvPr>
            <p:custDataLst>
              <p:tags r:id="rId26"/>
            </p:custDataLst>
          </p:nvPr>
        </p:nvGrpSpPr>
        <p:grpSpPr>
          <a:xfrm>
            <a:off x="9087485" y="3591325"/>
            <a:ext cx="2545080" cy="1567340"/>
            <a:chOff x="1478" y="3938"/>
            <a:chExt cx="4008" cy="2468"/>
          </a:xfrm>
        </p:grpSpPr>
        <p:sp>
          <p:nvSpPr>
            <p:cNvPr id="16" name="333333"/>
            <p:cNvSpPr txBox="1"/>
            <p:nvPr>
              <p:custDataLst>
                <p:tags r:id="rId27"/>
              </p:custDataLst>
            </p:nvPr>
          </p:nvSpPr>
          <p:spPr>
            <a:xfrm>
              <a:off x="2588" y="3938"/>
              <a:ext cx="1811" cy="58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噪声图像</a:t>
              </a:r>
              <a:r>
                <a:rPr lang="en-US" altLang="zh-CN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endPara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1111"/>
            <p:cNvSpPr txBox="1"/>
            <p:nvPr>
              <p:custDataLst>
                <p:tags r:id="rId28"/>
              </p:custDataLst>
            </p:nvPr>
          </p:nvSpPr>
          <p:spPr>
            <a:xfrm>
              <a:off x="1478" y="4813"/>
              <a:ext cx="4008" cy="159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no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bg1"/>
                  </a:solidFill>
                  <a:latin typeface="微软雅黑 Light" panose="020B0502040204020203" charset="-122"/>
                  <a:ea typeface="微软雅黑 Light" panose="020B0502040204020203" charset="-122"/>
                  <a:sym typeface="微软雅黑" panose="020B0503020204020204" pitchFamily="34" charset="-122"/>
                </a:rPr>
                <a:t>保存了编码图像和原始图像之间的差异图像，即编码过程中添加的噪声信息。</a:t>
              </a:r>
              <a:endParaRPr lang="zh-CN" altLang="en-US" sz="1600" dirty="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4037965" y="244475"/>
            <a:ext cx="4761230" cy="654911"/>
          </a:xfrm>
          <a:prstGeom prst="roundRect">
            <a:avLst>
              <a:gd name="adj" fmla="val 49999"/>
            </a:avLst>
          </a:prstGeom>
          <a:solidFill>
            <a:srgbClr val="701E5E"/>
          </a:solidFill>
        </p:spPr>
        <p:txBody>
          <a:bodyPr wrap="square" rtlCol="0" anchor="t">
            <a:spAutoFit/>
          </a:bodyPr>
          <a:p>
            <a:pPr lvl="0" algn="ctr">
              <a:buClrTx/>
              <a:buSzTx/>
              <a:buFontTx/>
            </a:pPr>
            <a:r>
              <a:rPr lang="zh-CN" altLang="en-US" sz="2400" b="1" spc="300" dirty="0">
                <a:solidFill>
                  <a:schemeClr val="bg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实验复现</a:t>
            </a:r>
            <a:r>
              <a:rPr lang="en-US" altLang="zh-CN" sz="2400" b="1" spc="300" dirty="0">
                <a:solidFill>
                  <a:schemeClr val="bg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2400" b="1" spc="300" dirty="0">
                <a:solidFill>
                  <a:schemeClr val="bg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训练编码器</a:t>
            </a:r>
            <a:endParaRPr lang="zh-CN" altLang="en-US" sz="2400" b="1" spc="300" dirty="0">
              <a:solidFill>
                <a:schemeClr val="bg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29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/>
        </p:nvSpPr>
        <p:spPr>
          <a:xfrm>
            <a:off x="4037965" y="244475"/>
            <a:ext cx="4761230" cy="651155"/>
          </a:xfrm>
          <a:prstGeom prst="roundRect">
            <a:avLst>
              <a:gd name="adj" fmla="val 49999"/>
            </a:avLst>
          </a:prstGeom>
          <a:solidFill>
            <a:srgbClr val="701E5E"/>
          </a:solidFill>
        </p:spPr>
        <p:txBody>
          <a:bodyPr wrap="square" rtlCol="0" anchor="t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2400" b="1" spc="300" dirty="0">
                <a:solidFill>
                  <a:schemeClr val="bg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实验复现</a:t>
            </a:r>
            <a:r>
              <a:rPr lang="en-US" altLang="zh-CN" sz="2400" b="1" spc="300" dirty="0">
                <a:solidFill>
                  <a:schemeClr val="bg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2400" b="1" spc="300" dirty="0">
                <a:solidFill>
                  <a:schemeClr val="bg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训练分割模型</a:t>
            </a:r>
            <a:endParaRPr lang="zh-CN" altLang="en-US" sz="2400" b="1" spc="300" dirty="0">
              <a:solidFill>
                <a:schemeClr val="bg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6" name="任意多边形 35"/>
          <p:cNvSpPr/>
          <p:nvPr>
            <p:custDataLst>
              <p:tags r:id="rId1"/>
            </p:custDataLst>
          </p:nvPr>
        </p:nvSpPr>
        <p:spPr>
          <a:xfrm rot="16200000" flipH="1">
            <a:off x="8855710" y="-207645"/>
            <a:ext cx="974090" cy="3566160"/>
          </a:xfrm>
          <a:custGeom>
            <a:avLst/>
            <a:gdLst>
              <a:gd name="adj" fmla="val 50000"/>
              <a:gd name="a" fmla="pin 0 adj 100000"/>
              <a:gd name="x1" fmla="*/ w a 200000"/>
              <a:gd name="x2" fmla="*/ w a 100000"/>
              <a:gd name="x3" fmla="+- x1 wd2 0"/>
            </a:gdLst>
            <a:ahLst/>
            <a:cxnLst>
              <a:cxn ang="3">
                <a:pos x="x2" y="t"/>
              </a:cxn>
              <a:cxn ang="cd2">
                <a:pos x="x1" y="vc"/>
              </a:cxn>
              <a:cxn ang="cd4">
                <a:pos x="l" y="b"/>
              </a:cxn>
              <a:cxn ang="cd4">
                <a:pos x="x2" y="b"/>
              </a:cxn>
              <a:cxn ang="cd4">
                <a:pos x="r" y="b"/>
              </a:cxn>
              <a:cxn ang="0">
                <a:pos x="x3" y="vc"/>
              </a:cxn>
            </a:cxnLst>
            <a:rect l="l" t="t" r="r" b="b"/>
            <a:pathLst>
              <a:path w="2551" h="5616">
                <a:moveTo>
                  <a:pt x="900" y="511"/>
                </a:moveTo>
                <a:lnTo>
                  <a:pt x="1276" y="0"/>
                </a:lnTo>
                <a:lnTo>
                  <a:pt x="1652" y="511"/>
                </a:lnTo>
                <a:lnTo>
                  <a:pt x="900" y="511"/>
                </a:lnTo>
                <a:close/>
                <a:moveTo>
                  <a:pt x="0" y="5616"/>
                </a:moveTo>
                <a:lnTo>
                  <a:pt x="0" y="513"/>
                </a:lnTo>
                <a:lnTo>
                  <a:pt x="2551" y="513"/>
                </a:lnTo>
                <a:lnTo>
                  <a:pt x="2551" y="5616"/>
                </a:lnTo>
                <a:lnTo>
                  <a:pt x="0" y="5616"/>
                </a:lnTo>
                <a:close/>
              </a:path>
            </a:pathLst>
          </a:custGeom>
          <a:solidFill>
            <a:srgbClr val="AD459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5" name="1111"/>
          <p:cNvSpPr txBox="1"/>
          <p:nvPr>
            <p:custDataLst>
              <p:tags r:id="rId2"/>
            </p:custDataLst>
          </p:nvPr>
        </p:nvSpPr>
        <p:spPr>
          <a:xfrm>
            <a:off x="8066405" y="1089025"/>
            <a:ext cx="2844800" cy="89535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noAutofit/>
          </a:bodyPr>
          <a:p>
            <a:pPr algn="just">
              <a:lnSpc>
                <a:spcPct val="150000"/>
              </a:lnSpc>
            </a:pPr>
            <a:r>
              <a:rPr lang="zh-CN" altLang="en-US" sz="1600" dirty="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在训练分割模型之前，需要生成带水印的图像和掩码</a:t>
            </a:r>
            <a:endParaRPr lang="en-US" altLang="zh-CN" sz="1600" dirty="0">
              <a:solidFill>
                <a:srgbClr val="262626"/>
              </a:solidFill>
              <a:latin typeface="微软雅黑 Light" panose="020B0502040204020203" charset="-122"/>
              <a:ea typeface="微软雅黑 Light" panose="020B0502040204020203" charset="-122"/>
              <a:sym typeface="微软雅黑" panose="020B0503020204020204" pitchFamily="34" charset="-122"/>
            </a:endParaRPr>
          </a:p>
        </p:txBody>
      </p:sp>
      <p:pic>
        <p:nvPicPr>
          <p:cNvPr id="2" name="图片 1" descr="f82039b0-7d46-4c87-a634-eac31decd60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939165" y="1278255"/>
            <a:ext cx="5319395" cy="593725"/>
          </a:xfrm>
          <a:prstGeom prst="rect">
            <a:avLst/>
          </a:prstGeom>
        </p:spPr>
      </p:pic>
      <p:sp>
        <p:nvSpPr>
          <p:cNvPr id="6" name="任意多边形 5"/>
          <p:cNvSpPr/>
          <p:nvPr>
            <p:custDataLst>
              <p:tags r:id="rId4"/>
            </p:custDataLst>
          </p:nvPr>
        </p:nvSpPr>
        <p:spPr>
          <a:xfrm rot="16200000" flipH="1">
            <a:off x="8643620" y="1438275"/>
            <a:ext cx="1525905" cy="3694430"/>
          </a:xfrm>
          <a:custGeom>
            <a:avLst/>
            <a:gdLst>
              <a:gd name="adj" fmla="val 50000"/>
              <a:gd name="a" fmla="pin 0 adj 100000"/>
              <a:gd name="x1" fmla="*/ w a 200000"/>
              <a:gd name="x2" fmla="*/ w a 100000"/>
              <a:gd name="x3" fmla="+- x1 wd2 0"/>
            </a:gdLst>
            <a:ahLst/>
            <a:cxnLst>
              <a:cxn ang="3">
                <a:pos x="x2" y="t"/>
              </a:cxn>
              <a:cxn ang="cd2">
                <a:pos x="x1" y="vc"/>
              </a:cxn>
              <a:cxn ang="cd4">
                <a:pos x="l" y="b"/>
              </a:cxn>
              <a:cxn ang="cd4">
                <a:pos x="x2" y="b"/>
              </a:cxn>
              <a:cxn ang="cd4">
                <a:pos x="r" y="b"/>
              </a:cxn>
              <a:cxn ang="0">
                <a:pos x="x3" y="vc"/>
              </a:cxn>
            </a:cxnLst>
            <a:rect l="l" t="t" r="r" b="b"/>
            <a:pathLst>
              <a:path w="2551" h="5616">
                <a:moveTo>
                  <a:pt x="900" y="511"/>
                </a:moveTo>
                <a:lnTo>
                  <a:pt x="1276" y="0"/>
                </a:lnTo>
                <a:lnTo>
                  <a:pt x="1652" y="511"/>
                </a:lnTo>
                <a:lnTo>
                  <a:pt x="900" y="511"/>
                </a:lnTo>
                <a:close/>
                <a:moveTo>
                  <a:pt x="0" y="5616"/>
                </a:moveTo>
                <a:lnTo>
                  <a:pt x="0" y="513"/>
                </a:lnTo>
                <a:lnTo>
                  <a:pt x="2551" y="513"/>
                </a:lnTo>
                <a:lnTo>
                  <a:pt x="2551" y="5616"/>
                </a:lnTo>
                <a:lnTo>
                  <a:pt x="0" y="5616"/>
                </a:lnTo>
                <a:close/>
              </a:path>
            </a:pathLst>
          </a:custGeom>
          <a:solidFill>
            <a:srgbClr val="AD459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8" name="1111"/>
          <p:cNvSpPr txBox="1"/>
          <p:nvPr>
            <p:custDataLst>
              <p:tags r:id="rId5"/>
            </p:custDataLst>
          </p:nvPr>
        </p:nvSpPr>
        <p:spPr>
          <a:xfrm>
            <a:off x="8193405" y="2471420"/>
            <a:ext cx="2931795" cy="89535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noAutofit/>
          </a:bodyPr>
          <a:p>
            <a:pPr algn="just">
              <a:lnSpc>
                <a:spcPct val="150000"/>
              </a:lnSpc>
            </a:pPr>
            <a:r>
              <a:rPr lang="zh-CN" altLang="en-US" sz="1600" dirty="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编写代码</a:t>
            </a:r>
            <a:r>
              <a:rPr lang="en-US" altLang="zh-CN" sz="1600" dirty="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split.py</a:t>
            </a:r>
            <a:r>
              <a:rPr lang="zh-CN" altLang="en-US" sz="1600" dirty="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，将生成的带水印的图像和掩码按</a:t>
            </a:r>
            <a:r>
              <a:rPr lang="en-US" altLang="zh-CN" sz="1600" dirty="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8:2</a:t>
            </a:r>
            <a:r>
              <a:rPr lang="zh-CN" altLang="en-US" sz="1600" dirty="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分为训练集和训练集，使用生成的</a:t>
            </a:r>
            <a:r>
              <a:rPr lang="zh-CN" altLang="en-US" sz="1600" dirty="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数据训练分割模型</a:t>
            </a:r>
            <a:endParaRPr lang="zh-CN" altLang="en-US" sz="1600" dirty="0">
              <a:solidFill>
                <a:srgbClr val="262626"/>
              </a:solidFill>
              <a:latin typeface="微软雅黑 Light" panose="020B0502040204020203" charset="-122"/>
              <a:ea typeface="微软雅黑 Light" panose="020B0502040204020203" charset="-122"/>
              <a:sym typeface="微软雅黑" panose="020B0503020204020204" pitchFamily="34" charset="-122"/>
            </a:endParaRPr>
          </a:p>
        </p:txBody>
      </p:sp>
      <p:pic>
        <p:nvPicPr>
          <p:cNvPr id="10" name="图片 9" descr="2f758651-56e6-47d9-9811-d5173ab4954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4725" y="2219960"/>
            <a:ext cx="5283835" cy="182880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889000" y="4351655"/>
            <a:ext cx="10313035" cy="2353945"/>
          </a:xfrm>
          <a:prstGeom prst="rect">
            <a:avLst/>
          </a:prstGeom>
          <a:solidFill>
            <a:srgbClr val="701E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1111"/>
          <p:cNvSpPr txBox="1"/>
          <p:nvPr>
            <p:custDataLst>
              <p:tags r:id="rId7"/>
            </p:custDataLst>
          </p:nvPr>
        </p:nvSpPr>
        <p:spPr>
          <a:xfrm>
            <a:off x="1139190" y="4479925"/>
            <a:ext cx="9913620" cy="1422400"/>
          </a:xfrm>
          <a:prstGeom prst="rect">
            <a:avLst/>
          </a:prstGeom>
          <a:noFill/>
          <a:ln w="9525">
            <a:noFill/>
          </a:ln>
        </p:spPr>
        <p:txBody>
          <a:bodyPr wrap="square" tIns="36195" bIns="36195" anchor="t">
            <a:noAutofit/>
          </a:bodyPr>
          <a:p>
            <a:pPr algn="just"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训练过程中，训练集</a:t>
            </a:r>
            <a:r>
              <a:rPr lang="en-US" altLang="zh-CN" b="1" dirty="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 BCE </a:t>
            </a:r>
            <a:r>
              <a:rPr lang="zh-CN" altLang="en-US" b="1" dirty="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损失与</a:t>
            </a:r>
            <a:r>
              <a:rPr lang="en-US" altLang="zh-CN" b="1" dirty="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 IOU </a:t>
            </a:r>
            <a:r>
              <a:rPr lang="zh-CN" altLang="en-US" b="1" dirty="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损失均呈显著下降趋势，前者从</a:t>
            </a:r>
            <a:r>
              <a:rPr lang="en-US" altLang="zh-CN" b="1" dirty="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 417.03 </a:t>
            </a:r>
            <a:r>
              <a:rPr lang="zh-CN" altLang="en-US" b="1" dirty="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降至</a:t>
            </a:r>
            <a:r>
              <a:rPr lang="en-US" altLang="zh-CN" b="1" dirty="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 130.84</a:t>
            </a:r>
            <a:r>
              <a:rPr lang="zh-CN" altLang="en-US" b="1" dirty="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，后者从</a:t>
            </a:r>
            <a:r>
              <a:rPr lang="en-US" altLang="zh-CN" b="1" dirty="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 53.80 </a:t>
            </a:r>
            <a:r>
              <a:rPr lang="zh-CN" altLang="en-US" b="1" dirty="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降至</a:t>
            </a:r>
            <a:r>
              <a:rPr lang="en-US" altLang="zh-CN" b="1" dirty="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 22.20</a:t>
            </a:r>
            <a:r>
              <a:rPr lang="zh-CN" altLang="en-US" b="1" dirty="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，表明模型对像素分类的准确性逐步提升，分割区域与真实区域的重叠度持续改善，有效学习数据特征并优化性能。反观验证集，</a:t>
            </a:r>
            <a:r>
              <a:rPr lang="en-US" altLang="zh-CN" b="1" dirty="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BCE </a:t>
            </a:r>
            <a:r>
              <a:rPr lang="zh-CN" altLang="en-US" b="1" dirty="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损失与</a:t>
            </a:r>
            <a:r>
              <a:rPr lang="en-US" altLang="zh-CN" b="1" dirty="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 IOU </a:t>
            </a:r>
            <a:r>
              <a:rPr lang="zh-CN" altLang="en-US" b="1" dirty="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损失虽存在波动，但</a:t>
            </a:r>
            <a:r>
              <a:rPr lang="en-US" altLang="zh-CN" b="1" dirty="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 IOU </a:t>
            </a:r>
            <a:r>
              <a:rPr lang="zh-CN" altLang="en-US" b="1" dirty="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损失整体波动幅度较小，反映出模型在泛化过程中，虽面临一定挑战，但分割能力的稳定性相对较好。</a:t>
            </a:r>
            <a:endParaRPr lang="zh-CN" altLang="en-US" b="1" dirty="0">
              <a:solidFill>
                <a:schemeClr val="bg1"/>
              </a:solidFill>
              <a:latin typeface="微软雅黑 Light" panose="020B0502040204020203" charset="-122"/>
              <a:ea typeface="微软雅黑 Light" panose="020B0502040204020203" charset="-122"/>
              <a:sym typeface="微软雅黑" panose="020B0503020204020204" pitchFamily="34" charset="-122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/>
        </p:nvSpPr>
        <p:spPr>
          <a:xfrm>
            <a:off x="4037965" y="244475"/>
            <a:ext cx="4761230" cy="651059"/>
          </a:xfrm>
          <a:prstGeom prst="roundRect">
            <a:avLst>
              <a:gd name="adj" fmla="val 49999"/>
            </a:avLst>
          </a:prstGeom>
          <a:solidFill>
            <a:srgbClr val="701E5E"/>
          </a:solidFill>
        </p:spPr>
        <p:txBody>
          <a:bodyPr wrap="square" rtlCol="0" anchor="t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2400" b="1" spc="300" dirty="0">
                <a:solidFill>
                  <a:schemeClr val="bg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实验复现</a:t>
            </a:r>
            <a:r>
              <a:rPr lang="en-US" altLang="zh-CN" sz="2400" b="1" spc="300" dirty="0">
                <a:solidFill>
                  <a:schemeClr val="bg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2400" b="1" spc="300" dirty="0">
                <a:solidFill>
                  <a:schemeClr val="bg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评估</a:t>
            </a:r>
            <a:r>
              <a:rPr lang="zh-CN" altLang="en-US" sz="2400" b="1" spc="300" dirty="0">
                <a:solidFill>
                  <a:schemeClr val="bg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模型</a:t>
            </a:r>
            <a:endParaRPr lang="zh-CN" altLang="en-US" sz="2400" b="1" spc="300" dirty="0">
              <a:solidFill>
                <a:schemeClr val="bg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6" name="任意多边形 35"/>
          <p:cNvSpPr/>
          <p:nvPr>
            <p:custDataLst>
              <p:tags r:id="rId1"/>
            </p:custDataLst>
          </p:nvPr>
        </p:nvSpPr>
        <p:spPr>
          <a:xfrm rot="16200000" flipH="1">
            <a:off x="7080250" y="1783715"/>
            <a:ext cx="4996815" cy="3807460"/>
          </a:xfrm>
          <a:custGeom>
            <a:avLst/>
            <a:gdLst>
              <a:gd name="adj" fmla="val 50000"/>
              <a:gd name="a" fmla="pin 0 adj 100000"/>
              <a:gd name="x1" fmla="*/ w a 200000"/>
              <a:gd name="x2" fmla="*/ w a 100000"/>
              <a:gd name="x3" fmla="+- x1 wd2 0"/>
            </a:gdLst>
            <a:ahLst/>
            <a:cxnLst>
              <a:cxn ang="3">
                <a:pos x="x2" y="t"/>
              </a:cxn>
              <a:cxn ang="cd2">
                <a:pos x="x1" y="vc"/>
              </a:cxn>
              <a:cxn ang="cd4">
                <a:pos x="l" y="b"/>
              </a:cxn>
              <a:cxn ang="cd4">
                <a:pos x="x2" y="b"/>
              </a:cxn>
              <a:cxn ang="cd4">
                <a:pos x="r" y="b"/>
              </a:cxn>
              <a:cxn ang="0">
                <a:pos x="x3" y="vc"/>
              </a:cxn>
            </a:cxnLst>
            <a:rect l="l" t="t" r="r" b="b"/>
            <a:pathLst>
              <a:path w="2551" h="5616">
                <a:moveTo>
                  <a:pt x="900" y="511"/>
                </a:moveTo>
                <a:lnTo>
                  <a:pt x="1276" y="0"/>
                </a:lnTo>
                <a:lnTo>
                  <a:pt x="1652" y="511"/>
                </a:lnTo>
                <a:lnTo>
                  <a:pt x="900" y="511"/>
                </a:lnTo>
                <a:close/>
                <a:moveTo>
                  <a:pt x="0" y="5616"/>
                </a:moveTo>
                <a:lnTo>
                  <a:pt x="0" y="513"/>
                </a:lnTo>
                <a:lnTo>
                  <a:pt x="2551" y="513"/>
                </a:lnTo>
                <a:lnTo>
                  <a:pt x="2551" y="5616"/>
                </a:lnTo>
                <a:lnTo>
                  <a:pt x="0" y="5616"/>
                </a:lnTo>
                <a:close/>
              </a:path>
            </a:pathLst>
          </a:custGeom>
          <a:solidFill>
            <a:srgbClr val="AD459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5" name="1111"/>
          <p:cNvSpPr txBox="1"/>
          <p:nvPr>
            <p:custDataLst>
              <p:tags r:id="rId2"/>
            </p:custDataLst>
          </p:nvPr>
        </p:nvSpPr>
        <p:spPr>
          <a:xfrm>
            <a:off x="8193405" y="1416685"/>
            <a:ext cx="3212465" cy="50812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noAutofit/>
          </a:bodyPr>
          <a:p>
            <a:pPr algn="just">
              <a:lnSpc>
                <a:spcPct val="150000"/>
              </a:lnSpc>
            </a:pPr>
            <a:r>
              <a:rPr lang="en-US" altLang="zh-CN" sz="1600" b="1" dirty="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1. PSNR</a:t>
            </a:r>
            <a:r>
              <a:rPr lang="zh-CN" altLang="en-US" sz="1600" b="1" dirty="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（峰值信噪比）</a:t>
            </a:r>
            <a:r>
              <a:rPr lang="zh-CN" altLang="en-US" sz="1600" dirty="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：衡量图像失真程度，值越高表示图像质量保留越好。</a:t>
            </a:r>
            <a:endParaRPr lang="zh-CN" altLang="en-US" sz="1600" dirty="0">
              <a:solidFill>
                <a:srgbClr val="262626"/>
              </a:solidFill>
              <a:latin typeface="微软雅黑 Light" panose="020B0502040204020203" charset="-122"/>
              <a:ea typeface="微软雅黑 Light" panose="020B0502040204020203" charset="-122"/>
              <a:sym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1600" b="1" dirty="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2. SSIM</a:t>
            </a:r>
            <a:r>
              <a:rPr lang="zh-CN" altLang="en-US" sz="1600" b="1" dirty="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（结构相似性）</a:t>
            </a:r>
            <a:r>
              <a:rPr lang="zh-CN" altLang="en-US" sz="1600" dirty="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：衡量图像结构相似度，值越接近</a:t>
            </a:r>
            <a:r>
              <a:rPr lang="en-US" altLang="zh-CN" sz="1600" dirty="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 1 </a:t>
            </a:r>
            <a:r>
              <a:rPr lang="zh-CN" altLang="en-US" sz="1600" dirty="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表示与原图越相似。</a:t>
            </a:r>
            <a:endParaRPr lang="zh-CN" altLang="en-US" sz="1600" dirty="0">
              <a:solidFill>
                <a:srgbClr val="262626"/>
              </a:solidFill>
              <a:latin typeface="微软雅黑 Light" panose="020B0502040204020203" charset="-122"/>
              <a:ea typeface="微软雅黑 Light" panose="020B0502040204020203" charset="-122"/>
              <a:sym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1600" b="1" dirty="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3. bit_acc</a:t>
            </a:r>
            <a:r>
              <a:rPr lang="zh-CN" altLang="en-US" sz="1600" b="1" dirty="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（比特准确率）</a:t>
            </a:r>
            <a:r>
              <a:rPr lang="zh-CN" altLang="en-US" sz="1600" dirty="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：提取的水印比特与原始比特的一致性，值越高表示水印鲁棒性越强。</a:t>
            </a:r>
            <a:endParaRPr lang="zh-CN" altLang="en-US" sz="1600" dirty="0">
              <a:solidFill>
                <a:srgbClr val="262626"/>
              </a:solidFill>
              <a:latin typeface="微软雅黑 Light" panose="020B0502040204020203" charset="-122"/>
              <a:ea typeface="微软雅黑 Light" panose="020B0502040204020203" charset="-122"/>
              <a:sym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1600" b="1" dirty="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4. bit_check_acc</a:t>
            </a:r>
            <a:r>
              <a:rPr lang="zh-CN" altLang="en-US" sz="1600" b="1" dirty="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（比特检查准确率）</a:t>
            </a:r>
            <a:r>
              <a:rPr lang="zh-CN" altLang="en-US" sz="1600" dirty="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：可能是对特定水印校验规则的准确率。</a:t>
            </a:r>
            <a:endParaRPr lang="zh-CN" altLang="en-US" sz="1600" dirty="0">
              <a:solidFill>
                <a:srgbClr val="262626"/>
              </a:solidFill>
              <a:latin typeface="微软雅黑 Light" panose="020B0502040204020203" charset="-122"/>
              <a:ea typeface="微软雅黑 Light" panose="020B0502040204020203" charset="-122"/>
              <a:sym typeface="微软雅黑" panose="020B0503020204020204" pitchFamily="34" charset="-122"/>
            </a:endParaRPr>
          </a:p>
        </p:txBody>
      </p:sp>
      <p:pic>
        <p:nvPicPr>
          <p:cNvPr id="2" name="图片 1" descr="3ae4ee5d-6abc-4167-9023-af0e9b3d8dd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3746500"/>
            <a:ext cx="6084570" cy="2761615"/>
          </a:xfrm>
          <a:prstGeom prst="rect">
            <a:avLst/>
          </a:prstGeom>
        </p:spPr>
      </p:pic>
      <p:pic>
        <p:nvPicPr>
          <p:cNvPr id="3" name="图片 2" descr="3ae4ee5d-6abc-4167-9023-af0e9b3d8dda (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060" y="942340"/>
            <a:ext cx="6074410" cy="275717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/>
        </p:nvSpPr>
        <p:spPr>
          <a:xfrm>
            <a:off x="4707255" y="233680"/>
            <a:ext cx="2772410" cy="651059"/>
          </a:xfrm>
          <a:prstGeom prst="roundRect">
            <a:avLst>
              <a:gd name="adj" fmla="val 49999"/>
            </a:avLst>
          </a:prstGeom>
          <a:solidFill>
            <a:srgbClr val="701E5E"/>
          </a:solidFill>
        </p:spPr>
        <p:txBody>
          <a:bodyPr wrap="square" rtlCol="0" anchor="t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2400" b="1" spc="300" dirty="0">
                <a:solidFill>
                  <a:schemeClr val="bg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评估结果分析</a:t>
            </a:r>
            <a:endParaRPr lang="zh-CN" altLang="en-US" sz="2400" b="1" spc="300" dirty="0">
              <a:solidFill>
                <a:schemeClr val="bg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1046480" y="1143000"/>
            <a:ext cx="10080000" cy="1620000"/>
          </a:xfrm>
          <a:prstGeom prst="rect">
            <a:avLst/>
          </a:prstGeom>
          <a:solidFill>
            <a:srgbClr val="EFE6E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046480" y="4889615"/>
            <a:ext cx="10080000" cy="1619885"/>
          </a:xfrm>
          <a:prstGeom prst="rect">
            <a:avLst/>
          </a:prstGeom>
          <a:solidFill>
            <a:srgbClr val="EFE6E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1046480" y="3016365"/>
            <a:ext cx="10080000" cy="1619885"/>
          </a:xfrm>
          <a:prstGeom prst="rect">
            <a:avLst/>
          </a:prstGeom>
          <a:solidFill>
            <a:srgbClr val="EFE6E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>
            <p:custDataLst>
              <p:tags r:id="rId4"/>
            </p:custDataLst>
          </p:nvPr>
        </p:nvSpPr>
        <p:spPr>
          <a:xfrm>
            <a:off x="1325245" y="1266190"/>
            <a:ext cx="415925" cy="1374140"/>
          </a:xfrm>
          <a:prstGeom prst="rect">
            <a:avLst/>
          </a:prstGeom>
          <a:solidFill>
            <a:srgbClr val="701E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单一单一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攻击分析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9" name="矩形 18"/>
          <p:cNvSpPr/>
          <p:nvPr>
            <p:custDataLst>
              <p:tags r:id="rId5"/>
            </p:custDataLst>
          </p:nvPr>
        </p:nvSpPr>
        <p:spPr>
          <a:xfrm>
            <a:off x="1325245" y="5012055"/>
            <a:ext cx="415925" cy="1374140"/>
          </a:xfrm>
          <a:prstGeom prst="rect">
            <a:avLst/>
          </a:prstGeom>
          <a:solidFill>
            <a:srgbClr val="701E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结论说明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0" name="矩形 19"/>
          <p:cNvSpPr/>
          <p:nvPr>
            <p:custDataLst>
              <p:tags r:id="rId6"/>
            </p:custDataLst>
          </p:nvPr>
        </p:nvSpPr>
        <p:spPr>
          <a:xfrm>
            <a:off x="1325245" y="3139440"/>
            <a:ext cx="415925" cy="1374140"/>
          </a:xfrm>
          <a:prstGeom prst="rect">
            <a:avLst/>
          </a:prstGeom>
          <a:solidFill>
            <a:srgbClr val="B78E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联合攻击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3" name="1111"/>
          <p:cNvSpPr txBox="1"/>
          <p:nvPr>
            <p:custDataLst>
              <p:tags r:id="rId7"/>
            </p:custDataLst>
          </p:nvPr>
        </p:nvSpPr>
        <p:spPr>
          <a:xfrm>
            <a:off x="1887855" y="1183005"/>
            <a:ext cx="8778875" cy="1910080"/>
          </a:xfrm>
          <a:prstGeom prst="rect">
            <a:avLst/>
          </a:prstGeom>
          <a:noFill/>
          <a:ln w="9525">
            <a:noFill/>
          </a:ln>
        </p:spPr>
        <p:txBody>
          <a:bodyPr wrap="square" tIns="36195" bIns="36195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dirty="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无攻击时水印提取准确率约</a:t>
            </a:r>
            <a:r>
              <a:rPr lang="en-US" altLang="zh-CN" sz="1600" dirty="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 50%</a:t>
            </a:r>
            <a:r>
              <a:rPr lang="zh-CN" altLang="en-US" sz="1600" dirty="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，接近随机猜测，或因嵌入强度不足。</a:t>
            </a:r>
            <a:r>
              <a:rPr lang="en-US" altLang="zh-CN" sz="1600" dirty="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JPEG </a:t>
            </a:r>
            <a:r>
              <a:rPr lang="zh-CN" altLang="en-US" sz="1600" dirty="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压缩、高斯模糊使准确率降至约</a:t>
            </a:r>
            <a:r>
              <a:rPr lang="en-US" altLang="zh-CN" sz="1600" dirty="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 0.492</a:t>
            </a:r>
            <a:r>
              <a:rPr lang="zh-CN" altLang="en-US" sz="1600" dirty="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，表明水印对有损压缩与模糊敏感；高斯噪声、颜色调整下准确率波动，受强度与像素值变化影响。随机裁剪、旋转时准确率略有提升或保持，可能因未破坏水印关键区域及算法具备几何鲁棒性。</a:t>
            </a:r>
            <a:endParaRPr lang="zh-CN" altLang="en-US" sz="1600" dirty="0">
              <a:solidFill>
                <a:srgbClr val="262626"/>
              </a:solidFill>
              <a:latin typeface="微软雅黑 Light" panose="020B0502040204020203" charset="-122"/>
              <a:ea typeface="微软雅黑 Light" panose="020B0502040204020203" charset="-122"/>
              <a:sym typeface="微软雅黑" panose="020B0503020204020204" pitchFamily="34" charset="-122"/>
            </a:endParaRPr>
          </a:p>
        </p:txBody>
      </p:sp>
      <p:sp>
        <p:nvSpPr>
          <p:cNvPr id="24" name="1111"/>
          <p:cNvSpPr txBox="1"/>
          <p:nvPr>
            <p:custDataLst>
              <p:tags r:id="rId8"/>
            </p:custDataLst>
          </p:nvPr>
        </p:nvSpPr>
        <p:spPr>
          <a:xfrm>
            <a:off x="2040255" y="3257550"/>
            <a:ext cx="8703310" cy="1378585"/>
          </a:xfrm>
          <a:prstGeom prst="rect">
            <a:avLst/>
          </a:prstGeom>
          <a:noFill/>
          <a:ln w="9525">
            <a:noFill/>
          </a:ln>
        </p:spPr>
        <p:txBody>
          <a:bodyPr wrap="square" tIns="36195" bIns="36195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dirty="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颜色调整</a:t>
            </a:r>
            <a:r>
              <a:rPr lang="en-US" altLang="zh-CN" sz="1600" dirty="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 + JPEG </a:t>
            </a:r>
            <a:r>
              <a:rPr lang="zh-CN" altLang="en-US" sz="1600" dirty="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压缩、裁剪</a:t>
            </a:r>
            <a:r>
              <a:rPr lang="en-US" altLang="zh-CN" sz="1600" dirty="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 + JPEG </a:t>
            </a:r>
            <a:r>
              <a:rPr lang="zh-CN" altLang="en-US" sz="1600" dirty="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压缩等组合攻击，准确率未显著降低，破坏机制或有重叠。裁剪</a:t>
            </a:r>
            <a:r>
              <a:rPr lang="en-US" altLang="zh-CN" sz="1600" dirty="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 + Resize+JPEG </a:t>
            </a:r>
            <a:r>
              <a:rPr lang="zh-CN" altLang="en-US" sz="1600" dirty="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压缩组合下准确率略升，水印特征经多步处理更稳定；但遮挡</a:t>
            </a:r>
            <a:r>
              <a:rPr lang="en-US" altLang="zh-CN" sz="1600" dirty="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 + JPEG </a:t>
            </a:r>
            <a:r>
              <a:rPr lang="zh-CN" altLang="en-US" sz="1600" dirty="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压缩使水印校验位无法提取，可见遮挡对水印破坏严重。</a:t>
            </a:r>
            <a:r>
              <a:rPr lang="en-US" altLang="zh-CN" sz="1600" dirty="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​</a:t>
            </a:r>
            <a:endParaRPr lang="en-US" altLang="zh-CN" sz="1600" dirty="0">
              <a:solidFill>
                <a:srgbClr val="262626"/>
              </a:solidFill>
              <a:latin typeface="微软雅黑 Light" panose="020B0502040204020203" charset="-122"/>
              <a:ea typeface="微软雅黑 Light" panose="020B0502040204020203" charset="-122"/>
              <a:sym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1600" dirty="0">
              <a:solidFill>
                <a:srgbClr val="262626"/>
              </a:solidFill>
              <a:latin typeface="微软雅黑 Light" panose="020B0502040204020203" charset="-122"/>
              <a:ea typeface="微软雅黑 Light" panose="020B0502040204020203" charset="-122"/>
              <a:sym typeface="微软雅黑" panose="020B0503020204020204" pitchFamily="34" charset="-122"/>
            </a:endParaRPr>
          </a:p>
        </p:txBody>
      </p:sp>
      <p:sp>
        <p:nvSpPr>
          <p:cNvPr id="25" name="1111"/>
          <p:cNvSpPr txBox="1"/>
          <p:nvPr>
            <p:custDataLst>
              <p:tags r:id="rId9"/>
            </p:custDataLst>
          </p:nvPr>
        </p:nvSpPr>
        <p:spPr>
          <a:xfrm>
            <a:off x="2040255" y="5297805"/>
            <a:ext cx="8703310" cy="810895"/>
          </a:xfrm>
          <a:prstGeom prst="rect">
            <a:avLst/>
          </a:prstGeom>
          <a:noFill/>
          <a:ln w="9525">
            <a:noFill/>
          </a:ln>
        </p:spPr>
        <p:txBody>
          <a:bodyPr wrap="square" tIns="36195" bIns="36195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dirty="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总体来看图像质量保留良好，但水印的鲁棒性不足，同时我们发现集合变换的鲁棒性优于像素攻击，整体实验的短板还是校验机制的</a:t>
            </a:r>
            <a:r>
              <a:rPr lang="zh-CN" altLang="en-US" sz="1600" dirty="0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sym typeface="微软雅黑" panose="020B0503020204020204" pitchFamily="34" charset="-122"/>
              </a:rPr>
              <a:t>脆弱。</a:t>
            </a:r>
            <a:endParaRPr lang="zh-CN" altLang="en-US" sz="1600" dirty="0">
              <a:solidFill>
                <a:srgbClr val="262626"/>
              </a:solidFill>
              <a:latin typeface="微软雅黑 Light" panose="020B0502040204020203" charset="-122"/>
              <a:ea typeface="微软雅黑 Light" panose="020B0502040204020203" charset="-122"/>
              <a:sym typeface="微软雅黑" panose="020B0503020204020204" pitchFamily="34" charset="-122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0277475" y="1494790"/>
            <a:ext cx="994410" cy="2894330"/>
          </a:xfrm>
          <a:prstGeom prst="rect">
            <a:avLst/>
          </a:prstGeom>
          <a:solidFill>
            <a:srgbClr val="701E5E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tIns="0" rtlCol="0" anchor="ctr"/>
          <a:lstStyle/>
          <a:p>
            <a:pPr algn="ctr">
              <a:lnSpc>
                <a:spcPct val="100000"/>
              </a:lnSpc>
            </a:pPr>
            <a:r>
              <a:rPr lang="zh-CN" altLang="en-US" sz="3000" kern="3000" spc="1000">
                <a:solidFill>
                  <a:schemeClr val="bg2"/>
                </a:solidFill>
                <a:uFillTx/>
                <a:latin typeface="微软雅黑 Light" panose="020B0502040204020203" charset="-122"/>
                <a:ea typeface="微软雅黑 Light" panose="020B0502040204020203" charset="-122"/>
              </a:rPr>
              <a:t>允公允能</a:t>
            </a:r>
            <a:endParaRPr lang="zh-CN" altLang="en-US" sz="3000" kern="3000" spc="1000">
              <a:solidFill>
                <a:schemeClr val="bg2"/>
              </a:solidFill>
              <a:uFillTx/>
              <a:latin typeface="微软雅黑 Light" panose="020B0502040204020203" charset="-122"/>
              <a:ea typeface="微软雅黑 Light" panose="020B0502040204020203" charset="-122"/>
            </a:endParaRPr>
          </a:p>
          <a:p>
            <a:pPr algn="ctr">
              <a:lnSpc>
                <a:spcPct val="100000"/>
              </a:lnSpc>
            </a:pPr>
            <a:r>
              <a:rPr lang="en-US" altLang="zh-CN" sz="3000" kern="3000" spc="1000">
                <a:solidFill>
                  <a:schemeClr val="bg2"/>
                </a:solidFill>
                <a:uFillTx/>
                <a:latin typeface="微软雅黑 Light" panose="020B0502040204020203" charset="-122"/>
                <a:ea typeface="微软雅黑 Light" panose="020B0502040204020203" charset="-122"/>
              </a:rPr>
              <a:t>   </a:t>
            </a:r>
            <a:r>
              <a:rPr lang="zh-CN" altLang="en-US" sz="3000" kern="3000" spc="1000">
                <a:solidFill>
                  <a:schemeClr val="bg2"/>
                </a:solidFill>
                <a:uFillTx/>
                <a:latin typeface="微软雅黑 Light" panose="020B0502040204020203" charset="-122"/>
                <a:ea typeface="微软雅黑 Light" panose="020B0502040204020203" charset="-122"/>
              </a:rPr>
              <a:t>日新月异</a:t>
            </a:r>
            <a:endParaRPr lang="zh-CN" altLang="en-US" sz="3000" kern="3000" spc="1000">
              <a:solidFill>
                <a:schemeClr val="bg2"/>
              </a:solidFill>
              <a:uFillTx/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608070" y="570865"/>
            <a:ext cx="1198245" cy="5734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eaVert" wrap="square" rtlCol="0" anchor="ctr" anchorCtr="1">
            <a:spAutoFit/>
          </a:bodyPr>
          <a:lstStyle/>
          <a:p>
            <a:pPr algn="dist">
              <a:lnSpc>
                <a:spcPct val="100000"/>
              </a:lnSpc>
            </a:pPr>
            <a:r>
              <a:rPr lang="zh-CN" altLang="en-US" sz="6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谢谢大家</a:t>
            </a:r>
            <a:endParaRPr lang="zh-CN" altLang="en-US" sz="6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042451" y="655320"/>
            <a:ext cx="442429" cy="2052000"/>
          </a:xfrm>
          <a:prstGeom prst="rect">
            <a:avLst/>
          </a:prstGeom>
          <a:solidFill>
            <a:schemeClr val="bg1"/>
          </a:solidFill>
        </p:spPr>
        <p:txBody>
          <a:bodyPr vert="eaVert" wrap="square" lIns="36195" rIns="36195" rtlCol="0">
            <a:spAutoFit/>
          </a:bodyPr>
          <a:lstStyle/>
          <a:p>
            <a:r>
              <a:rPr lang="en-US" altLang="zh-CN" sz="2400" b="1" dirty="0">
                <a:solidFill>
                  <a:srgbClr val="701E5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 YOU</a:t>
            </a:r>
            <a:endParaRPr lang="en-US" altLang="zh-CN" sz="2400" b="1" dirty="0">
              <a:solidFill>
                <a:srgbClr val="701E5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242185" y="2926715"/>
            <a:ext cx="1365885" cy="3289300"/>
          </a:xfrm>
          <a:prstGeom prst="rect">
            <a:avLst/>
          </a:prstGeom>
          <a:noFill/>
        </p:spPr>
        <p:txBody>
          <a:bodyPr vert="eaVert" wrap="none" rtlCol="0">
            <a:noAutofit/>
          </a:bodyPr>
          <a:p>
            <a:pPr algn="l">
              <a:lnSpc>
                <a:spcPct val="150000"/>
              </a:lnSpc>
            </a:pPr>
            <a:r>
              <a:rPr lang="zh-CN" altLang="en-US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汇报人：王峥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李佳璐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黄煜斐</a:t>
            </a:r>
            <a:endParaRPr lang="zh-CN" altLang="en-US" sz="2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专业：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信息安全</a:t>
            </a:r>
            <a:endParaRPr lang="zh-CN" altLang="en-US" sz="2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endParaRPr lang="zh-CN" altLang="en-US" sz="2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PLACING_PICTURE_USER_VIEWPORT" val="{&quot;height&quot;:10796,&quot;width&quot;:15203}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PLACING_PICTURE_USER_VIEWPORT" val="{&quot;height&quot;:10796,&quot;width&quot;:12706}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4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4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50.xml><?xml version="1.0" encoding="utf-8"?>
<p:tagLst xmlns:p="http://schemas.openxmlformats.org/presentationml/2006/main">
  <p:tag name="KSO_WM_DIAGRAM_VIRTUALLY_FRAME" val="{&quot;height&quot;:418.35850393700787,&quot;left&quot;:135.42503937007874,&quot;top&quot;:91.8311811023622,&quot;width&quot;:722.8749606299212}"/>
</p:tagLst>
</file>

<file path=ppt/tags/tag51.xml><?xml version="1.0" encoding="utf-8"?>
<p:tagLst xmlns:p="http://schemas.openxmlformats.org/presentationml/2006/main">
  <p:tag name="KSO_WM_DIAGRAM_VIRTUALLY_FRAME" val="{&quot;height&quot;:418.35850393700787,&quot;left&quot;:135.42503937007874,&quot;top&quot;:91.8311811023622,&quot;width&quot;:722.8749606299212}"/>
</p:tagLst>
</file>

<file path=ppt/tags/tag52.xml><?xml version="1.0" encoding="utf-8"?>
<p:tagLst xmlns:p="http://schemas.openxmlformats.org/presentationml/2006/main">
  <p:tag name="KSO_WM_DIAGRAM_VIRTUALLY_FRAME" val="{&quot;height&quot;:418.35850393700787,&quot;left&quot;:135.42503937007874,&quot;top&quot;:91.8311811023622,&quot;width&quot;:722.8749606299212}"/>
</p:tagLst>
</file>

<file path=ppt/tags/tag53.xml><?xml version="1.0" encoding="utf-8"?>
<p:tagLst xmlns:p="http://schemas.openxmlformats.org/presentationml/2006/main">
  <p:tag name="KSO_WM_DIAGRAM_VIRTUALLY_FRAME" val="{&quot;height&quot;:418.35850393700787,&quot;left&quot;:135.42503937007874,&quot;top&quot;:91.8311811023622,&quot;width&quot;:722.8749606299212}"/>
</p:tagLst>
</file>

<file path=ppt/tags/tag54.xml><?xml version="1.0" encoding="utf-8"?>
<p:tagLst xmlns:p="http://schemas.openxmlformats.org/presentationml/2006/main">
  <p:tag name="KSO_WM_DIAGRAM_VIRTUALLY_FRAME" val="{&quot;height&quot;:418.35850393700787,&quot;left&quot;:135.42503937007874,&quot;top&quot;:91.8311811023622,&quot;width&quot;:722.8749606299212}"/>
</p:tagLst>
</file>

<file path=ppt/tags/tag55.xml><?xml version="1.0" encoding="utf-8"?>
<p:tagLst xmlns:p="http://schemas.openxmlformats.org/presentationml/2006/main">
  <p:tag name="KSO_WM_DIAGRAM_VIRTUALLY_FRAME" val="{&quot;height&quot;:418.35850393700787,&quot;left&quot;:135.42503937007874,&quot;top&quot;:91.8311811023622,&quot;width&quot;:722.8749606299212}"/>
</p:tagLst>
</file>

<file path=ppt/tags/tag56.xml><?xml version="1.0" encoding="utf-8"?>
<p:tagLst xmlns:p="http://schemas.openxmlformats.org/presentationml/2006/main">
  <p:tag name="KSO_WM_DIAGRAM_VIRTUALLY_FRAME" val="{&quot;height&quot;:418.35850393700787,&quot;left&quot;:135.42503937007874,&quot;top&quot;:91.8311811023622,&quot;width&quot;:722.8749606299212}"/>
</p:tagLst>
</file>

<file path=ppt/tags/tag57.xml><?xml version="1.0" encoding="utf-8"?>
<p:tagLst xmlns:p="http://schemas.openxmlformats.org/presentationml/2006/main">
  <p:tag name="KSO_WM_DIAGRAM_VIRTUALLY_FRAME" val="{&quot;height&quot;:418.35850393700787,&quot;left&quot;:135.42503937007874,&quot;top&quot;:91.8311811023622,&quot;width&quot;:722.8749606299212}"/>
</p:tagLst>
</file>

<file path=ppt/tags/tag58.xml><?xml version="1.0" encoding="utf-8"?>
<p:tagLst xmlns:p="http://schemas.openxmlformats.org/presentationml/2006/main">
  <p:tag name="KSO_WM_DIAGRAM_VIRTUALLY_FRAME" val="{&quot;height&quot;:418.35850393700787,&quot;left&quot;:135.42503937007874,&quot;top&quot;:91.8311811023622,&quot;width&quot;:722.8749606299212}"/>
</p:tagLst>
</file>

<file path=ppt/tags/tag59.xml><?xml version="1.0" encoding="utf-8"?>
<p:tagLst xmlns:p="http://schemas.openxmlformats.org/presentationml/2006/main">
  <p:tag name="KSO_WM_DIAGRAM_VIRTUALLY_FRAME" val="{&quot;height&quot;:418.35850393700787,&quot;left&quot;:135.42503937007874,&quot;top&quot;:91.8311811023622,&quot;width&quot;:722.8749606299212}"/>
</p:tagLst>
</file>

<file path=ppt/tags/tag60.xml><?xml version="1.0" encoding="utf-8"?>
<p:tagLst xmlns:p="http://schemas.openxmlformats.org/presentationml/2006/main">
  <p:tag name="KSO_WM_DIAGRAM_VIRTUALLY_FRAME" val="{&quot;height&quot;:418.35850393700787,&quot;left&quot;:135.42503937007874,&quot;top&quot;:91.8311811023622,&quot;width&quot;:722.8749606299212}"/>
</p:tagLst>
</file>

<file path=ppt/tags/tag61.xml><?xml version="1.0" encoding="utf-8"?>
<p:tagLst xmlns:p="http://schemas.openxmlformats.org/presentationml/2006/main">
  <p:tag name="KSO_WM_DIAGRAM_VIRTUALLY_FRAME" val="{&quot;height&quot;:418.35850393700787,&quot;left&quot;:135.42503937007874,&quot;top&quot;:91.8311811023622,&quot;width&quot;:722.8749606299212}"/>
</p:tagLst>
</file>

<file path=ppt/tags/tag62.xml><?xml version="1.0" encoding="utf-8"?>
<p:tagLst xmlns:p="http://schemas.openxmlformats.org/presentationml/2006/main">
  <p:tag name="KSO_WM_DIAGRAM_VIRTUALLY_FRAME" val="{&quot;height&quot;:418.35850393700787,&quot;left&quot;:135.42503937007874,&quot;top&quot;:91.8311811023622,&quot;width&quot;:722.8749606299212}"/>
</p:tagLst>
</file>

<file path=ppt/tags/tag63.xml><?xml version="1.0" encoding="utf-8"?>
<p:tagLst xmlns:p="http://schemas.openxmlformats.org/presentationml/2006/main">
  <p:tag name="KSO_WM_DIAGRAM_VIRTUALLY_FRAME" val="{&quot;height&quot;:418.35850393700787,&quot;left&quot;:135.42503937007874,&quot;top&quot;:91.8311811023622,&quot;width&quot;:722.8749606299212}"/>
</p:tagLst>
</file>

<file path=ppt/tags/tag64.xml><?xml version="1.0" encoding="utf-8"?>
<p:tagLst xmlns:p="http://schemas.openxmlformats.org/presentationml/2006/main">
  <p:tag name="KSO_WM_DIAGRAM_VIRTUALLY_FRAME" val="{&quot;height&quot;:418.35850393700787,&quot;left&quot;:135.42503937007874,&quot;top&quot;:91.8311811023622,&quot;width&quot;:722.8749606299212}"/>
</p:tagLst>
</file>

<file path=ppt/tags/tag65.xml><?xml version="1.0" encoding="utf-8"?>
<p:tagLst xmlns:p="http://schemas.openxmlformats.org/presentationml/2006/main">
  <p:tag name="KSO_WM_DIAGRAM_VIRTUALLY_FRAME" val="{&quot;height&quot;:418.35850393700787,&quot;left&quot;:135.42503937007874,&quot;top&quot;:91.8311811023622,&quot;width&quot;:722.8749606299212}"/>
</p:tagLst>
</file>

<file path=ppt/tags/tag66.xml><?xml version="1.0" encoding="utf-8"?>
<p:tagLst xmlns:p="http://schemas.openxmlformats.org/presentationml/2006/main">
  <p:tag name="KSO_WM_DIAGRAM_VIRTUALLY_FRAME" val="{&quot;height&quot;:418.35850393700787,&quot;left&quot;:135.42503937007874,&quot;top&quot;:91.8311811023622,&quot;width&quot;:722.8749606299212}"/>
</p:tagLst>
</file>

<file path=ppt/tags/tag67.xml><?xml version="1.0" encoding="utf-8"?>
<p:tagLst xmlns:p="http://schemas.openxmlformats.org/presentationml/2006/main">
  <p:tag name="KSO_WM_DIAGRAM_VIRTUALLY_FRAME" val="{&quot;height&quot;:418.35850393700787,&quot;left&quot;:135.42503937007874,&quot;top&quot;:91.8311811023622,&quot;width&quot;:722.8749606299212}"/>
</p:tagLst>
</file>

<file path=ppt/tags/tag68.xml><?xml version="1.0" encoding="utf-8"?>
<p:tagLst xmlns:p="http://schemas.openxmlformats.org/presentationml/2006/main">
  <p:tag name="KSO_WM_DIAGRAM_VIRTUALLY_FRAME" val="{&quot;height&quot;:418.35850393700787,&quot;left&quot;:135.42503937007874,&quot;top&quot;:91.8311811023622,&quot;width&quot;:722.8749606299212}"/>
</p:tagLst>
</file>

<file path=ppt/tags/tag69.xml><?xml version="1.0" encoding="utf-8"?>
<p:tagLst xmlns:p="http://schemas.openxmlformats.org/presentationml/2006/main">
  <p:tag name="KSO_WM_DIAGRAM_VIRTUALLY_FRAME" val="{&quot;height&quot;:418.35850393700787,&quot;left&quot;:135.42503937007874,&quot;top&quot;:91.8311811023622,&quot;width&quot;:722.8749606299212}"/>
</p:tagLst>
</file>

<file path=ppt/tags/tag70.xml><?xml version="1.0" encoding="utf-8"?>
<p:tagLst xmlns:p="http://schemas.openxmlformats.org/presentationml/2006/main">
  <p:tag name="KSO_WM_DIAGRAM_VIRTUALLY_FRAME" val="{&quot;height&quot;:418.35850393700787,&quot;left&quot;:135.42503937007874,&quot;top&quot;:91.8311811023622,&quot;width&quot;:722.8749606299212}"/>
</p:tagLst>
</file>

<file path=ppt/tags/tag71.xml><?xml version="1.0" encoding="utf-8"?>
<p:tagLst xmlns:p="http://schemas.openxmlformats.org/presentationml/2006/main">
  <p:tag name="KSO_WM_DIAGRAM_VIRTUALLY_FRAME" val="{&quot;height&quot;:418.35850393700787,&quot;left&quot;:135.42503937007874,&quot;top&quot;:91.8311811023622,&quot;width&quot;:722.8749606299212}"/>
</p:tagLst>
</file>

<file path=ppt/tags/tag72.xml><?xml version="1.0" encoding="utf-8"?>
<p:tagLst xmlns:p="http://schemas.openxmlformats.org/presentationml/2006/main">
  <p:tag name="KSO_WM_DIAGRAM_VIRTUALLY_FRAME" val="{&quot;height&quot;:418.35850393700787,&quot;left&quot;:135.42503937007874,&quot;top&quot;:91.8311811023622,&quot;width&quot;:722.8749606299212}"/>
</p:tagLst>
</file>

<file path=ppt/tags/tag73.xml><?xml version="1.0" encoding="utf-8"?>
<p:tagLst xmlns:p="http://schemas.openxmlformats.org/presentationml/2006/main">
  <p:tag name="KSO_WM_DIAGRAM_VIRTUALLY_FRAME" val="{&quot;height&quot;:418.35850393700787,&quot;left&quot;:135.42503937007874,&quot;top&quot;:91.8311811023622,&quot;width&quot;:722.8749606299212}"/>
</p:tagLst>
</file>

<file path=ppt/tags/tag74.xml><?xml version="1.0" encoding="utf-8"?>
<p:tagLst xmlns:p="http://schemas.openxmlformats.org/presentationml/2006/main">
  <p:tag name="KSO_WM_DIAGRAM_VIRTUALLY_FRAME" val="{&quot;height&quot;:418.35850393700787,&quot;left&quot;:135.42503937007874,&quot;top&quot;:91.8311811023622,&quot;width&quot;:722.8749606299212}"/>
</p:tagLst>
</file>

<file path=ppt/tags/tag75.xml><?xml version="1.0" encoding="utf-8"?>
<p:tagLst xmlns:p="http://schemas.openxmlformats.org/presentationml/2006/main">
  <p:tag name="KSO_WM_DIAGRAM_VIRTUALLY_FRAME" val="{&quot;height&quot;:418.35850393700787,&quot;left&quot;:135.42503937007874,&quot;top&quot;:91.8311811023622,&quot;width&quot;:722.8749606299212}"/>
</p:tagLst>
</file>

<file path=ppt/tags/tag76.xml><?xml version="1.0" encoding="utf-8"?>
<p:tagLst xmlns:p="http://schemas.openxmlformats.org/presentationml/2006/main">
  <p:tag name="KSO_WM_DIAGRAM_VIRTUALLY_FRAME" val="{&quot;height&quot;:418.35850393700787,&quot;left&quot;:135.42503937007874,&quot;top&quot;:91.8311811023622,&quot;width&quot;:722.8749606299212}"/>
</p:tagLst>
</file>

<file path=ppt/tags/tag77.xml><?xml version="1.0" encoding="utf-8"?>
<p:tagLst xmlns:p="http://schemas.openxmlformats.org/presentationml/2006/main">
  <p:tag name="KSO_WM_DIAGRAM_VIRTUALLY_FRAME" val="{&quot;height&quot;:418.35850393700787,&quot;left&quot;:135.42503937007874,&quot;top&quot;:91.8311811023622,&quot;width&quot;:722.8749606299212}"/>
</p:tagLst>
</file>

<file path=ppt/tags/tag78.xml><?xml version="1.0" encoding="utf-8"?>
<p:tagLst xmlns:p="http://schemas.openxmlformats.org/presentationml/2006/main">
  <p:tag name="KSO_WM_DIAGRAM_VIRTUALLY_FRAME" val="{&quot;height&quot;:418.35850393700787,&quot;left&quot;:135.42503937007874,&quot;top&quot;:91.8311811023622,&quot;width&quot;:722.8749606299212}"/>
</p:tagLst>
</file>

<file path=ppt/tags/tag79.xml><?xml version="1.0" encoding="utf-8"?>
<p:tagLst xmlns:p="http://schemas.openxmlformats.org/presentationml/2006/main">
  <p:tag name="KSO_WM_DIAGRAM_VIRTUALLY_FRAME" val="{&quot;height&quot;:418.35850393700787,&quot;left&quot;:135.42503937007874,&quot;top&quot;:91.8311811023622,&quot;width&quot;:722.8749606299212}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UNIT_PLACING_PICTURE_USER_VIEWPORT" val="{&quot;height&quot;:6641,&quot;width&quot;:6641}"/>
</p:tagLst>
</file>

<file path=ppt/tags/tag82.xml><?xml version="1.0" encoding="utf-8"?>
<p:tagLst xmlns:p="http://schemas.openxmlformats.org/presentationml/2006/main">
  <p:tag name="KSO_WM_UNIT_PLACING_PICTURE_USER_VIEWPORT" val="{&quot;height&quot;:6641,&quot;width&quot;:6641}"/>
</p:tagLst>
</file>

<file path=ppt/tags/tag83.xml><?xml version="1.0" encoding="utf-8"?>
<p:tagLst xmlns:p="http://schemas.openxmlformats.org/presentationml/2006/main">
  <p:tag name="KSO_WM_DIAGRAM_VIRTUALLY_FRAME" val="{&quot;height&quot;:536.25,&quot;left&quot;:46.25110584888644,&quot;top&quot;:109.35,&quot;width&quot;:632.7488941511135}"/>
</p:tagLst>
</file>

<file path=ppt/tags/tag84.xml><?xml version="1.0" encoding="utf-8"?>
<p:tagLst xmlns:p="http://schemas.openxmlformats.org/presentationml/2006/main">
  <p:tag name="KSO_WM_DIAGRAM_VIRTUALLY_FRAME" val="{&quot;height&quot;:536.25,&quot;left&quot;:46.25110584888644,&quot;top&quot;:109.35,&quot;width&quot;:632.7488941511135}"/>
</p:tagLst>
</file>

<file path=ppt/tags/tag85.xml><?xml version="1.0" encoding="utf-8"?>
<p:tagLst xmlns:p="http://schemas.openxmlformats.org/presentationml/2006/main">
  <p:tag name="KSO_WM_DIAGRAM_VIRTUALLY_FRAME" val="{&quot;height&quot;:536.25,&quot;left&quot;:46.25110584888644,&quot;top&quot;:109.35,&quot;width&quot;:632.7488941511135}"/>
</p:tagLst>
</file>

<file path=ppt/tags/tag86.xml><?xml version="1.0" encoding="utf-8"?>
<p:tagLst xmlns:p="http://schemas.openxmlformats.org/presentationml/2006/main">
  <p:tag name="KSO_WM_DIAGRAM_VIRTUALLY_FRAME" val="{&quot;height&quot;:536.25,&quot;left&quot;:46.25110584888644,&quot;top&quot;:109.35,&quot;width&quot;:632.7488941511135}"/>
</p:tagLst>
</file>

<file path=ppt/tags/tag87.xml><?xml version="1.0" encoding="utf-8"?>
<p:tagLst xmlns:p="http://schemas.openxmlformats.org/presentationml/2006/main">
  <p:tag name="KSO_WM_DIAGRAM_VIRTUALLY_FRAME" val="{&quot;height&quot;:536.25,&quot;left&quot;:46.25110584888644,&quot;top&quot;:109.35,&quot;width&quot;:632.7488941511135}"/>
</p:tagLst>
</file>

<file path=ppt/tags/tag88.xml><?xml version="1.0" encoding="utf-8"?>
<p:tagLst xmlns:p="http://schemas.openxmlformats.org/presentationml/2006/main">
  <p:tag name="KSO_WM_DIAGRAM_VIRTUALLY_FRAME" val="{&quot;height&quot;:536.25,&quot;left&quot;:46.25110584888644,&quot;top&quot;:109.35,&quot;width&quot;:632.7488941511135}"/>
</p:tagLst>
</file>

<file path=ppt/tags/tag89.xml><?xml version="1.0" encoding="utf-8"?>
<p:tagLst xmlns:p="http://schemas.openxmlformats.org/presentationml/2006/main">
  <p:tag name="KSO_WM_DIAGRAM_VIRTUALLY_FRAME" val="{&quot;height&quot;:536.25,&quot;left&quot;:46.25110584888644,&quot;top&quot;:109.35,&quot;width&quot;:632.7488941511135}"/>
</p:tagLst>
</file>

<file path=ppt/tags/tag90.xml><?xml version="1.0" encoding="utf-8"?>
<p:tagLst xmlns:p="http://schemas.openxmlformats.org/presentationml/2006/main">
  <p:tag name="KSO_WM_DIAGRAM_VIRTUALLY_FRAME" val="{&quot;height&quot;:536.25,&quot;left&quot;:46.25110584888644,&quot;top&quot;:109.35,&quot;width&quot;:632.7488941511135}"/>
</p:tagLst>
</file>

<file path=ppt/tags/tag91.xml><?xml version="1.0" encoding="utf-8"?>
<p:tagLst xmlns:p="http://schemas.openxmlformats.org/presentationml/2006/main">
  <p:tag name="KSO_WM_DIAGRAM_VIRTUALLY_FRAME" val="{&quot;height&quot;:533.65,&quot;left&quot;:46.25110584888644,&quot;top&quot;:111.95,&quot;width&quot;:632.7488941511135}"/>
</p:tagLst>
</file>

<file path=ppt/tags/tag92.xml><?xml version="1.0" encoding="utf-8"?>
<p:tagLst xmlns:p="http://schemas.openxmlformats.org/presentationml/2006/main">
  <p:tag name="KSO_WM_DIAGRAM_VIRTUALLY_FRAME" val="{&quot;height&quot;:533.65,&quot;left&quot;:46.25110584888644,&quot;top&quot;:111.95,&quot;width&quot;:632.7488941511135}"/>
</p:tagLst>
</file>

<file path=ppt/tags/tag93.xml><?xml version="1.0" encoding="utf-8"?>
<p:tagLst xmlns:p="http://schemas.openxmlformats.org/presentationml/2006/main">
  <p:tag name="KSO_WM_DIAGRAM_VIRTUALLY_FRAME" val="{&quot;height&quot;:533.65,&quot;left&quot;:46.25110584888644,&quot;top&quot;:111.95,&quot;width&quot;:632.7488941511135}"/>
</p:tagLst>
</file>

<file path=ppt/tags/tag94.xml><?xml version="1.0" encoding="utf-8"?>
<p:tagLst xmlns:p="http://schemas.openxmlformats.org/presentationml/2006/main">
  <p:tag name="KSO_WM_DIAGRAM_VIRTUALLY_FRAME" val="{&quot;height&quot;:533.65,&quot;left&quot;:46.25110584888644,&quot;top&quot;:111.95,&quot;width&quot;:632.7488941511135}"/>
</p:tagLst>
</file>

<file path=ppt/tags/tag9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6.xml><?xml version="1.0" encoding="utf-8"?>
<p:tagLst xmlns:p="http://schemas.openxmlformats.org/presentationml/2006/main">
  <p:tag name="KSO_WM_DIAGRAM_VIRTUALLY_FRAME" val="{&quot;height&quot;:418.4,&quot;left&quot;:89.5,&quot;top&quot;:93.75,&quot;width&quot;:756.45}"/>
</p:tagLst>
</file>

<file path=ppt/tags/tag97.xml><?xml version="1.0" encoding="utf-8"?>
<p:tagLst xmlns:p="http://schemas.openxmlformats.org/presentationml/2006/main">
  <p:tag name="KSO_WM_DIAGRAM_VIRTUALLY_FRAME" val="{&quot;height&quot;:328.7000000000003,&quot;left&quot;:89.5,&quot;top&quot;:93.75,&quot;width&quot;:756.45}"/>
</p:tagLst>
</file>

<file path=ppt/tags/tag98.xml><?xml version="1.0" encoding="utf-8"?>
<p:tagLst xmlns:p="http://schemas.openxmlformats.org/presentationml/2006/main">
  <p:tag name="KSO_WM_DIAGRAM_VIRTUALLY_FRAME" val="{&quot;height&quot;:328.7000000000003,&quot;left&quot;:89.5,&quot;top&quot;:93.75,&quot;width&quot;:756.45}"/>
</p:tagLst>
</file>

<file path=ppt/tags/tag99.xml><?xml version="1.0" encoding="utf-8"?>
<p:tagLst xmlns:p="http://schemas.openxmlformats.org/presentationml/2006/main">
  <p:tag name="KSO_WM_DIAGRAM_VIRTUALLY_FRAME" val="{&quot;height&quot;:328.7000000000003,&quot;left&quot;:89.5,&quot;top&quot;:93.75,&quot;width&quot;:756.45}"/>
</p:tagLst>
</file>

<file path=ppt/tags/tag100.xml><?xml version="1.0" encoding="utf-8"?>
<p:tagLst xmlns:p="http://schemas.openxmlformats.org/presentationml/2006/main">
  <p:tag name="KSO_WM_DIAGRAM_VIRTUALLY_FRAME" val="{&quot;height&quot;:328.7000000000003,&quot;left&quot;:89.5,&quot;top&quot;:93.75,&quot;width&quot;:756.45}"/>
</p:tagLst>
</file>

<file path=ppt/tags/tag101.xml><?xml version="1.0" encoding="utf-8"?>
<p:tagLst xmlns:p="http://schemas.openxmlformats.org/presentationml/2006/main">
  <p:tag name="KSO_WM_DIAGRAM_VIRTUALLY_FRAME" val="{&quot;height&quot;:328.7000000000003,&quot;left&quot;:89.5,&quot;top&quot;:93.75,&quot;width&quot;:756.45}"/>
</p:tagLst>
</file>

<file path=ppt/tags/tag102.xml><?xml version="1.0" encoding="utf-8"?>
<p:tagLst xmlns:p="http://schemas.openxmlformats.org/presentationml/2006/main">
  <p:tag name="KSO_WM_DIAGRAM_VIRTUALLY_FRAME" val="{&quot;height&quot;:328.7000000000003,&quot;left&quot;:89.5,&quot;top&quot;:93.75,&quot;width&quot;:756.45}"/>
</p:tagLst>
</file>

<file path=ppt/tags/tag103.xml><?xml version="1.0" encoding="utf-8"?>
<p:tagLst xmlns:p="http://schemas.openxmlformats.org/presentationml/2006/main">
  <p:tag name="KSO_WM_DIAGRAM_VIRTUALLY_FRAME" val="{&quot;height&quot;:328.7000000000003,&quot;left&quot;:89.5,&quot;top&quot;:93.75,&quot;width&quot;:756.45}"/>
</p:tagLst>
</file>

<file path=ppt/tags/tag104.xml><?xml version="1.0" encoding="utf-8"?>
<p:tagLst xmlns:p="http://schemas.openxmlformats.org/presentationml/2006/main">
  <p:tag name="KSO_WM_DIAGRAM_VIRTUALLY_FRAME" val="{&quot;height&quot;:328.7000000000003,&quot;left&quot;:89.5,&quot;top&quot;:93.75,&quot;width&quot;:756.45}"/>
</p:tagLst>
</file>

<file path=ppt/tags/tag105.xml><?xml version="1.0" encoding="utf-8"?>
<p:tagLst xmlns:p="http://schemas.openxmlformats.org/presentationml/2006/main">
  <p:tag name="KSO_WM_DIAGRAM_VIRTUALLY_FRAME" val="{&quot;height&quot;:328.7000000000003,&quot;left&quot;:89.5,&quot;top&quot;:93.75,&quot;width&quot;:756.45}"/>
</p:tagLst>
</file>

<file path=ppt/tags/tag106.xml><?xml version="1.0" encoding="utf-8"?>
<p:tagLst xmlns:p="http://schemas.openxmlformats.org/presentationml/2006/main">
  <p:tag name="KSO_WM_DIAGRAM_VIRTUALLY_FRAME" val="{&quot;height&quot;:363.35,&quot;left&quot;:25.5,&quot;top&quot;:82.65,&quot;width&quot;:907.1}"/>
</p:tagLst>
</file>

<file path=ppt/tags/tag10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8.xml><?xml version="1.0" encoding="utf-8"?>
<p:tagLst xmlns:p="http://schemas.openxmlformats.org/presentationml/2006/main">
  <p:tag name="KSO_WM_DIAGRAM_VIRTUALLY_FRAME" val="{&quot;height&quot;:328.7000000000003,&quot;left&quot;:89.5,&quot;top&quot;:93.75,&quot;width&quot;:756.45}"/>
</p:tagLst>
</file>

<file path=ppt/tags/tag109.xml><?xml version="1.0" encoding="utf-8"?>
<p:tagLst xmlns:p="http://schemas.openxmlformats.org/presentationml/2006/main">
  <p:tag name="KSO_WM_DIAGRAM_VIRTUALLY_FRAME" val="{&quot;height&quot;:328.7000000000003,&quot;left&quot;:89.5,&quot;top&quot;:93.75,&quot;width&quot;:756.45}"/>
</p:tagLst>
</file>

<file path=ppt/tags/tag11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1.xml><?xml version="1.0" encoding="utf-8"?>
<p:tagLst xmlns:p="http://schemas.openxmlformats.org/presentationml/2006/main">
  <p:tag name="KSO_WM_DIAGRAM_VIRTUALLY_FRAME" val="{&quot;height&quot;:386.2688188976378,&quot;left&quot;:42.8,&quot;top&quot;:109.1311811023622,&quot;width&quot;:874.85}"/>
</p:tagLst>
</file>

<file path=ppt/tags/tag112.xml><?xml version="1.0" encoding="utf-8"?>
<p:tagLst xmlns:p="http://schemas.openxmlformats.org/presentationml/2006/main">
  <p:tag name="KSO_WM_DIAGRAM_VIRTUALLY_FRAME" val="{&quot;height&quot;:386.2688188976378,&quot;left&quot;:42.8,&quot;top&quot;:109.1311811023622,&quot;width&quot;:874.85}"/>
</p:tagLst>
</file>

<file path=ppt/tags/tag113.xml><?xml version="1.0" encoding="utf-8"?>
<p:tagLst xmlns:p="http://schemas.openxmlformats.org/presentationml/2006/main">
  <p:tag name="KSO_WM_DIAGRAM_VIRTUALLY_FRAME" val="{&quot;height&quot;:386.2688188976378,&quot;left&quot;:42.8,&quot;top&quot;:109.1311811023622,&quot;width&quot;:874.85}"/>
</p:tagLst>
</file>

<file path=ppt/tags/tag114.xml><?xml version="1.0" encoding="utf-8"?>
<p:tagLst xmlns:p="http://schemas.openxmlformats.org/presentationml/2006/main">
  <p:tag name="KSO_WM_DIAGRAM_VIRTUALLY_FRAME" val="{&quot;height&quot;:386.2688188976378,&quot;left&quot;:42.8,&quot;top&quot;:109.1311811023622,&quot;width&quot;:874.85}"/>
</p:tagLst>
</file>

<file path=ppt/tags/tag115.xml><?xml version="1.0" encoding="utf-8"?>
<p:tagLst xmlns:p="http://schemas.openxmlformats.org/presentationml/2006/main">
  <p:tag name="KSO_WM_DIAGRAM_VIRTUALLY_FRAME" val="{&quot;height&quot;:386.2688188976378,&quot;left&quot;:42.8,&quot;top&quot;:109.1311811023622,&quot;width&quot;:874.85}"/>
</p:tagLst>
</file>

<file path=ppt/tags/tag116.xml><?xml version="1.0" encoding="utf-8"?>
<p:tagLst xmlns:p="http://schemas.openxmlformats.org/presentationml/2006/main">
  <p:tag name="KSO_WM_DIAGRAM_VIRTUALLY_FRAME" val="{&quot;height&quot;:386.2688188976378,&quot;left&quot;:42.8,&quot;top&quot;:109.1311811023622,&quot;width&quot;:874.85}"/>
</p:tagLst>
</file>

<file path=ppt/tags/tag117.xml><?xml version="1.0" encoding="utf-8"?>
<p:tagLst xmlns:p="http://schemas.openxmlformats.org/presentationml/2006/main">
  <p:tag name="KSO_WM_DIAGRAM_VIRTUALLY_FRAME" val="{&quot;height&quot;:386.2688188976378,&quot;left&quot;:42.8,&quot;top&quot;:109.1311811023622,&quot;width&quot;:874.85}"/>
</p:tagLst>
</file>

<file path=ppt/tags/tag11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9.xml><?xml version="1.0" encoding="utf-8"?>
<p:tagLst xmlns:p="http://schemas.openxmlformats.org/presentationml/2006/main">
  <p:tag name="KSO_WM_DIAGRAM_VIRTUALLY_FRAME" val="{&quot;height&quot;:328.7000000000003,&quot;left&quot;:89.5,&quot;top&quot;:93.75,&quot;width&quot;:756.45}"/>
</p:tagLst>
</file>

<file path=ppt/tags/tag120.xml><?xml version="1.0" encoding="utf-8"?>
<p:tagLst xmlns:p="http://schemas.openxmlformats.org/presentationml/2006/main">
  <p:tag name="KSO_WM_DIAGRAM_VIRTUALLY_FRAME" val="{&quot;height&quot;:328.7000000000003,&quot;left&quot;:89.5,&quot;top&quot;:93.75,&quot;width&quot;:756.45}"/>
</p:tagLst>
</file>

<file path=ppt/tags/tag12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2.xml><?xml version="1.0" encoding="utf-8"?>
<p:tagLst xmlns:p="http://schemas.openxmlformats.org/presentationml/2006/main">
  <p:tag name="KSO_WM_DIAGRAM_VIRTUALLY_FRAME" val="{&quot;height&quot;:442.6087312817782,&quot;left&quot;:393.6,&quot;top&quot;:136.75,&quot;width&quot;:547.05}"/>
</p:tagLst>
</file>

<file path=ppt/tags/tag123.xml><?xml version="1.0" encoding="utf-8"?>
<p:tagLst xmlns:p="http://schemas.openxmlformats.org/presentationml/2006/main">
  <p:tag name="KSO_WM_DIAGRAM_VIRTUALLY_FRAME" val="{&quot;height&quot;:442.6087312817782,&quot;left&quot;:393.6,&quot;top&quot;:136.75,&quot;width&quot;:547.05}"/>
</p:tagLst>
</file>

<file path=ppt/tags/tag124.xml><?xml version="1.0" encoding="utf-8"?>
<p:tagLst xmlns:p="http://schemas.openxmlformats.org/presentationml/2006/main">
  <p:tag name="KSO_WM_DIAGRAM_VIRTUALLY_FRAME" val="{&quot;height&quot;:442.6087312817782,&quot;left&quot;:393.6,&quot;top&quot;:136.75,&quot;width&quot;:547.05}"/>
</p:tagLst>
</file>

<file path=ppt/tags/tag125.xml><?xml version="1.0" encoding="utf-8"?>
<p:tagLst xmlns:p="http://schemas.openxmlformats.org/presentationml/2006/main">
  <p:tag name="KSO_WM_DIAGRAM_VIRTUALLY_FRAME" val="{&quot;height&quot;:442.6087312817782,&quot;left&quot;:393.6,&quot;top&quot;:136.75,&quot;width&quot;:547.05}"/>
</p:tagLst>
</file>

<file path=ppt/tags/tag126.xml><?xml version="1.0" encoding="utf-8"?>
<p:tagLst xmlns:p="http://schemas.openxmlformats.org/presentationml/2006/main">
  <p:tag name="KSO_WM_DIAGRAM_VIRTUALLY_FRAME" val="{&quot;height&quot;:442.6087312817782,&quot;left&quot;:393.6,&quot;top&quot;:136.75,&quot;width&quot;:547.05}"/>
</p:tagLst>
</file>

<file path=ppt/tags/tag127.xml><?xml version="1.0" encoding="utf-8"?>
<p:tagLst xmlns:p="http://schemas.openxmlformats.org/presentationml/2006/main">
  <p:tag name="KSO_WM_DIAGRAM_VIRTUALLY_FRAME" val="{&quot;height&quot;:442.6087312817782,&quot;left&quot;:393.6,&quot;top&quot;:136.75,&quot;width&quot;:547.05}"/>
</p:tagLst>
</file>

<file path=ppt/tags/tag128.xml><?xml version="1.0" encoding="utf-8"?>
<p:tagLst xmlns:p="http://schemas.openxmlformats.org/presentationml/2006/main">
  <p:tag name="KSO_WM_DIAGRAM_VIRTUALLY_FRAME" val="{&quot;height&quot;:442.6087312817782,&quot;left&quot;:393.6,&quot;top&quot;:136.75,&quot;width&quot;:547.05}"/>
</p:tagLst>
</file>

<file path=ppt/tags/tag129.xml><?xml version="1.0" encoding="utf-8"?>
<p:tagLst xmlns:p="http://schemas.openxmlformats.org/presentationml/2006/main">
  <p:tag name="KSO_WM_DIAGRAM_VIRTUALLY_FRAME" val="{&quot;height&quot;:442.6087312817782,&quot;left&quot;:393.6,&quot;top&quot;:136.75,&quot;width&quot;:547.05}"/>
</p:tagLst>
</file>

<file path=ppt/tags/tag130.xml><?xml version="1.0" encoding="utf-8"?>
<p:tagLst xmlns:p="http://schemas.openxmlformats.org/presentationml/2006/main">
  <p:tag name="KSO_WM_DIAGRAM_VIRTUALLY_FRAME" val="{&quot;height&quot;:442.6087312817782,&quot;left&quot;:393.6,&quot;top&quot;:136.75,&quot;width&quot;:547.05}"/>
</p:tagLst>
</file>

<file path=ppt/tags/tag131.xml><?xml version="1.0" encoding="utf-8"?>
<p:tagLst xmlns:p="http://schemas.openxmlformats.org/presentationml/2006/main">
  <p:tag name="KSO_WM_DIAGRAM_VIRTUALLY_FRAME" val="{&quot;height&quot;:442.6087312817782,&quot;left&quot;:393.6,&quot;top&quot;:136.75,&quot;width&quot;:547.05}"/>
</p:tagLst>
</file>

<file path=ppt/tags/tag132.xml><?xml version="1.0" encoding="utf-8"?>
<p:tagLst xmlns:p="http://schemas.openxmlformats.org/presentationml/2006/main">
  <p:tag name="KSO_WM_DIAGRAM_VIRTUALLY_FRAME" val="{&quot;height&quot;:442.6087312817782,&quot;left&quot;:393.6,&quot;top&quot;:136.75,&quot;width&quot;:547.05}"/>
</p:tagLst>
</file>

<file path=ppt/tags/tag13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4.xml><?xml version="1.0" encoding="utf-8"?>
<p:tagLst xmlns:p="http://schemas.openxmlformats.org/presentationml/2006/main">
  <p:tag name="KSO_WM_DIAGRAM_VIRTUALLY_FRAME" val="{&quot;height&quot;:447.91881889763783,&quot;left&quot;:53.45,&quot;top&quot;:78.4811811023622,&quot;width&quot;:906.5}"/>
</p:tagLst>
</file>

<file path=ppt/tags/tag135.xml><?xml version="1.0" encoding="utf-8"?>
<p:tagLst xmlns:p="http://schemas.openxmlformats.org/presentationml/2006/main">
  <p:tag name="KSO_WM_DIAGRAM_VIRTUALLY_FRAME" val="{&quot;height&quot;:447.91881889763783,&quot;left&quot;:53.45,&quot;top&quot;:78.4811811023622,&quot;width&quot;:906.5}"/>
</p:tagLst>
</file>

<file path=ppt/tags/tag136.xml><?xml version="1.0" encoding="utf-8"?>
<p:tagLst xmlns:p="http://schemas.openxmlformats.org/presentationml/2006/main">
  <p:tag name="KSO_WM_DIAGRAM_VIRTUALLY_FRAME" val="{&quot;height&quot;:447.91881889763783,&quot;left&quot;:53.45,&quot;top&quot;:78.4811811023622,&quot;width&quot;:906.5}"/>
</p:tagLst>
</file>

<file path=ppt/tags/tag137.xml><?xml version="1.0" encoding="utf-8"?>
<p:tagLst xmlns:p="http://schemas.openxmlformats.org/presentationml/2006/main">
  <p:tag name="KSO_WM_DIAGRAM_VIRTUALLY_FRAME" val="{&quot;height&quot;:447.91881889763783,&quot;left&quot;:53.45,&quot;top&quot;:78.4811811023622,&quot;width&quot;:906.5}"/>
</p:tagLst>
</file>

<file path=ppt/tags/tag138.xml><?xml version="1.0" encoding="utf-8"?>
<p:tagLst xmlns:p="http://schemas.openxmlformats.org/presentationml/2006/main">
  <p:tag name="KSO_WM_DIAGRAM_VIRTUALLY_FRAME" val="{&quot;height&quot;:447.91881889763783,&quot;left&quot;:53.45,&quot;top&quot;:78.4811811023622,&quot;width&quot;:906.5}"/>
</p:tagLst>
</file>

<file path=ppt/tags/tag139.xml><?xml version="1.0" encoding="utf-8"?>
<p:tagLst xmlns:p="http://schemas.openxmlformats.org/presentationml/2006/main">
  <p:tag name="KSO_WM_DIAGRAM_VIRTUALLY_FRAME" val="{&quot;height&quot;:447.91881889763783,&quot;left&quot;:53.45,&quot;top&quot;:78.4811811023622,&quot;width&quot;:906.5}"/>
</p:tagLst>
</file>

<file path=ppt/tags/tag140.xml><?xml version="1.0" encoding="utf-8"?>
<p:tagLst xmlns:p="http://schemas.openxmlformats.org/presentationml/2006/main">
  <p:tag name="KSO_WM_DIAGRAM_VIRTUALLY_FRAME" val="{&quot;height&quot;:447.91881889763783,&quot;left&quot;:53.45,&quot;top&quot;:78.4811811023622,&quot;width&quot;:906.5}"/>
</p:tagLst>
</file>

<file path=ppt/tags/tag141.xml><?xml version="1.0" encoding="utf-8"?>
<p:tagLst xmlns:p="http://schemas.openxmlformats.org/presentationml/2006/main">
  <p:tag name="KSO_WM_DIAGRAM_VIRTUALLY_FRAME" val="{&quot;height&quot;:447.91881889763783,&quot;left&quot;:53.45,&quot;top&quot;:78.4811811023622,&quot;width&quot;:906.5}"/>
</p:tagLst>
</file>

<file path=ppt/tags/tag142.xml><?xml version="1.0" encoding="utf-8"?>
<p:tagLst xmlns:p="http://schemas.openxmlformats.org/presentationml/2006/main">
  <p:tag name="KSO_WM_DIAGRAM_VIRTUALLY_FRAME" val="{&quot;height&quot;:447.91881889763783,&quot;left&quot;:53.45,&quot;top&quot;:78.4811811023622,&quot;width&quot;:906.5}"/>
</p:tagLst>
</file>

<file path=ppt/tags/tag143.xml><?xml version="1.0" encoding="utf-8"?>
<p:tagLst xmlns:p="http://schemas.openxmlformats.org/presentationml/2006/main">
  <p:tag name="KSO_WM_DIAGRAM_VIRTUALLY_FRAME" val="{&quot;height&quot;:447.91881889763783,&quot;left&quot;:53.45,&quot;top&quot;:78.4811811023622,&quot;width&quot;:906.5}"/>
</p:tagLst>
</file>

<file path=ppt/tags/tag144.xml><?xml version="1.0" encoding="utf-8"?>
<p:tagLst xmlns:p="http://schemas.openxmlformats.org/presentationml/2006/main">
  <p:tag name="KSO_WM_DIAGRAM_VIRTUALLY_FRAME" val="{&quot;height&quot;:447.91881889763783,&quot;left&quot;:53.45,&quot;top&quot;:78.4811811023622,&quot;width&quot;:906.5}"/>
</p:tagLst>
</file>

<file path=ppt/tags/tag145.xml><?xml version="1.0" encoding="utf-8"?>
<p:tagLst xmlns:p="http://schemas.openxmlformats.org/presentationml/2006/main">
  <p:tag name="KSO_WM_DIAGRAM_VIRTUALLY_FRAME" val="{&quot;height&quot;:447.91881889763783,&quot;left&quot;:53.45,&quot;top&quot;:78.4811811023622,&quot;width&quot;:906.5}"/>
</p:tagLst>
</file>

<file path=ppt/tags/tag146.xml><?xml version="1.0" encoding="utf-8"?>
<p:tagLst xmlns:p="http://schemas.openxmlformats.org/presentationml/2006/main">
  <p:tag name="KSO_WM_DIAGRAM_VIRTUALLY_FRAME" val="{&quot;height&quot;:447.91881889763783,&quot;left&quot;:53.45,&quot;top&quot;:78.4811811023622,&quot;width&quot;:906.5}"/>
</p:tagLst>
</file>

<file path=ppt/tags/tag147.xml><?xml version="1.0" encoding="utf-8"?>
<p:tagLst xmlns:p="http://schemas.openxmlformats.org/presentationml/2006/main">
  <p:tag name="KSO_WM_DIAGRAM_VIRTUALLY_FRAME" val="{&quot;height&quot;:447.91881889763783,&quot;left&quot;:53.45,&quot;top&quot;:78.4811811023622,&quot;width&quot;:906.5}"/>
</p:tagLst>
</file>

<file path=ppt/tags/tag148.xml><?xml version="1.0" encoding="utf-8"?>
<p:tagLst xmlns:p="http://schemas.openxmlformats.org/presentationml/2006/main">
  <p:tag name="KSO_WM_DIAGRAM_VIRTUALLY_FRAME" val="{&quot;height&quot;:447.91881889763783,&quot;left&quot;:53.45,&quot;top&quot;:78.4811811023622,&quot;width&quot;:906.5}"/>
</p:tagLst>
</file>

<file path=ppt/tags/tag149.xml><?xml version="1.0" encoding="utf-8"?>
<p:tagLst xmlns:p="http://schemas.openxmlformats.org/presentationml/2006/main">
  <p:tag name="KSO_WM_DIAGRAM_VIRTUALLY_FRAME" val="{&quot;height&quot;:447.91881889763783,&quot;left&quot;:53.45,&quot;top&quot;:78.4811811023622,&quot;width&quot;:906.5}"/>
</p:tagLst>
</file>

<file path=ppt/tags/tag150.xml><?xml version="1.0" encoding="utf-8"?>
<p:tagLst xmlns:p="http://schemas.openxmlformats.org/presentationml/2006/main">
  <p:tag name="KSO_WM_DIAGRAM_VIRTUALLY_FRAME" val="{&quot;height&quot;:447.91881889763783,&quot;left&quot;:53.45,&quot;top&quot;:78.4811811023622,&quot;width&quot;:906.5}"/>
</p:tagLst>
</file>

<file path=ppt/tags/tag151.xml><?xml version="1.0" encoding="utf-8"?>
<p:tagLst xmlns:p="http://schemas.openxmlformats.org/presentationml/2006/main">
  <p:tag name="KSO_WM_DIAGRAM_VIRTUALLY_FRAME" val="{&quot;height&quot;:447.91881889763783,&quot;left&quot;:53.45,&quot;top&quot;:78.4811811023622,&quot;width&quot;:906.5}"/>
</p:tagLst>
</file>

<file path=ppt/tags/tag152.xml><?xml version="1.0" encoding="utf-8"?>
<p:tagLst xmlns:p="http://schemas.openxmlformats.org/presentationml/2006/main">
  <p:tag name="KSO_WM_DIAGRAM_VIRTUALLY_FRAME" val="{&quot;height&quot;:447.91881889763783,&quot;left&quot;:53.45,&quot;top&quot;:78.4811811023622,&quot;width&quot;:906.5}"/>
</p:tagLst>
</file>

<file path=ppt/tags/tag153.xml><?xml version="1.0" encoding="utf-8"?>
<p:tagLst xmlns:p="http://schemas.openxmlformats.org/presentationml/2006/main">
  <p:tag name="KSO_WM_DIAGRAM_VIRTUALLY_FRAME" val="{&quot;height&quot;:447.91881889763783,&quot;left&quot;:53.45,&quot;top&quot;:78.4811811023622,&quot;width&quot;:906.5}"/>
</p:tagLst>
</file>

<file path=ppt/tags/tag15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59.xml><?xml version="1.0" encoding="utf-8"?>
<p:tagLst xmlns:p="http://schemas.openxmlformats.org/presentationml/2006/main">
  <p:tag name="KSO_WM_DIAGRAM_VIRTUALLY_FRAME" val="{&quot;height&quot;:390.5,&quot;left&quot;:23.25,&quot;top&quot;:82.65,&quot;width&quot;:936.7}"/>
</p:tagLst>
</file>

<file path=ppt/tags/tag160.xml><?xml version="1.0" encoding="utf-8"?>
<p:tagLst xmlns:p="http://schemas.openxmlformats.org/presentationml/2006/main">
  <p:tag name="KSO_WM_DIAGRAM_VIRTUALLY_FRAME" val="{&quot;height&quot;:374.4,&quot;left&quot;:41.55,&quot;top&quot;:99.6,&quot;width&quot;:874.4}"/>
</p:tagLst>
</file>

<file path=ppt/tags/tag16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62.xml><?xml version="1.0" encoding="utf-8"?>
<p:tagLst xmlns:p="http://schemas.openxmlformats.org/presentationml/2006/main">
  <p:tag name="KSO_WM_DIAGRAM_VIRTUALLY_FRAME" val="{&quot;height&quot;:393.85296001855767,&quot;left&quot;:41.55,&quot;top&quot;:99.6,&quot;width&quot;:874.4}"/>
</p:tagLst>
</file>

<file path=ppt/tags/tag163.xml><?xml version="1.0" encoding="utf-8"?>
<p:tagLst xmlns:p="http://schemas.openxmlformats.org/presentationml/2006/main">
  <p:tag name="KSO_WM_DIAGRAM_VIRTUALLY_FRAME" val="{&quot;height&quot;:393.85296001855767,&quot;left&quot;:41.55,&quot;top&quot;:99.6,&quot;width&quot;:874.4}"/>
</p:tagLst>
</file>

<file path=ppt/tags/tag164.xml><?xml version="1.0" encoding="utf-8"?>
<p:tagLst xmlns:p="http://schemas.openxmlformats.org/presentationml/2006/main">
  <p:tag name="KSO_WM_UNIT_PLACING_PICTURE_USER_VIEWPORT" val="{&quot;height&quot;:6641,&quot;width&quot;:6641}"/>
  <p:tag name="KSO_WM_DIAGRAM_VIRTUALLY_FRAME" val="{&quot;height&quot;:393.85296001855767,&quot;left&quot;:41.55,&quot;top&quot;:99.6,&quot;width&quot;:874.4}"/>
</p:tagLst>
</file>

<file path=ppt/tags/tag165.xml><?xml version="1.0" encoding="utf-8"?>
<p:tagLst xmlns:p="http://schemas.openxmlformats.org/presentationml/2006/main">
  <p:tag name="KSO_WM_DIAGRAM_VIRTUALLY_FRAME" val="{&quot;height&quot;:393.85296001855767,&quot;left&quot;:41.55,&quot;top&quot;:99.6,&quot;width&quot;:874.4}"/>
</p:tagLst>
</file>

<file path=ppt/tags/tag166.xml><?xml version="1.0" encoding="utf-8"?>
<p:tagLst xmlns:p="http://schemas.openxmlformats.org/presentationml/2006/main">
  <p:tag name="KSO_WM_DIAGRAM_VIRTUALLY_FRAME" val="{&quot;height&quot;:393.85296001855767,&quot;left&quot;:41.55,&quot;top&quot;:99.6,&quot;width&quot;:874.4}"/>
</p:tagLst>
</file>

<file path=ppt/tags/tag167.xml><?xml version="1.0" encoding="utf-8"?>
<p:tagLst xmlns:p="http://schemas.openxmlformats.org/presentationml/2006/main">
  <p:tag name="KSO_WM_UNIT_PLACING_PICTURE_USER_VIEWPORT" val="{&quot;height&quot;:6641,&quot;width&quot;:6641}"/>
  <p:tag name="KSO_WM_DIAGRAM_VIRTUALLY_FRAME" val="{&quot;height&quot;:393.85296001855767,&quot;left&quot;:41.55,&quot;top&quot;:99.6,&quot;width&quot;:874.4}"/>
</p:tagLst>
</file>

<file path=ppt/tags/tag168.xml><?xml version="1.0" encoding="utf-8"?>
<p:tagLst xmlns:p="http://schemas.openxmlformats.org/presentationml/2006/main">
  <p:tag name="KSO_WM_DIAGRAM_VIRTUALLY_FRAME" val="{&quot;height&quot;:393.85296001855767,&quot;left&quot;:41.55,&quot;top&quot;:99.6,&quot;width&quot;:874.4}"/>
</p:tagLst>
</file>

<file path=ppt/tags/tag169.xml><?xml version="1.0" encoding="utf-8"?>
<p:tagLst xmlns:p="http://schemas.openxmlformats.org/presentationml/2006/main">
  <p:tag name="KSO_WM_DIAGRAM_VIRTUALLY_FRAME" val="{&quot;height&quot;:393.85296001855767,&quot;left&quot;:41.55,&quot;top&quot;:99.6,&quot;width&quot;:874.4}"/>
</p:tagLst>
</file>

<file path=ppt/tags/tag170.xml><?xml version="1.0" encoding="utf-8"?>
<p:tagLst xmlns:p="http://schemas.openxmlformats.org/presentationml/2006/main">
  <p:tag name="KSO_WM_DIAGRAM_VIRTUALLY_FRAME" val="{&quot;height&quot;:393.85296001855767,&quot;left&quot;:41.55,&quot;top&quot;:99.6,&quot;width&quot;:874.4}"/>
</p:tagLst>
</file>

<file path=ppt/tags/tag171.xml><?xml version="1.0" encoding="utf-8"?>
<p:tagLst xmlns:p="http://schemas.openxmlformats.org/presentationml/2006/main">
  <p:tag name="KSO_WM_DIAGRAM_VIRTUALLY_FRAME" val="{&quot;height&quot;:393.85296001855767,&quot;left&quot;:41.55,&quot;top&quot;:99.6,&quot;width&quot;:874.4}"/>
</p:tagLst>
</file>

<file path=ppt/tags/tag172.xml><?xml version="1.0" encoding="utf-8"?>
<p:tagLst xmlns:p="http://schemas.openxmlformats.org/presentationml/2006/main">
  <p:tag name="KSO_WM_DIAGRAM_VIRTUALLY_FRAME" val="{&quot;height&quot;:393.85296001855767,&quot;left&quot;:41.55,&quot;top&quot;:99.6,&quot;width&quot;:874.4}"/>
</p:tagLst>
</file>

<file path=ppt/tags/tag173.xml><?xml version="1.0" encoding="utf-8"?>
<p:tagLst xmlns:p="http://schemas.openxmlformats.org/presentationml/2006/main">
  <p:tag name="KSO_WM_DIAGRAM_VIRTUALLY_FRAME" val="{&quot;height&quot;:393.85296001855767,&quot;left&quot;:41.55,&quot;top&quot;:99.6,&quot;width&quot;:874.4}"/>
</p:tagLst>
</file>

<file path=ppt/tags/tag174.xml><?xml version="1.0" encoding="utf-8"?>
<p:tagLst xmlns:p="http://schemas.openxmlformats.org/presentationml/2006/main">
  <p:tag name="KSO_WM_DIAGRAM_VIRTUALLY_FRAME" val="{&quot;height&quot;:393.85296001855767,&quot;left&quot;:41.55,&quot;top&quot;:99.6,&quot;width&quot;:874.4}"/>
</p:tagLst>
</file>

<file path=ppt/tags/tag175.xml><?xml version="1.0" encoding="utf-8"?>
<p:tagLst xmlns:p="http://schemas.openxmlformats.org/presentationml/2006/main">
  <p:tag name="KSO_WM_DIAGRAM_VIRTUALLY_FRAME" val="{&quot;height&quot;:393.85296001855767,&quot;left&quot;:41.55,&quot;top&quot;:99.6,&quot;width&quot;:874.4}"/>
</p:tagLst>
</file>

<file path=ppt/tags/tag176.xml><?xml version="1.0" encoding="utf-8"?>
<p:tagLst xmlns:p="http://schemas.openxmlformats.org/presentationml/2006/main">
  <p:tag name="KSO_WM_DIAGRAM_VIRTUALLY_FRAME" val="{&quot;height&quot;:393.85296001855767,&quot;left&quot;:41.55,&quot;top&quot;:99.6,&quot;width&quot;:874.4}"/>
</p:tagLst>
</file>

<file path=ppt/tags/tag177.xml><?xml version="1.0" encoding="utf-8"?>
<p:tagLst xmlns:p="http://schemas.openxmlformats.org/presentationml/2006/main">
  <p:tag name="KSO_WM_DIAGRAM_VIRTUALLY_FRAME" val="{&quot;height&quot;:393.85296001855767,&quot;left&quot;:41.55,&quot;top&quot;:99.6,&quot;width&quot;:874.4}"/>
</p:tagLst>
</file>

<file path=ppt/tags/tag178.xml><?xml version="1.0" encoding="utf-8"?>
<p:tagLst xmlns:p="http://schemas.openxmlformats.org/presentationml/2006/main">
  <p:tag name="KSO_WM_DIAGRAM_VIRTUALLY_FRAME" val="{&quot;height&quot;:393.85296001855767,&quot;left&quot;:41.55,&quot;top&quot;:99.6,&quot;width&quot;:874.4}"/>
</p:tagLst>
</file>

<file path=ppt/tags/tag179.xml><?xml version="1.0" encoding="utf-8"?>
<p:tagLst xmlns:p="http://schemas.openxmlformats.org/presentationml/2006/main">
  <p:tag name="KSO_WM_DIAGRAM_VIRTUALLY_FRAME" val="{&quot;height&quot;:393.85296001855767,&quot;left&quot;:41.55,&quot;top&quot;:99.6,&quot;width&quot;:874.4}"/>
</p:tagLst>
</file>

<file path=ppt/tags/tag180.xml><?xml version="1.0" encoding="utf-8"?>
<p:tagLst xmlns:p="http://schemas.openxmlformats.org/presentationml/2006/main">
  <p:tag name="KSO_WM_DIAGRAM_VIRTUALLY_FRAME" val="{&quot;height&quot;:393.85296001855767,&quot;left&quot;:41.55,&quot;top&quot;:99.6,&quot;width&quot;:874.4}"/>
</p:tagLst>
</file>

<file path=ppt/tags/tag181.xml><?xml version="1.0" encoding="utf-8"?>
<p:tagLst xmlns:p="http://schemas.openxmlformats.org/presentationml/2006/main">
  <p:tag name="KSO_WM_DIAGRAM_VIRTUALLY_FRAME" val="{&quot;height&quot;:393.85296001855767,&quot;left&quot;:41.55,&quot;top&quot;:99.6,&quot;width&quot;:874.4}"/>
</p:tagLst>
</file>

<file path=ppt/tags/tag182.xml><?xml version="1.0" encoding="utf-8"?>
<p:tagLst xmlns:p="http://schemas.openxmlformats.org/presentationml/2006/main">
  <p:tag name="KSO_WM_DIAGRAM_VIRTUALLY_FRAME" val="{&quot;height&quot;:393.85296001855767,&quot;left&quot;:41.55,&quot;top&quot;:99.6,&quot;width&quot;:874.4}"/>
</p:tagLst>
</file>

<file path=ppt/tags/tag183.xml><?xml version="1.0" encoding="utf-8"?>
<p:tagLst xmlns:p="http://schemas.openxmlformats.org/presentationml/2006/main">
  <p:tag name="KSO_WM_DIAGRAM_VIRTUALLY_FRAME" val="{&quot;height&quot;:393.85296001855767,&quot;left&quot;:41.55,&quot;top&quot;:99.6,&quot;width&quot;:874.4}"/>
</p:tagLst>
</file>

<file path=ppt/tags/tag184.xml><?xml version="1.0" encoding="utf-8"?>
<p:tagLst xmlns:p="http://schemas.openxmlformats.org/presentationml/2006/main">
  <p:tag name="KSO_WM_DIAGRAM_VIRTUALLY_FRAME" val="{&quot;height&quot;:393.85296001855767,&quot;left&quot;:41.55,&quot;top&quot;:99.6,&quot;width&quot;:874.4}"/>
</p:tagLst>
</file>

<file path=ppt/tags/tag185.xml><?xml version="1.0" encoding="utf-8"?>
<p:tagLst xmlns:p="http://schemas.openxmlformats.org/presentationml/2006/main">
  <p:tag name="KSO_WM_DIAGRAM_VIRTUALLY_FRAME" val="{&quot;height&quot;:393.85296001855767,&quot;left&quot;:41.55,&quot;top&quot;:99.6,&quot;width&quot;:874.4}"/>
</p:tagLst>
</file>

<file path=ppt/tags/tag18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87.xml><?xml version="1.0" encoding="utf-8"?>
<p:tagLst xmlns:p="http://schemas.openxmlformats.org/presentationml/2006/main">
  <p:tag name="KSO_WM_DIAGRAM_VIRTUALLY_FRAME" val="{&quot;height&quot;:390.5,&quot;left&quot;:23.25,&quot;top&quot;:82.65,&quot;width&quot;:936.7}"/>
</p:tagLst>
</file>

<file path=ppt/tags/tag188.xml><?xml version="1.0" encoding="utf-8"?>
<p:tagLst xmlns:p="http://schemas.openxmlformats.org/presentationml/2006/main">
  <p:tag name="KSO_WM_DIAGRAM_VIRTUALLY_FRAME" val="{&quot;height&quot;:374.4,&quot;left&quot;:41.55,&quot;top&quot;:99.6,&quot;width&quot;:874.4}"/>
</p:tagLst>
</file>

<file path=ppt/tags/tag189.xml><?xml version="1.0" encoding="utf-8"?>
<p:tagLst xmlns:p="http://schemas.openxmlformats.org/presentationml/2006/main">
  <p:tag name="KSO_WM_DIAGRAM_VIRTUALLY_FRAME" val="{&quot;height&quot;:390.5,&quot;left&quot;:23.25,&quot;top&quot;:82.65,&quot;width&quot;:936.7}"/>
</p:tagLst>
</file>

<file path=ppt/tags/tag190.xml><?xml version="1.0" encoding="utf-8"?>
<p:tagLst xmlns:p="http://schemas.openxmlformats.org/presentationml/2006/main">
  <p:tag name="KSO_WM_DIAGRAM_VIRTUALLY_FRAME" val="{&quot;height&quot;:374.4,&quot;left&quot;:41.55,&quot;top&quot;:99.6,&quot;width&quot;:874.4}"/>
</p:tagLst>
</file>

<file path=ppt/tags/tag191.xml><?xml version="1.0" encoding="utf-8"?>
<p:tagLst xmlns:p="http://schemas.openxmlformats.org/presentationml/2006/main">
  <p:tag name="KSO_WM_DIAGRAM_VIRTUALLY_FRAME" val="{&quot;height&quot;:328.7000000000003,&quot;left&quot;:89.5,&quot;top&quot;:93.75,&quot;width&quot;:756.45}"/>
</p:tagLst>
</file>

<file path=ppt/tags/tag19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93.xml><?xml version="1.0" encoding="utf-8"?>
<p:tagLst xmlns:p="http://schemas.openxmlformats.org/presentationml/2006/main">
  <p:tag name="KSO_WM_DIAGRAM_VIRTUALLY_FRAME" val="{&quot;height&quot;:390.5,&quot;left&quot;:23.25,&quot;top&quot;:82.65,&quot;width&quot;:936.7}"/>
</p:tagLst>
</file>

<file path=ppt/tags/tag194.xml><?xml version="1.0" encoding="utf-8"?>
<p:tagLst xmlns:p="http://schemas.openxmlformats.org/presentationml/2006/main">
  <p:tag name="KSO_WM_DIAGRAM_VIRTUALLY_FRAME" val="{&quot;height&quot;:374.4,&quot;left&quot;:41.55,&quot;top&quot;:99.6,&quot;width&quot;:874.4}"/>
</p:tagLst>
</file>

<file path=ppt/tags/tag19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96.xml><?xml version="1.0" encoding="utf-8"?>
<p:tagLst xmlns:p="http://schemas.openxmlformats.org/presentationml/2006/main">
  <p:tag name="KSO_WM_DIAGRAM_VIRTUALLY_FRAME" val="{&quot;height&quot;:431.6,&quot;left&quot;:82.4,&quot;top&quot;:85.45,&quot;width&quot;:793.7007874015748}"/>
</p:tagLst>
</file>

<file path=ppt/tags/tag197.xml><?xml version="1.0" encoding="utf-8"?>
<p:tagLst xmlns:p="http://schemas.openxmlformats.org/presentationml/2006/main">
  <p:tag name="KSO_WM_DIAGRAM_VIRTUALLY_FRAME" val="{&quot;height&quot;:431.6,&quot;left&quot;:82.4,&quot;top&quot;:85.45,&quot;width&quot;:793.7007874015748}"/>
</p:tagLst>
</file>

<file path=ppt/tags/tag198.xml><?xml version="1.0" encoding="utf-8"?>
<p:tagLst xmlns:p="http://schemas.openxmlformats.org/presentationml/2006/main">
  <p:tag name="KSO_WM_DIAGRAM_VIRTUALLY_FRAME" val="{&quot;height&quot;:431.6,&quot;left&quot;:82.4,&quot;top&quot;:85.45,&quot;width&quot;:793.7007874015748}"/>
</p:tagLst>
</file>

<file path=ppt/tags/tag199.xml><?xml version="1.0" encoding="utf-8"?>
<p:tagLst xmlns:p="http://schemas.openxmlformats.org/presentationml/2006/main">
  <p:tag name="KSO_WM_DIAGRAM_VIRTUALLY_FRAME" val="{&quot;height&quot;:431.6,&quot;left&quot;:82.4,&quot;top&quot;:85.45,&quot;width&quot;:793.7007874015748}"/>
</p:tagLst>
</file>

<file path=ppt/tags/tag200.xml><?xml version="1.0" encoding="utf-8"?>
<p:tagLst xmlns:p="http://schemas.openxmlformats.org/presentationml/2006/main">
  <p:tag name="KSO_WM_DIAGRAM_VIRTUALLY_FRAME" val="{&quot;height&quot;:431.6,&quot;left&quot;:82.4,&quot;top&quot;:85.45,&quot;width&quot;:793.7007874015748}"/>
</p:tagLst>
</file>

<file path=ppt/tags/tag201.xml><?xml version="1.0" encoding="utf-8"?>
<p:tagLst xmlns:p="http://schemas.openxmlformats.org/presentationml/2006/main">
  <p:tag name="KSO_WM_DIAGRAM_VIRTUALLY_FRAME" val="{&quot;height&quot;:431.6,&quot;left&quot;:82.4,&quot;top&quot;:85.45,&quot;width&quot;:793.7007874015748}"/>
</p:tagLst>
</file>

<file path=ppt/tags/tag202.xml><?xml version="1.0" encoding="utf-8"?>
<p:tagLst xmlns:p="http://schemas.openxmlformats.org/presentationml/2006/main">
  <p:tag name="KSO_WM_DIAGRAM_VIRTUALLY_FRAME" val="{&quot;height&quot;:431.6,&quot;left&quot;:82.4,&quot;top&quot;:85.45,&quot;width&quot;:793.7007874015748}"/>
</p:tagLst>
</file>

<file path=ppt/tags/tag203.xml><?xml version="1.0" encoding="utf-8"?>
<p:tagLst xmlns:p="http://schemas.openxmlformats.org/presentationml/2006/main">
  <p:tag name="KSO_WM_DIAGRAM_VIRTUALLY_FRAME" val="{&quot;height&quot;:431.6,&quot;left&quot;:82.4,&quot;top&quot;:85.45,&quot;width&quot;:793.7007874015748}"/>
</p:tagLst>
</file>

<file path=ppt/tags/tag204.xml><?xml version="1.0" encoding="utf-8"?>
<p:tagLst xmlns:p="http://schemas.openxmlformats.org/presentationml/2006/main">
  <p:tag name="KSO_WM_DIAGRAM_VIRTUALLY_FRAME" val="{&quot;height&quot;:431.6,&quot;left&quot;:82.4,&quot;top&quot;:85.45,&quot;width&quot;:793.7007874015748}"/>
</p:tagLst>
</file>

<file path=ppt/tags/tag20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0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4007</Words>
  <Application>WPS 演示</Application>
  <PresentationFormat>宽屏</PresentationFormat>
  <Paragraphs>250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2" baseType="lpstr">
      <vt:lpstr>Arial</vt:lpstr>
      <vt:lpstr>宋体</vt:lpstr>
      <vt:lpstr>Wingdings</vt:lpstr>
      <vt:lpstr>微软雅黑</vt:lpstr>
      <vt:lpstr>Wingdings</vt:lpstr>
      <vt:lpstr>微软雅黑 Light</vt:lpstr>
      <vt:lpstr>Bauhaus 93</vt:lpstr>
      <vt:lpstr>Arial Unicode MS</vt:lpstr>
      <vt:lpstr>Calibri</vt:lpstr>
      <vt:lpstr>Times New Roman</vt:lpstr>
      <vt:lpstr>Gabriola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李佳璐</cp:lastModifiedBy>
  <cp:revision>180</cp:revision>
  <dcterms:created xsi:type="dcterms:W3CDTF">2019-06-19T02:08:00Z</dcterms:created>
  <dcterms:modified xsi:type="dcterms:W3CDTF">2025-06-15T04:23:46Z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2052-12.1.0.19302</vt:lpwstr>
  </property>
  <property fmtid="{D5CDD505-2E9C-101B-9397-08002B2CF9AE}" pid="3" name="ICV">
    <vt:lpwstr>9A8750F3920941EE91B4C982A62DEEBB_13</vt:lpwstr>
  </property>
</Properties>
</file>