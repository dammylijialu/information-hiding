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9.svg" ContentType="image/svg+xml"/>
  <Override PartName="/ppt/media/image22.svg" ContentType="image/svg+xml"/>
  <Override PartName="/ppt/media/image24.svg" ContentType="image/svg+xml"/>
  <Override PartName="/ppt/media/image2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89" r:id="rId4"/>
    <p:sldId id="290" r:id="rId6"/>
    <p:sldId id="288" r:id="rId7"/>
    <p:sldId id="298" r:id="rId8"/>
    <p:sldId id="259" r:id="rId9"/>
    <p:sldId id="287" r:id="rId10"/>
    <p:sldId id="267" r:id="rId11"/>
    <p:sldId id="291" r:id="rId12"/>
    <p:sldId id="292" r:id="rId13"/>
    <p:sldId id="286" r:id="rId14"/>
    <p:sldId id="293" r:id="rId15"/>
    <p:sldId id="294" r:id="rId16"/>
    <p:sldId id="295" r:id="rId17"/>
    <p:sldId id="296" r:id="rId18"/>
    <p:sldId id="297" r:id="rId19"/>
    <p:sldId id="268" r:id="rId20"/>
    <p:sldId id="257"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8"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紫琪" initials="紫"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01E5E"/>
    <a:srgbClr val="AD4591"/>
    <a:srgbClr val="B78EAE"/>
    <a:srgbClr val="A2508C"/>
    <a:srgbClr val="C65844"/>
    <a:srgbClr val="FFFFFF"/>
    <a:srgbClr val="FBF9F8"/>
    <a:srgbClr val="EFE6E1"/>
    <a:srgbClr val="E0CEC3"/>
    <a:srgbClr val="DED6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50" d="100"/>
          <a:sy n="50" d="100"/>
        </p:scale>
        <p:origin x="24" y="984"/>
      </p:cViewPr>
      <p:guideLst>
        <p:guide orient="horz" pos="2408"/>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ECBB2F-3810-4782-B5BB-927DEE8F53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86FEE8-AB4C-4EC6-B1E1-BDDE56F0B4A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pic>
        <p:nvPicPr>
          <p:cNvPr id="100" name="图片 99"/>
          <p:cNvPicPr/>
          <p:nvPr userDrawn="1">
            <p:custDataLst>
              <p:tags r:id="rId7"/>
            </p:custDataLst>
          </p:nvPr>
        </p:nvPicPr>
        <p:blipFill>
          <a:blip r:embed="rId8"/>
          <a:srcRect b="5315"/>
          <a:stretch>
            <a:fillRect/>
          </a:stretch>
        </p:blipFill>
        <p:spPr>
          <a:xfrm>
            <a:off x="2538095" y="2540"/>
            <a:ext cx="9653905" cy="6855460"/>
          </a:xfrm>
          <a:prstGeom prst="rect">
            <a:avLst/>
          </a:prstGeom>
          <a:noFill/>
          <a:ln w="9525">
            <a:noFill/>
          </a:ln>
        </p:spPr>
      </p:pic>
      <p:sp>
        <p:nvSpPr>
          <p:cNvPr id="5" name="矩形 4"/>
          <p:cNvSpPr/>
          <p:nvPr userDrawn="1"/>
        </p:nvSpPr>
        <p:spPr>
          <a:xfrm>
            <a:off x="0" y="0"/>
            <a:ext cx="5348605" cy="6858000"/>
          </a:xfrm>
          <a:prstGeom prst="rect">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0" name="图片 99"/>
          <p:cNvPicPr/>
          <p:nvPr userDrawn="1">
            <p:custDataLst>
              <p:tags r:id="rId2"/>
            </p:custDataLst>
          </p:nvPr>
        </p:nvPicPr>
        <p:blipFill>
          <a:blip r:embed="rId3"/>
          <a:srcRect l="16424" b="5315"/>
          <a:stretch>
            <a:fillRect/>
          </a:stretch>
        </p:blipFill>
        <p:spPr>
          <a:xfrm>
            <a:off x="-29845" y="0"/>
            <a:ext cx="8068310" cy="6855460"/>
          </a:xfrm>
          <a:prstGeom prst="rect">
            <a:avLst/>
          </a:prstGeom>
          <a:noFill/>
          <a:ln w="9525">
            <a:noFill/>
          </a:ln>
        </p:spPr>
      </p:pic>
      <p:sp>
        <p:nvSpPr>
          <p:cNvPr id="10" name="矩形 9"/>
          <p:cNvSpPr/>
          <p:nvPr userDrawn="1"/>
        </p:nvSpPr>
        <p:spPr>
          <a:xfrm>
            <a:off x="5349240" y="8890"/>
            <a:ext cx="684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0" name="图片 99"/>
          <p:cNvPicPr/>
          <p:nvPr userDrawn="1"/>
        </p:nvPicPr>
        <p:blipFill>
          <a:blip r:embed="rId2"/>
          <a:srcRect t="-70" r="15129" b="5315"/>
          <a:stretch>
            <a:fillRect/>
          </a:stretch>
        </p:blipFill>
        <p:spPr>
          <a:xfrm>
            <a:off x="4021455" y="-5080"/>
            <a:ext cx="8193405" cy="6860540"/>
          </a:xfrm>
          <a:prstGeom prst="rect">
            <a:avLst/>
          </a:prstGeom>
          <a:noFill/>
          <a:ln w="9525">
            <a:noFill/>
          </a:ln>
        </p:spPr>
      </p:pic>
      <p:sp>
        <p:nvSpPr>
          <p:cNvPr id="8" name="矩形 7"/>
          <p:cNvSpPr/>
          <p:nvPr userDrawn="1"/>
        </p:nvSpPr>
        <p:spPr>
          <a:xfrm>
            <a:off x="0" y="0"/>
            <a:ext cx="681228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135890" y="127000"/>
            <a:ext cx="11916000" cy="6604000"/>
          </a:xfrm>
          <a:prstGeom prst="rect">
            <a:avLst/>
          </a:prstGeom>
          <a:noFill/>
          <a:ln w="28575">
            <a:solidFill>
              <a:srgbClr val="701E5E">
                <a:alpha val="50000"/>
              </a:srgbClr>
            </a:solidFill>
            <a:beve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a:srcRect l="44723" t="20915" r="33962" b="59482"/>
          <a:stretch>
            <a:fillRect/>
          </a:stretch>
        </p:blipFill>
        <p:spPr>
          <a:xfrm>
            <a:off x="538480" y="0"/>
            <a:ext cx="902033" cy="684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4.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image" Target="../media/image5.png"/><Relationship Id="rId2" Type="http://schemas.openxmlformats.org/officeDocument/2006/relationships/image" Target="../media/image4.png"/><Relationship Id="rId10"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56.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8.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1" Type="http://schemas.openxmlformats.org/officeDocument/2006/relationships/slideLayout" Target="../slideLayouts/slideLayout7.xml"/><Relationship Id="rId30" Type="http://schemas.openxmlformats.org/officeDocument/2006/relationships/tags" Target="../tags/tag79.xml"/><Relationship Id="rId3" Type="http://schemas.openxmlformats.org/officeDocument/2006/relationships/tags" Target="../tags/tag61.xml"/><Relationship Id="rId29" Type="http://schemas.openxmlformats.org/officeDocument/2006/relationships/image" Target="../media/image17.png"/><Relationship Id="rId28" Type="http://schemas.openxmlformats.org/officeDocument/2006/relationships/image" Target="../media/image16.png"/><Relationship Id="rId27" Type="http://schemas.openxmlformats.org/officeDocument/2006/relationships/image" Target="../media/image15.png"/><Relationship Id="rId26" Type="http://schemas.openxmlformats.org/officeDocument/2006/relationships/image" Target="../media/image14.png"/><Relationship Id="rId25" Type="http://schemas.openxmlformats.org/officeDocument/2006/relationships/image" Target="../media/image13.png"/><Relationship Id="rId24" Type="http://schemas.openxmlformats.org/officeDocument/2006/relationships/image" Target="../media/image12.png"/><Relationship Id="rId23" Type="http://schemas.openxmlformats.org/officeDocument/2006/relationships/image" Target="../media/image11.png"/><Relationship Id="rId22" Type="http://schemas.openxmlformats.org/officeDocument/2006/relationships/image" Target="../media/image10.png"/><Relationship Id="rId21" Type="http://schemas.openxmlformats.org/officeDocument/2006/relationships/image" Target="../media/image9.png"/><Relationship Id="rId20" Type="http://schemas.openxmlformats.org/officeDocument/2006/relationships/tags" Target="../tags/tag78.xml"/><Relationship Id="rId2" Type="http://schemas.openxmlformats.org/officeDocument/2006/relationships/tags" Target="../tags/tag60.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5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80.xml"/></Relationships>
</file>

<file path=ppt/slides/_rels/slide10.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6" Type="http://schemas.openxmlformats.org/officeDocument/2006/relationships/slideLayout" Target="../slideLayouts/slideLayout7.xml"/><Relationship Id="rId25" Type="http://schemas.openxmlformats.org/officeDocument/2006/relationships/tags" Target="../tags/tag102.xml"/><Relationship Id="rId24" Type="http://schemas.openxmlformats.org/officeDocument/2006/relationships/tags" Target="../tags/tag101.xml"/><Relationship Id="rId23" Type="http://schemas.openxmlformats.org/officeDocument/2006/relationships/tags" Target="../tags/tag100.xml"/><Relationship Id="rId22" Type="http://schemas.openxmlformats.org/officeDocument/2006/relationships/tags" Target="../tags/tag99.xml"/><Relationship Id="rId21" Type="http://schemas.openxmlformats.org/officeDocument/2006/relationships/tags" Target="../tags/tag98.xml"/><Relationship Id="rId20" Type="http://schemas.openxmlformats.org/officeDocument/2006/relationships/image" Target="../media/image20.png"/><Relationship Id="rId2" Type="http://schemas.openxmlformats.org/officeDocument/2006/relationships/tags" Target="../tags/tag82.xml"/><Relationship Id="rId19" Type="http://schemas.openxmlformats.org/officeDocument/2006/relationships/tags" Target="../tags/tag97.xml"/><Relationship Id="rId18" Type="http://schemas.openxmlformats.org/officeDocument/2006/relationships/tags" Target="../tags/tag96.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image" Target="../media/image19.svg"/><Relationship Id="rId14" Type="http://schemas.openxmlformats.org/officeDocument/2006/relationships/image" Target="../media/image18.png"/><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tags" Target="../tags/tag81.xml"/></Relationships>
</file>

<file path=ppt/slides/_rels/slide11.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5" Type="http://schemas.openxmlformats.org/officeDocument/2006/relationships/notesSlide" Target="../notesSlides/notesSlide2.xml"/><Relationship Id="rId34" Type="http://schemas.openxmlformats.org/officeDocument/2006/relationships/slideLayout" Target="../slideLayouts/slideLayout7.xml"/><Relationship Id="rId33" Type="http://schemas.openxmlformats.org/officeDocument/2006/relationships/tags" Target="../tags/tag127.xml"/><Relationship Id="rId32" Type="http://schemas.openxmlformats.org/officeDocument/2006/relationships/tags" Target="../tags/tag126.xml"/><Relationship Id="rId31" Type="http://schemas.openxmlformats.org/officeDocument/2006/relationships/tags" Target="../tags/tag125.xml"/><Relationship Id="rId30" Type="http://schemas.openxmlformats.org/officeDocument/2006/relationships/tags" Target="../tags/tag124.xml"/><Relationship Id="rId3" Type="http://schemas.openxmlformats.org/officeDocument/2006/relationships/tags" Target="../tags/tag105.xml"/><Relationship Id="rId29" Type="http://schemas.openxmlformats.org/officeDocument/2006/relationships/image" Target="../media/image26.svg"/><Relationship Id="rId28" Type="http://schemas.openxmlformats.org/officeDocument/2006/relationships/image" Target="../media/image25.png"/><Relationship Id="rId27" Type="http://schemas.openxmlformats.org/officeDocument/2006/relationships/tags" Target="../tags/tag123.xml"/><Relationship Id="rId26" Type="http://schemas.openxmlformats.org/officeDocument/2006/relationships/tags" Target="../tags/tag122.xml"/><Relationship Id="rId25" Type="http://schemas.openxmlformats.org/officeDocument/2006/relationships/tags" Target="../tags/tag121.xml"/><Relationship Id="rId24" Type="http://schemas.openxmlformats.org/officeDocument/2006/relationships/image" Target="../media/image19.svg"/><Relationship Id="rId23" Type="http://schemas.openxmlformats.org/officeDocument/2006/relationships/image" Target="../media/image18.png"/><Relationship Id="rId22" Type="http://schemas.openxmlformats.org/officeDocument/2006/relationships/tags" Target="../tags/tag120.xml"/><Relationship Id="rId21" Type="http://schemas.openxmlformats.org/officeDocument/2006/relationships/tags" Target="../tags/tag119.xml"/><Relationship Id="rId20" Type="http://schemas.openxmlformats.org/officeDocument/2006/relationships/tags" Target="../tags/tag118.xml"/><Relationship Id="rId2" Type="http://schemas.openxmlformats.org/officeDocument/2006/relationships/tags" Target="../tags/tag104.xml"/><Relationship Id="rId19" Type="http://schemas.openxmlformats.org/officeDocument/2006/relationships/image" Target="../media/image24.svg"/><Relationship Id="rId18" Type="http://schemas.openxmlformats.org/officeDocument/2006/relationships/image" Target="../media/image23.png"/><Relationship Id="rId17" Type="http://schemas.openxmlformats.org/officeDocument/2006/relationships/tags" Target="../tags/tag117.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image" Target="../media/image22.svg"/><Relationship Id="rId13" Type="http://schemas.openxmlformats.org/officeDocument/2006/relationships/image" Target="../media/image21.png"/><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tags" Target="../tags/tag10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tags" Target="../tags/tag128.xml"/><Relationship Id="rId1" Type="http://schemas.openxmlformats.org/officeDocument/2006/relationships/image" Target="../media/image27.png"/></Relationships>
</file>

<file path=ppt/slides/_rels/slide13.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8" Type="http://schemas.openxmlformats.org/officeDocument/2006/relationships/notesSlide" Target="../notesSlides/notesSlide4.xml"/><Relationship Id="rId17" Type="http://schemas.openxmlformats.org/officeDocument/2006/relationships/slideLayout" Target="../slideLayouts/slideLayout7.xml"/><Relationship Id="rId16" Type="http://schemas.openxmlformats.org/officeDocument/2006/relationships/tags" Target="../tags/tag144.xml"/><Relationship Id="rId15" Type="http://schemas.openxmlformats.org/officeDocument/2006/relationships/tags" Target="../tags/tag143.xml"/><Relationship Id="rId14" Type="http://schemas.openxmlformats.org/officeDocument/2006/relationships/tags" Target="../tags/tag142.xml"/><Relationship Id="rId13" Type="http://schemas.openxmlformats.org/officeDocument/2006/relationships/tags" Target="../tags/tag141.xml"/><Relationship Id="rId12" Type="http://schemas.openxmlformats.org/officeDocument/2006/relationships/tags" Target="../tags/tag140.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tags" Target="../tags/tag129.xml"/></Relationships>
</file>

<file path=ppt/slides/_rels/slide14.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image" Target="../media/image29.png"/><Relationship Id="rId3" Type="http://schemas.openxmlformats.org/officeDocument/2006/relationships/tags" Target="../tags/tag146.xml"/><Relationship Id="rId2" Type="http://schemas.openxmlformats.org/officeDocument/2006/relationships/image" Target="../media/image28.png"/><Relationship Id="rId18" Type="http://schemas.openxmlformats.org/officeDocument/2006/relationships/slideLayout" Target="../slideLayouts/slideLayout7.xml"/><Relationship Id="rId17" Type="http://schemas.openxmlformats.org/officeDocument/2006/relationships/tags" Target="../tags/tag159.xml"/><Relationship Id="rId16" Type="http://schemas.openxmlformats.org/officeDocument/2006/relationships/tags" Target="../tags/tag158.xml"/><Relationship Id="rId15" Type="http://schemas.openxmlformats.org/officeDocument/2006/relationships/tags" Target="../tags/tag157.xml"/><Relationship Id="rId14" Type="http://schemas.openxmlformats.org/officeDocument/2006/relationships/tags" Target="../tags/tag156.xml"/><Relationship Id="rId13" Type="http://schemas.openxmlformats.org/officeDocument/2006/relationships/tags" Target="../tags/tag155.xml"/><Relationship Id="rId12" Type="http://schemas.openxmlformats.org/officeDocument/2006/relationships/tags" Target="../tags/tag154.xml"/><Relationship Id="rId11" Type="http://schemas.openxmlformats.org/officeDocument/2006/relationships/tags" Target="../tags/tag153.xml"/><Relationship Id="rId10" Type="http://schemas.openxmlformats.org/officeDocument/2006/relationships/tags" Target="../tags/tag152.xml"/><Relationship Id="rId1" Type="http://schemas.openxmlformats.org/officeDocument/2006/relationships/tags" Target="../tags/tag145.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image" Target="../media/image31.png"/><Relationship Id="rId1"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64.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65.xml"/><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404475" y="985766"/>
            <a:ext cx="994410" cy="3390900"/>
          </a:xfrm>
          <a:prstGeom prst="rect">
            <a:avLst/>
          </a:prstGeom>
          <a:solidFill>
            <a:srgbClr val="701E5E">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tIns="0" rtlCol="0" anchor="ctr"/>
          <a:lstStyle/>
          <a:p>
            <a:pPr algn="ctr">
              <a:lnSpc>
                <a:spcPct val="100000"/>
              </a:lnSpc>
            </a:pPr>
            <a:r>
              <a:rPr lang="zh-CN" altLang="en-US" sz="3000" kern="3000" spc="1000" dirty="0">
                <a:solidFill>
                  <a:schemeClr val="bg2"/>
                </a:solidFill>
                <a:latin typeface="微软雅黑 Light" panose="020B0502040204020203" charset="-122"/>
                <a:ea typeface="微软雅黑 Light" panose="020B0502040204020203" charset="-122"/>
              </a:rPr>
              <a:t> 信息隐藏技术</a:t>
            </a:r>
            <a:endParaRPr lang="zh-CN" altLang="en-US" sz="3000" kern="3000" spc="1000" dirty="0">
              <a:solidFill>
                <a:schemeClr val="bg2"/>
              </a:solidFill>
              <a:uFillTx/>
              <a:latin typeface="微软雅黑 Light" panose="020B0502040204020203" charset="-122"/>
              <a:ea typeface="微软雅黑 Light" panose="020B0502040204020203" charset="-122"/>
            </a:endParaRPr>
          </a:p>
          <a:p>
            <a:pPr algn="ctr">
              <a:lnSpc>
                <a:spcPct val="100000"/>
              </a:lnSpc>
            </a:pPr>
            <a:r>
              <a:rPr lang="en-US" altLang="zh-CN" sz="3000" kern="3000" spc="1000" dirty="0">
                <a:solidFill>
                  <a:schemeClr val="bg2"/>
                </a:solidFill>
                <a:uFillTx/>
                <a:latin typeface="微软雅黑 Light" panose="020B0502040204020203" charset="-122"/>
                <a:ea typeface="微软雅黑 Light" panose="020B0502040204020203" charset="-122"/>
              </a:rPr>
              <a:t>   </a:t>
            </a:r>
            <a:r>
              <a:rPr lang="zh-CN" altLang="en-US" sz="3000" kern="3000" spc="1000" dirty="0">
                <a:solidFill>
                  <a:schemeClr val="bg2"/>
                </a:solidFill>
                <a:uFillTx/>
                <a:latin typeface="微软雅黑 Light" panose="020B0502040204020203" charset="-122"/>
                <a:ea typeface="微软雅黑 Light" panose="020B0502040204020203" charset="-122"/>
              </a:rPr>
              <a:t>实验汇报</a:t>
            </a:r>
            <a:endParaRPr lang="zh-CN" altLang="en-US" sz="3000" kern="3000" spc="1000" dirty="0">
              <a:solidFill>
                <a:schemeClr val="bg2"/>
              </a:solidFill>
              <a:uFillTx/>
              <a:latin typeface="微软雅黑 Light" panose="020B0502040204020203" charset="-122"/>
              <a:ea typeface="微软雅黑 Light" panose="020B0502040204020203" charset="-122"/>
            </a:endParaRPr>
          </a:p>
        </p:txBody>
      </p:sp>
      <p:sp>
        <p:nvSpPr>
          <p:cNvPr id="7" name="文本框 6"/>
          <p:cNvSpPr txBox="1"/>
          <p:nvPr/>
        </p:nvSpPr>
        <p:spPr>
          <a:xfrm>
            <a:off x="3607028" y="570865"/>
            <a:ext cx="1200329" cy="5734685"/>
          </a:xfrm>
          <a:prstGeom prst="rect">
            <a:avLst/>
          </a:prstGeom>
          <a:noFill/>
          <a:extLst>
            <a:ext uri="{909E8E84-426E-40DD-AFC4-6F175D3DCCD1}">
              <a14:hiddenFill xmlns:a14="http://schemas.microsoft.com/office/drawing/2010/main">
                <a:solidFill>
                  <a:schemeClr val="bg1"/>
                </a:solidFill>
              </a14:hiddenFill>
            </a:ext>
          </a:extLst>
        </p:spPr>
        <p:txBody>
          <a:bodyPr vert="eaVert" wrap="square" rtlCol="0" anchor="ctr" anchorCtr="1">
            <a:spAutoFit/>
          </a:bodyPr>
          <a:lstStyle/>
          <a:p>
            <a:pPr algn="dist">
              <a:lnSpc>
                <a:spcPct val="100000"/>
              </a:lnSpc>
            </a:pPr>
            <a:r>
              <a:rPr lang="zh-CN" altLang="en-US" sz="6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音频信息隐藏</a:t>
            </a:r>
            <a:endParaRPr lang="zh-CN" altLang="en-US" sz="6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3092133" y="655320"/>
            <a:ext cx="374650" cy="1997710"/>
          </a:xfrm>
          <a:prstGeom prst="rect">
            <a:avLst/>
          </a:prstGeom>
          <a:solidFill>
            <a:schemeClr val="bg1"/>
          </a:solidFill>
        </p:spPr>
        <p:txBody>
          <a:bodyPr vert="eaVert" wrap="square" lIns="0" tIns="0" rIns="36195" bIns="0" rtlCol="0" anchor="ctr" anchorCtr="1">
            <a:spAutoFit/>
          </a:bodyPr>
          <a:lstStyle/>
          <a:p>
            <a:pPr algn="ctr"/>
            <a:r>
              <a:rPr lang="en-US" altLang="zh-CN" sz="2200" b="1">
                <a:solidFill>
                  <a:srgbClr val="701E5E"/>
                </a:solidFill>
                <a:latin typeface="微软雅黑 Light" panose="020B0502040204020203" charset="-122"/>
                <a:ea typeface="微软雅黑 Light" panose="020B0502040204020203" charset="-122"/>
              </a:rPr>
              <a:t>PRESENTATION</a:t>
            </a:r>
            <a:endParaRPr lang="en-US" altLang="zh-CN" sz="2200" b="1">
              <a:solidFill>
                <a:srgbClr val="701E5E"/>
              </a:solidFill>
              <a:latin typeface="微软雅黑 Light" panose="020B0502040204020203" charset="-122"/>
              <a:ea typeface="微软雅黑 Light" panose="020B0502040204020203" charset="-122"/>
            </a:endParaRPr>
          </a:p>
        </p:txBody>
      </p:sp>
      <p:sp>
        <p:nvSpPr>
          <p:cNvPr id="2" name="文本框 1"/>
          <p:cNvSpPr txBox="1"/>
          <p:nvPr/>
        </p:nvSpPr>
        <p:spPr>
          <a:xfrm>
            <a:off x="2140010" y="2681216"/>
            <a:ext cx="1569660" cy="4176784"/>
          </a:xfrm>
          <a:prstGeom prst="rect">
            <a:avLst/>
          </a:prstGeom>
          <a:noFill/>
        </p:spPr>
        <p:txBody>
          <a:bodyPr vert="eaVert" wrap="none" rtlCol="0">
            <a:spAutoFit/>
          </a:bodyPr>
          <a:lstStyle/>
          <a:p>
            <a:pPr algn="l">
              <a:lnSpc>
                <a:spcPct val="150000"/>
              </a:lnSpc>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汇报人：李佳璐 王峥 黄煜斐</a:t>
            </a:r>
            <a:endParaRPr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学号：</a:t>
            </a:r>
            <a:r>
              <a:rPr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2211985 2211267 2213028</a:t>
            </a:r>
            <a:endPar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专业：信息安全</a:t>
            </a:r>
            <a:endPar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4345353" cy="6858000"/>
          </a:xfrm>
          <a:prstGeom prst="rect">
            <a:avLst/>
          </a:prstGeom>
          <a:solidFill>
            <a:srgbClr val="6B1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文本框 3"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64901" y="3429000"/>
            <a:ext cx="2583652"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en-US" altLang="zh-CN" sz="3200">
                <a:solidFill>
                  <a:schemeClr val="bg1"/>
                </a:solidFill>
                <a:latin typeface="+mj-ea"/>
                <a:ea typeface="+mj-ea"/>
                <a:sym typeface="Calibri" panose="020F0502020204030204" pitchFamily="34" charset="0"/>
              </a:rPr>
              <a:t>CONTENTS</a:t>
            </a:r>
            <a:endParaRPr lang="en-US" altLang="zh-CN" sz="3200">
              <a:solidFill>
                <a:schemeClr val="bg1"/>
              </a:solidFill>
              <a:latin typeface="+mj-ea"/>
              <a:ea typeface="+mj-ea"/>
              <a:sym typeface="Calibri" panose="020F0502020204030204" pitchFamily="34" charset="0"/>
            </a:endParaRPr>
          </a:p>
        </p:txBody>
      </p:sp>
      <p:sp>
        <p:nvSpPr>
          <p:cNvPr id="5" name="文本框 4"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15383" y="2321005"/>
            <a:ext cx="2410259" cy="1077218"/>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zh-CN" altLang="en-US" sz="6400">
                <a:solidFill>
                  <a:schemeClr val="bg1"/>
                </a:solidFill>
                <a:latin typeface="+mj-ea"/>
                <a:ea typeface="+mj-ea"/>
                <a:sym typeface="Calibri" panose="020F0502020204030204" pitchFamily="34" charset="0"/>
              </a:rPr>
              <a:t>目 录</a:t>
            </a:r>
            <a:endParaRPr lang="en-US" altLang="zh-CN" sz="6400">
              <a:solidFill>
                <a:schemeClr val="bg1"/>
              </a:solidFill>
              <a:latin typeface="+mj-ea"/>
              <a:ea typeface="+mj-ea"/>
              <a:sym typeface="Calibri" panose="020F0502020204030204" pitchFamily="34" charset="0"/>
            </a:endParaRPr>
          </a:p>
        </p:txBody>
      </p:sp>
      <p:cxnSp>
        <p:nvCxnSpPr>
          <p:cNvPr id="7" name="直接连接符 6"/>
          <p:cNvCxnSpPr/>
          <p:nvPr/>
        </p:nvCxnSpPr>
        <p:spPr>
          <a:xfrm>
            <a:off x="565316" y="4082215"/>
            <a:ext cx="38176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6464744" y="1248052"/>
            <a:ext cx="1814881" cy="687465"/>
            <a:chOff x="4850950" y="936038"/>
            <a:chExt cx="1361161" cy="515599"/>
          </a:xfrm>
        </p:grpSpPr>
        <p:sp>
          <p:nvSpPr>
            <p:cNvPr id="37" name="文本框 6"/>
            <p:cNvSpPr txBox="1">
              <a:spLocks noChangeArrowheads="1"/>
            </p:cNvSpPr>
            <p:nvPr/>
          </p:nvSpPr>
          <p:spPr bwMode="auto">
            <a:xfrm>
              <a:off x="4850950" y="936038"/>
              <a:ext cx="960840" cy="31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135" dirty="0">
                  <a:solidFill>
                    <a:schemeClr val="tx1">
                      <a:lumMod val="95000"/>
                      <a:lumOff val="5000"/>
                    </a:schemeClr>
                  </a:solidFill>
                  <a:latin typeface="+mj-ea"/>
                  <a:ea typeface="+mj-ea"/>
                </a:rPr>
                <a:t>实验原理</a:t>
              </a:r>
              <a:endParaRPr lang="zh-CN" altLang="en-US" sz="2135" dirty="0">
                <a:solidFill>
                  <a:schemeClr val="tx1">
                    <a:lumMod val="95000"/>
                    <a:lumOff val="5000"/>
                  </a:schemeClr>
                </a:solidFill>
                <a:latin typeface="+mj-ea"/>
                <a:ea typeface="+mj-ea"/>
              </a:endParaRPr>
            </a:p>
          </p:txBody>
        </p:sp>
        <p:sp>
          <p:nvSpPr>
            <p:cNvPr id="38" name="矩形 37"/>
            <p:cNvSpPr/>
            <p:nvPr/>
          </p:nvSpPr>
          <p:spPr>
            <a:xfrm>
              <a:off x="4860202" y="1220804"/>
              <a:ext cx="1351909" cy="230833"/>
            </a:xfrm>
            <a:prstGeom prst="rect">
              <a:avLst/>
            </a:prstGeom>
          </p:spPr>
          <p:txBody>
            <a:bodyPr wrap="none">
              <a:spAutoFit/>
            </a:bodyPr>
            <a:lstStyle/>
            <a:p>
              <a:pPr lvl="0" algn="ctr" fontAlgn="base">
                <a:spcBef>
                  <a:spcPct val="0"/>
                </a:spcBef>
                <a:spcAft>
                  <a:spcPct val="0"/>
                </a:spcAft>
                <a:defRPr/>
              </a:pPr>
              <a:r>
                <a:rPr lang="en-US" altLang="zh-CN" sz="1400" dirty="0">
                  <a:solidFill>
                    <a:schemeClr val="tx1">
                      <a:lumMod val="95000"/>
                      <a:lumOff val="5000"/>
                    </a:schemeClr>
                  </a:solidFill>
                  <a:latin typeface="Calibri Light" panose="020F0302020204030204" pitchFamily="34" charset="0"/>
                  <a:ea typeface="方正兰亭黑_GBK"/>
                </a:rPr>
                <a:t>Experimental principle</a:t>
              </a:r>
              <a:endParaRPr lang="en-US" altLang="zh-CN" sz="1400" dirty="0">
                <a:solidFill>
                  <a:schemeClr val="tx1">
                    <a:lumMod val="95000"/>
                    <a:lumOff val="5000"/>
                  </a:schemeClr>
                </a:solidFill>
                <a:latin typeface="Calibri Light" panose="020F0302020204030204" pitchFamily="34" charset="0"/>
                <a:ea typeface="方正兰亭黑_GBK"/>
              </a:endParaRPr>
            </a:p>
          </p:txBody>
        </p:sp>
      </p:grpSp>
      <p:sp>
        <p:nvSpPr>
          <p:cNvPr id="39" name="椭圆 38"/>
          <p:cNvSpPr/>
          <p:nvPr/>
        </p:nvSpPr>
        <p:spPr>
          <a:xfrm>
            <a:off x="5940367" y="1357559"/>
            <a:ext cx="506492" cy="506492"/>
          </a:xfrm>
          <a:prstGeom prst="ellipse">
            <a:avLst/>
          </a:prstGeom>
          <a:solidFill>
            <a:srgbClr val="6B155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2400" dirty="0">
                <a:solidFill>
                  <a:srgbClr val="F2F2F2"/>
                </a:solidFill>
              </a:rPr>
              <a:t>1</a:t>
            </a:r>
            <a:endParaRPr lang="zh-CN" altLang="en-US" sz="2400" dirty="0">
              <a:solidFill>
                <a:srgbClr val="F2F2F2"/>
              </a:solidFill>
            </a:endParaRPr>
          </a:p>
        </p:txBody>
      </p:sp>
      <p:grpSp>
        <p:nvGrpSpPr>
          <p:cNvPr id="40" name="组合 39"/>
          <p:cNvGrpSpPr/>
          <p:nvPr/>
        </p:nvGrpSpPr>
        <p:grpSpPr>
          <a:xfrm>
            <a:off x="6464745" y="2703492"/>
            <a:ext cx="2414445" cy="748794"/>
            <a:chOff x="4850950" y="936038"/>
            <a:chExt cx="1810833" cy="561596"/>
          </a:xfrm>
        </p:grpSpPr>
        <p:sp>
          <p:nvSpPr>
            <p:cNvPr id="41" name="文本框 6"/>
            <p:cNvSpPr txBox="1">
              <a:spLocks noChangeArrowheads="1"/>
            </p:cNvSpPr>
            <p:nvPr/>
          </p:nvSpPr>
          <p:spPr bwMode="auto">
            <a:xfrm>
              <a:off x="4850950" y="936038"/>
              <a:ext cx="1810833" cy="56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en-US" altLang="zh-CN" sz="2135" dirty="0" err="1">
                  <a:solidFill>
                    <a:schemeClr val="tx1">
                      <a:lumMod val="95000"/>
                      <a:lumOff val="5000"/>
                    </a:schemeClr>
                  </a:solidFill>
                  <a:latin typeface="+mj-ea"/>
                  <a:ea typeface="+mj-ea"/>
                </a:rPr>
                <a:t>UltraEdit</a:t>
              </a:r>
              <a:r>
                <a:rPr lang="zh-CN" altLang="en-US" sz="2135" dirty="0">
                  <a:solidFill>
                    <a:schemeClr val="tx1">
                      <a:lumMod val="95000"/>
                      <a:lumOff val="5000"/>
                    </a:schemeClr>
                  </a:solidFill>
                  <a:latin typeface="+mj-ea"/>
                  <a:ea typeface="+mj-ea"/>
                </a:rPr>
                <a:t>格式剖析</a:t>
              </a:r>
              <a:endParaRPr lang="zh-CN" altLang="en-US" sz="2135" dirty="0">
                <a:solidFill>
                  <a:schemeClr val="tx1">
                    <a:lumMod val="95000"/>
                    <a:lumOff val="5000"/>
                  </a:schemeClr>
                </a:solidFill>
                <a:latin typeface="+mj-ea"/>
                <a:ea typeface="+mj-ea"/>
              </a:endParaRPr>
            </a:p>
            <a:p>
              <a:pPr fontAlgn="base">
                <a:spcBef>
                  <a:spcPct val="0"/>
                </a:spcBef>
                <a:spcAft>
                  <a:spcPct val="0"/>
                </a:spcAft>
                <a:defRPr/>
              </a:pPr>
              <a:endParaRPr lang="zh-CN" altLang="en-US" sz="2135" dirty="0">
                <a:solidFill>
                  <a:schemeClr val="tx1">
                    <a:lumMod val="95000"/>
                    <a:lumOff val="5000"/>
                  </a:schemeClr>
                </a:solidFill>
                <a:latin typeface="+mj-ea"/>
                <a:ea typeface="+mj-ea"/>
              </a:endParaRPr>
            </a:p>
          </p:txBody>
        </p:sp>
        <p:sp>
          <p:nvSpPr>
            <p:cNvPr id="42" name="矩形 41"/>
            <p:cNvSpPr/>
            <p:nvPr/>
          </p:nvSpPr>
          <p:spPr>
            <a:xfrm>
              <a:off x="4850950" y="1226253"/>
              <a:ext cx="1582837" cy="230833"/>
            </a:xfrm>
            <a:prstGeom prst="rect">
              <a:avLst/>
            </a:prstGeom>
          </p:spPr>
          <p:txBody>
            <a:bodyPr wrap="none">
              <a:spAutoFit/>
            </a:bodyPr>
            <a:lstStyle/>
            <a:p>
              <a:pPr lvl="0" fontAlgn="base">
                <a:spcBef>
                  <a:spcPct val="0"/>
                </a:spcBef>
                <a:spcAft>
                  <a:spcPct val="0"/>
                </a:spcAft>
                <a:defRPr/>
              </a:pPr>
              <a:r>
                <a:rPr lang="en-US" altLang="zh-CN" sz="1400" dirty="0" err="1">
                  <a:solidFill>
                    <a:schemeClr val="tx1">
                      <a:lumMod val="95000"/>
                      <a:lumOff val="5000"/>
                    </a:schemeClr>
                  </a:solidFill>
                  <a:latin typeface="Calibri Light" panose="020F0302020204030204" pitchFamily="34" charset="0"/>
                  <a:ea typeface="方正兰亭黑_GBK"/>
                </a:rPr>
                <a:t>UltraEdit</a:t>
              </a:r>
              <a:r>
                <a:rPr lang="en-US" altLang="zh-CN" sz="1400" dirty="0">
                  <a:solidFill>
                    <a:schemeClr val="tx1">
                      <a:lumMod val="95000"/>
                      <a:lumOff val="5000"/>
                    </a:schemeClr>
                  </a:solidFill>
                  <a:latin typeface="Calibri Light" panose="020F0302020204030204" pitchFamily="34" charset="0"/>
                  <a:ea typeface="方正兰亭黑_GBK"/>
                </a:rPr>
                <a:t> format dissection</a:t>
              </a:r>
              <a:endParaRPr lang="en-US" altLang="zh-CN" sz="1400" dirty="0">
                <a:solidFill>
                  <a:schemeClr val="tx1">
                    <a:lumMod val="95000"/>
                    <a:lumOff val="5000"/>
                  </a:schemeClr>
                </a:solidFill>
                <a:latin typeface="Calibri Light" panose="020F0302020204030204" pitchFamily="34" charset="0"/>
                <a:ea typeface="方正兰亭黑_GBK"/>
              </a:endParaRPr>
            </a:p>
          </p:txBody>
        </p:sp>
      </p:grpSp>
      <p:sp>
        <p:nvSpPr>
          <p:cNvPr id="43" name="椭圆 42"/>
          <p:cNvSpPr/>
          <p:nvPr/>
        </p:nvSpPr>
        <p:spPr>
          <a:xfrm>
            <a:off x="5940367" y="2813001"/>
            <a:ext cx="506492" cy="506492"/>
          </a:xfrm>
          <a:prstGeom prst="ellipse">
            <a:avLst/>
          </a:prstGeom>
          <a:solidFill>
            <a:srgbClr val="6B155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2400" dirty="0">
                <a:solidFill>
                  <a:srgbClr val="F2F2F2"/>
                </a:solidFill>
              </a:rPr>
              <a:t>2</a:t>
            </a:r>
            <a:endParaRPr lang="zh-CN" altLang="en-US" sz="2400" dirty="0">
              <a:solidFill>
                <a:srgbClr val="F2F2F2"/>
              </a:solidFill>
            </a:endParaRPr>
          </a:p>
        </p:txBody>
      </p:sp>
      <p:grpSp>
        <p:nvGrpSpPr>
          <p:cNvPr id="44" name="组合 43"/>
          <p:cNvGrpSpPr/>
          <p:nvPr/>
        </p:nvGrpSpPr>
        <p:grpSpPr>
          <a:xfrm>
            <a:off x="6464742" y="4082215"/>
            <a:ext cx="2009589" cy="694731"/>
            <a:chOff x="4850950" y="936038"/>
            <a:chExt cx="1507192" cy="521048"/>
          </a:xfrm>
        </p:grpSpPr>
        <p:sp>
          <p:nvSpPr>
            <p:cNvPr id="45" name="文本框 6"/>
            <p:cNvSpPr txBox="1">
              <a:spLocks noChangeArrowheads="1"/>
            </p:cNvSpPr>
            <p:nvPr/>
          </p:nvSpPr>
          <p:spPr bwMode="auto">
            <a:xfrm>
              <a:off x="4850950" y="936038"/>
              <a:ext cx="1372010" cy="31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135" dirty="0">
                  <a:solidFill>
                    <a:schemeClr val="tx1">
                      <a:lumMod val="95000"/>
                      <a:lumOff val="5000"/>
                    </a:schemeClr>
                  </a:solidFill>
                  <a:latin typeface="+mj-ea"/>
                  <a:ea typeface="+mj-ea"/>
                </a:rPr>
                <a:t>秘密信息隐藏</a:t>
              </a:r>
              <a:endParaRPr lang="zh-CN" altLang="en-US" sz="2135" dirty="0">
                <a:solidFill>
                  <a:schemeClr val="tx1">
                    <a:lumMod val="95000"/>
                    <a:lumOff val="5000"/>
                  </a:schemeClr>
                </a:solidFill>
                <a:latin typeface="+mj-ea"/>
                <a:ea typeface="+mj-ea"/>
              </a:endParaRPr>
            </a:p>
          </p:txBody>
        </p:sp>
        <p:sp>
          <p:nvSpPr>
            <p:cNvPr id="46" name="矩形 45"/>
            <p:cNvSpPr/>
            <p:nvPr/>
          </p:nvSpPr>
          <p:spPr>
            <a:xfrm>
              <a:off x="4850950" y="1226253"/>
              <a:ext cx="1507192" cy="230833"/>
            </a:xfrm>
            <a:prstGeom prst="rect">
              <a:avLst/>
            </a:prstGeom>
          </p:spPr>
          <p:txBody>
            <a:bodyPr wrap="none">
              <a:spAutoFit/>
            </a:bodyPr>
            <a:lstStyle/>
            <a:p>
              <a:pPr lvl="0" fontAlgn="base">
                <a:spcBef>
                  <a:spcPct val="0"/>
                </a:spcBef>
                <a:spcAft>
                  <a:spcPct val="0"/>
                </a:spcAft>
                <a:defRPr/>
              </a:pPr>
              <a:r>
                <a:rPr lang="en-US" altLang="zh-CN" sz="1400" dirty="0">
                  <a:solidFill>
                    <a:schemeClr val="tx1">
                      <a:lumMod val="95000"/>
                      <a:lumOff val="5000"/>
                    </a:schemeClr>
                  </a:solidFill>
                  <a:latin typeface="Calibri Light" panose="020F0302020204030204" pitchFamily="34" charset="0"/>
                  <a:ea typeface="方正兰亭黑_GBK"/>
                </a:rPr>
                <a:t>Secret information hiding</a:t>
              </a:r>
              <a:endParaRPr lang="en-US" altLang="zh-CN" sz="1400" dirty="0">
                <a:solidFill>
                  <a:schemeClr val="tx1">
                    <a:lumMod val="95000"/>
                    <a:lumOff val="5000"/>
                  </a:schemeClr>
                </a:solidFill>
                <a:latin typeface="Calibri Light" panose="020F0302020204030204" pitchFamily="34" charset="0"/>
                <a:ea typeface="方正兰亭黑_GBK"/>
              </a:endParaRPr>
            </a:p>
          </p:txBody>
        </p:sp>
      </p:grpSp>
      <p:sp>
        <p:nvSpPr>
          <p:cNvPr id="47" name="椭圆 46"/>
          <p:cNvSpPr/>
          <p:nvPr/>
        </p:nvSpPr>
        <p:spPr>
          <a:xfrm>
            <a:off x="5940367" y="4191723"/>
            <a:ext cx="506492" cy="506492"/>
          </a:xfrm>
          <a:prstGeom prst="ellipse">
            <a:avLst/>
          </a:prstGeom>
          <a:solidFill>
            <a:srgbClr val="6B155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2400" dirty="0">
                <a:solidFill>
                  <a:srgbClr val="F2F2F2"/>
                </a:solidFill>
              </a:rPr>
              <a:t>3</a:t>
            </a:r>
            <a:endParaRPr lang="zh-CN" altLang="en-US" sz="2400" dirty="0">
              <a:solidFill>
                <a:srgbClr val="F2F2F2"/>
              </a:solidFill>
            </a:endParaRPr>
          </a:p>
        </p:txBody>
      </p:sp>
      <p:grpSp>
        <p:nvGrpSpPr>
          <p:cNvPr id="48" name="组合 47"/>
          <p:cNvGrpSpPr/>
          <p:nvPr/>
        </p:nvGrpSpPr>
        <p:grpSpPr>
          <a:xfrm>
            <a:off x="6464742" y="5391325"/>
            <a:ext cx="2284856" cy="694731"/>
            <a:chOff x="4850950" y="936038"/>
            <a:chExt cx="1713642" cy="521048"/>
          </a:xfrm>
        </p:grpSpPr>
        <p:sp>
          <p:nvSpPr>
            <p:cNvPr id="49" name="文本框 6"/>
            <p:cNvSpPr txBox="1">
              <a:spLocks noChangeArrowheads="1"/>
            </p:cNvSpPr>
            <p:nvPr/>
          </p:nvSpPr>
          <p:spPr bwMode="auto">
            <a:xfrm>
              <a:off x="4850950" y="936038"/>
              <a:ext cx="1372010" cy="31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135" dirty="0">
                  <a:solidFill>
                    <a:schemeClr val="tx1">
                      <a:lumMod val="95000"/>
                      <a:lumOff val="5000"/>
                    </a:schemeClr>
                  </a:solidFill>
                  <a:latin typeface="+mj-ea"/>
                  <a:ea typeface="+mj-ea"/>
                </a:rPr>
                <a:t>秘密信息提取</a:t>
              </a:r>
              <a:endParaRPr lang="zh-CN" altLang="en-US" sz="2135" dirty="0">
                <a:solidFill>
                  <a:schemeClr val="tx1">
                    <a:lumMod val="95000"/>
                    <a:lumOff val="5000"/>
                  </a:schemeClr>
                </a:solidFill>
                <a:latin typeface="+mj-ea"/>
                <a:ea typeface="+mj-ea"/>
              </a:endParaRPr>
            </a:p>
          </p:txBody>
        </p:sp>
        <p:sp>
          <p:nvSpPr>
            <p:cNvPr id="50" name="矩形 49"/>
            <p:cNvSpPr/>
            <p:nvPr/>
          </p:nvSpPr>
          <p:spPr>
            <a:xfrm>
              <a:off x="4850950" y="1226253"/>
              <a:ext cx="1713642" cy="230833"/>
            </a:xfrm>
            <a:prstGeom prst="rect">
              <a:avLst/>
            </a:prstGeom>
          </p:spPr>
          <p:txBody>
            <a:bodyPr wrap="none">
              <a:spAutoFit/>
            </a:bodyPr>
            <a:lstStyle/>
            <a:p>
              <a:pPr lvl="0" fontAlgn="base">
                <a:spcBef>
                  <a:spcPct val="0"/>
                </a:spcBef>
                <a:spcAft>
                  <a:spcPct val="0"/>
                </a:spcAft>
                <a:defRPr/>
              </a:pPr>
              <a:r>
                <a:rPr lang="en-US" altLang="zh-CN" sz="1400" dirty="0">
                  <a:solidFill>
                    <a:schemeClr val="tx1">
                      <a:lumMod val="95000"/>
                      <a:lumOff val="5000"/>
                    </a:schemeClr>
                  </a:solidFill>
                  <a:latin typeface="Calibri Light" panose="020F0302020204030204" pitchFamily="34" charset="0"/>
                  <a:ea typeface="方正兰亭黑_GBK"/>
                </a:rPr>
                <a:t>Secret information extracting</a:t>
              </a:r>
              <a:endParaRPr lang="en-US" altLang="zh-CN" sz="1400" dirty="0">
                <a:solidFill>
                  <a:schemeClr val="tx1">
                    <a:lumMod val="95000"/>
                    <a:lumOff val="5000"/>
                  </a:schemeClr>
                </a:solidFill>
                <a:latin typeface="Calibri Light" panose="020F0302020204030204" pitchFamily="34" charset="0"/>
                <a:ea typeface="方正兰亭黑_GBK"/>
              </a:endParaRPr>
            </a:p>
          </p:txBody>
        </p:sp>
      </p:grpSp>
      <p:sp>
        <p:nvSpPr>
          <p:cNvPr id="51" name="椭圆 50"/>
          <p:cNvSpPr/>
          <p:nvPr/>
        </p:nvSpPr>
        <p:spPr>
          <a:xfrm>
            <a:off x="5940367" y="5500834"/>
            <a:ext cx="506492" cy="506492"/>
          </a:xfrm>
          <a:prstGeom prst="ellipse">
            <a:avLst/>
          </a:prstGeom>
          <a:solidFill>
            <a:srgbClr val="6B155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2400" dirty="0">
                <a:solidFill>
                  <a:srgbClr val="F2F2F2"/>
                </a:solidFill>
              </a:rPr>
              <a:t>4</a:t>
            </a:r>
            <a:endParaRPr lang="zh-CN" altLang="en-US" sz="2400" dirty="0">
              <a:solidFill>
                <a:srgbClr val="F2F2F2"/>
              </a:solidFill>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八角星 1"/>
          <p:cNvSpPr/>
          <p:nvPr/>
        </p:nvSpPr>
        <p:spPr>
          <a:xfrm>
            <a:off x="4286885" y="2373630"/>
            <a:ext cx="2129790" cy="2129790"/>
          </a:xfrm>
          <a:prstGeom prst="star8">
            <a:avLst>
              <a:gd name="adj" fmla="val 38189"/>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tIns="288290" rIns="36195" bIns="0" rtlCol="0" anchor="ctr" anchorCtr="1"/>
          <a:lstStyle/>
          <a:p>
            <a:pPr algn="ctr" fontAlgn="auto">
              <a:lnSpc>
                <a:spcPts val="4000"/>
              </a:lnSpc>
            </a:pPr>
            <a:r>
              <a:rPr lang="en-US" altLang="zh-CN" sz="4000" b="1">
                <a:latin typeface="微软雅黑" panose="020B0503020204020204" pitchFamily="34" charset="-122"/>
                <a:ea typeface="微软雅黑" panose="020B0503020204020204" pitchFamily="34" charset="-122"/>
              </a:rPr>
              <a:t>PART</a:t>
            </a:r>
            <a:endParaRPr lang="en-US" altLang="zh-CN" sz="4000" b="1">
              <a:latin typeface="微软雅黑" panose="020B0503020204020204" pitchFamily="34" charset="-122"/>
              <a:ea typeface="微软雅黑" panose="020B0503020204020204" pitchFamily="34" charset="-122"/>
            </a:endParaRPr>
          </a:p>
          <a:p>
            <a:pPr algn="ctr" fontAlgn="auto">
              <a:lnSpc>
                <a:spcPts val="4000"/>
              </a:lnSpc>
            </a:pPr>
            <a:r>
              <a:rPr lang="en-US" altLang="zh-CN" sz="4000" b="1">
                <a:latin typeface="微软雅黑" panose="020B0503020204020204" pitchFamily="34" charset="-122"/>
                <a:ea typeface="微软雅黑" panose="020B0503020204020204" pitchFamily="34" charset="-122"/>
              </a:rPr>
              <a:t>01</a:t>
            </a:r>
            <a:endParaRPr lang="en-US" altLang="zh-CN" sz="4000" b="1">
              <a:latin typeface="微软雅黑" panose="020B0503020204020204" pitchFamily="34" charset="-122"/>
              <a:ea typeface="微软雅黑" panose="020B0503020204020204" pitchFamily="34" charset="-122"/>
            </a:endParaRPr>
          </a:p>
        </p:txBody>
      </p:sp>
      <p:sp>
        <p:nvSpPr>
          <p:cNvPr id="9240" name="文本框 47"/>
          <p:cNvSpPr txBox="1"/>
          <p:nvPr/>
        </p:nvSpPr>
        <p:spPr>
          <a:xfrm>
            <a:off x="6238558" y="2884805"/>
            <a:ext cx="5762625" cy="769441"/>
          </a:xfrm>
          <a:prstGeom prst="rect">
            <a:avLst/>
          </a:prstGeom>
          <a:noFill/>
          <a:ln w="9525">
            <a:noFill/>
          </a:ln>
        </p:spPr>
        <p:txBody>
          <a:bodyPr vert="horz" wrap="square" anchor="t">
            <a:spAutoFit/>
          </a:bodyPr>
          <a:lstStyle/>
          <a:p>
            <a:pPr lvl="0" algn="ctr">
              <a:buClrTx/>
              <a:buSzTx/>
              <a:buFontTx/>
            </a:pPr>
            <a:r>
              <a:rPr lang="zh-CN" altLang="en-US" sz="44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实验原理</a:t>
            </a:r>
            <a:endParaRPr lang="zh-CN" sz="44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3110865" y="539115"/>
            <a:ext cx="3119755" cy="5880735"/>
            <a:chOff x="4899" y="849"/>
            <a:chExt cx="4913" cy="9261"/>
          </a:xfrm>
        </p:grpSpPr>
        <p:pic>
          <p:nvPicPr>
            <p:cNvPr id="5" name="图片 4"/>
            <p:cNvPicPr>
              <a:picLocks noChangeAspect="1"/>
            </p:cNvPicPr>
            <p:nvPr/>
          </p:nvPicPr>
          <p:blipFill>
            <a:blip r:embed="rId1"/>
            <a:stretch>
              <a:fillRect/>
            </a:stretch>
          </p:blipFill>
          <p:spPr>
            <a:xfrm>
              <a:off x="5467" y="849"/>
              <a:ext cx="4345" cy="3310"/>
            </a:xfrm>
            <a:prstGeom prst="rect">
              <a:avLst/>
            </a:prstGeom>
          </p:spPr>
        </p:pic>
        <p:pic>
          <p:nvPicPr>
            <p:cNvPr id="9" name="图片 8"/>
            <p:cNvPicPr>
              <a:picLocks noChangeAspect="1"/>
            </p:cNvPicPr>
            <p:nvPr/>
          </p:nvPicPr>
          <p:blipFill>
            <a:blip r:embed="rId2"/>
            <a:stretch>
              <a:fillRect/>
            </a:stretch>
          </p:blipFill>
          <p:spPr>
            <a:xfrm>
              <a:off x="4899" y="7022"/>
              <a:ext cx="4054" cy="3088"/>
            </a:xfrm>
            <a:prstGeom prst="rect">
              <a:avLst/>
            </a:prstGeom>
          </p:spPr>
        </p:pic>
      </p:grpSp>
      <p:sp>
        <p:nvSpPr>
          <p:cNvPr id="14" name="文本框 13"/>
          <p:cNvSpPr txBox="1"/>
          <p:nvPr/>
        </p:nvSpPr>
        <p:spPr>
          <a:xfrm>
            <a:off x="4707255" y="233680"/>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实验原理</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sp>
        <p:nvSpPr>
          <p:cNvPr id="2" name="同心圆 1"/>
          <p:cNvSpPr/>
          <p:nvPr/>
        </p:nvSpPr>
        <p:spPr>
          <a:xfrm>
            <a:off x="480695" y="1600835"/>
            <a:ext cx="2991485" cy="2858135"/>
          </a:xfrm>
          <a:prstGeom prst="donut">
            <a:avLst>
              <a:gd name="adj" fmla="val 30560"/>
            </a:avLst>
          </a:prstGeom>
          <a:blipFill rotWithShape="1">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1111"/>
          <p:cNvSpPr txBox="1"/>
          <p:nvPr>
            <p:custDataLst>
              <p:tags r:id="rId4"/>
            </p:custDataLst>
          </p:nvPr>
        </p:nvSpPr>
        <p:spPr>
          <a:xfrm>
            <a:off x="3472180" y="1485265"/>
            <a:ext cx="8074025" cy="2973705"/>
          </a:xfrm>
          <a:prstGeom prst="rect">
            <a:avLst/>
          </a:prstGeom>
          <a:noFill/>
          <a:ln w="9525">
            <a:noFill/>
          </a:ln>
        </p:spPr>
        <p:txBody>
          <a:bodyPr wrap="square" anchor="t">
            <a:noAutofit/>
          </a:bodyPr>
          <a:lstStyle/>
          <a:p>
            <a:pPr marL="0" marR="0" lvl="0" indent="0" algn="l" defTabSz="685800" rtl="0" eaLnBrk="1" fontAlgn="auto" latinLnBrk="0" hangingPunct="1">
              <a:lnSpc>
                <a:spcPct val="150000"/>
              </a:lnSpc>
              <a:spcBef>
                <a:spcPts val="600"/>
              </a:spcBef>
              <a:spcAft>
                <a:spcPts val="0"/>
              </a:spcAft>
              <a:buClrTx/>
              <a:buSzTx/>
              <a:buFontTx/>
              <a:buNone/>
              <a:defRPr/>
            </a:pP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音频信息隐藏技术是将秘密数据直接嵌入音频载体中，但不影响原载体的使用价值，也不容易被人的知觉系统觉察或注意到的一种</a:t>
            </a:r>
            <a:r>
              <a:rPr lang="zh-CN" altLang="en-US" sz="1600" b="1" noProof="0" dirty="0">
                <a:ln>
                  <a:noFill/>
                </a:ln>
                <a:solidFill>
                  <a:srgbClr val="701E5E"/>
                </a:solidFill>
                <a:effectLst/>
                <a:uLnTx/>
                <a:uFillTx/>
                <a:latin typeface="Calibri Light" panose="020F0302020204030204"/>
                <a:ea typeface="微软雅黑 Light" panose="020B0502040204020203" charset="-122"/>
                <a:sym typeface="+mn-ea"/>
              </a:rPr>
              <a:t>数字水印技术</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a:t>
            </a:r>
            <a:endParaRPr kumimoji="0" lang="en-US" altLang="zh-CN" sz="1600" b="0" i="0" u="none" strike="noStrike" kern="1200" cap="none" spc="0" normalizeH="0" baseline="0" noProof="0" dirty="0">
              <a:ln>
                <a:noFill/>
              </a:ln>
              <a:solidFill>
                <a:srgbClr val="701E5E"/>
              </a:solidFill>
              <a:effectLst/>
              <a:uLnTx/>
              <a:uFillTx/>
              <a:latin typeface="Calibri Light" panose="020F0302020204030204"/>
              <a:ea typeface="微软雅黑 Light" panose="020B0502040204020203" charset="-122"/>
              <a:cs typeface="+mn-cs"/>
            </a:endParaRPr>
          </a:p>
          <a:p>
            <a:pPr marL="0" marR="0" lvl="0" indent="0" algn="l" defTabSz="685800" rtl="0" eaLnBrk="1" fontAlgn="auto" latinLnBrk="0" hangingPunct="1">
              <a:lnSpc>
                <a:spcPct val="150000"/>
              </a:lnSpc>
              <a:spcBef>
                <a:spcPts val="600"/>
              </a:spcBef>
              <a:spcAft>
                <a:spcPts val="0"/>
              </a:spcAft>
              <a:buClrTx/>
              <a:buSzTx/>
              <a:buFontTx/>
              <a:buNone/>
              <a:defRPr/>
            </a:pP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作为信息隐藏的一个重要分支，它主要涉及的域有时域、频域、</a:t>
            </a:r>
            <a:r>
              <a:rPr lang="en-US" altLang="zh-CN" sz="1600" noProof="0" dirty="0">
                <a:ln>
                  <a:noFill/>
                </a:ln>
                <a:solidFill>
                  <a:srgbClr val="701E5E"/>
                </a:solidFill>
                <a:effectLst/>
                <a:uLnTx/>
                <a:uFillTx/>
                <a:latin typeface="Calibri Light" panose="020F0302020204030204"/>
                <a:ea typeface="微软雅黑 Light" panose="020B0502040204020203" charset="-122"/>
                <a:sym typeface="+mn-ea"/>
              </a:rPr>
              <a:t>DCT </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域、</a:t>
            </a:r>
            <a:r>
              <a:rPr lang="en-US" altLang="zh-CN" sz="1600" noProof="0" dirty="0">
                <a:ln>
                  <a:noFill/>
                </a:ln>
                <a:solidFill>
                  <a:srgbClr val="701E5E"/>
                </a:solidFill>
                <a:effectLst/>
                <a:uLnTx/>
                <a:uFillTx/>
                <a:latin typeface="Calibri Light" panose="020F0302020204030204"/>
                <a:ea typeface="微软雅黑 Light" panose="020B0502040204020203" charset="-122"/>
                <a:sym typeface="+mn-ea"/>
              </a:rPr>
              <a:t>Wavelet </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域、压缩域等。</a:t>
            </a:r>
            <a:endParaRPr kumimoji="0" lang="en-US" altLang="zh-CN" sz="1600" b="0" i="0" u="none" strike="noStrike" kern="1200" cap="none" spc="0" normalizeH="0" baseline="0" noProof="0" dirty="0">
              <a:ln>
                <a:noFill/>
              </a:ln>
              <a:solidFill>
                <a:srgbClr val="701E5E"/>
              </a:solidFill>
              <a:effectLst/>
              <a:uLnTx/>
              <a:uFillTx/>
              <a:latin typeface="Calibri Light" panose="020F0302020204030204"/>
              <a:ea typeface="微软雅黑 Light" panose="020B0502040204020203" charset="-122"/>
              <a:cs typeface="+mn-cs"/>
            </a:endParaRPr>
          </a:p>
          <a:p>
            <a:pPr marL="0" marR="0" lvl="0" indent="0" algn="l" defTabSz="685800" rtl="0" eaLnBrk="1" fontAlgn="auto" latinLnBrk="0" hangingPunct="1">
              <a:lnSpc>
                <a:spcPct val="150000"/>
              </a:lnSpc>
              <a:spcBef>
                <a:spcPts val="600"/>
              </a:spcBef>
              <a:spcAft>
                <a:spcPts val="0"/>
              </a:spcAft>
              <a:buClrTx/>
              <a:buSzTx/>
              <a:buFontTx/>
              <a:buNone/>
              <a:defRPr/>
            </a:pP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音频信息隐藏技术的主要方法是根据待隐藏信息，对</a:t>
            </a:r>
            <a:r>
              <a:rPr lang="zh-CN" altLang="en-US" sz="1600" b="1" noProof="0" dirty="0">
                <a:ln>
                  <a:noFill/>
                </a:ln>
                <a:solidFill>
                  <a:srgbClr val="701E5E"/>
                </a:solidFill>
                <a:effectLst/>
                <a:uLnTx/>
                <a:uFillTx/>
                <a:latin typeface="Calibri Light" panose="020F0302020204030204"/>
                <a:ea typeface="微软雅黑 Light" panose="020B0502040204020203" charset="-122"/>
                <a:sym typeface="+mn-ea"/>
              </a:rPr>
              <a:t>人耳听觉不敏感</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的音频参数进行修改，以达到信息嵌入的目的，而人耳听觉的敏感性则被听觉阈值、听觉掩闭效应、相位不敏感等特征所影响。</a:t>
            </a:r>
            <a:endParaRPr lang="zh-CN" altLang="en-US" sz="1600" noProof="0" dirty="0">
              <a:ln>
                <a:noFill/>
              </a:ln>
              <a:solidFill>
                <a:srgbClr val="701E5E"/>
              </a:solidFill>
              <a:effectLst/>
              <a:uLnTx/>
              <a:uFillTx/>
              <a:latin typeface="Calibri Light" panose="020F0302020204030204"/>
              <a:ea typeface="微软雅黑 Light" panose="020B0502040204020203" charset="-122"/>
              <a:sym typeface="+mn-ea"/>
            </a:endParaRPr>
          </a:p>
        </p:txBody>
      </p:sp>
      <p:cxnSp>
        <p:nvCxnSpPr>
          <p:cNvPr id="10" name="直接连接符 9"/>
          <p:cNvCxnSpPr/>
          <p:nvPr>
            <p:custDataLst>
              <p:tags r:id="rId5"/>
            </p:custDataLst>
          </p:nvPr>
        </p:nvCxnSpPr>
        <p:spPr>
          <a:xfrm>
            <a:off x="4707255" y="4311650"/>
            <a:ext cx="6695440" cy="0"/>
          </a:xfrm>
          <a:prstGeom prst="line">
            <a:avLst/>
          </a:prstGeom>
          <a:ln w="19050">
            <a:solidFill>
              <a:srgbClr val="B78EAE"/>
            </a:solidFill>
            <a:prstDash val="dash"/>
          </a:ln>
        </p:spPr>
        <p:style>
          <a:lnRef idx="1">
            <a:schemeClr val="accent1"/>
          </a:lnRef>
          <a:fillRef idx="0">
            <a:schemeClr val="accent1"/>
          </a:fillRef>
          <a:effectRef idx="0">
            <a:schemeClr val="accent1"/>
          </a:effectRef>
          <a:fontRef idx="minor">
            <a:schemeClr val="tx1"/>
          </a:fontRef>
        </p:style>
      </p:cxnSp>
      <p:sp>
        <p:nvSpPr>
          <p:cNvPr id="13" name="1111"/>
          <p:cNvSpPr txBox="1"/>
          <p:nvPr>
            <p:custDataLst>
              <p:tags r:id="rId6"/>
            </p:custDataLst>
          </p:nvPr>
        </p:nvSpPr>
        <p:spPr>
          <a:xfrm>
            <a:off x="3870325" y="4311015"/>
            <a:ext cx="8079740" cy="2546985"/>
          </a:xfrm>
          <a:prstGeom prst="rect">
            <a:avLst/>
          </a:prstGeom>
          <a:noFill/>
          <a:ln w="9525">
            <a:noFill/>
          </a:ln>
        </p:spPr>
        <p:txBody>
          <a:bodyPr wrap="square" anchor="t">
            <a:noAutofit/>
          </a:bodyPr>
          <a:lstStyle/>
          <a:p>
            <a:pPr marL="0" marR="0" lvl="0" indent="0" algn="l" defTabSz="685800" rtl="0" eaLnBrk="1" fontAlgn="auto" latinLnBrk="0" hangingPunct="1">
              <a:lnSpc>
                <a:spcPct val="150000"/>
              </a:lnSpc>
              <a:spcBef>
                <a:spcPts val="600"/>
              </a:spcBef>
              <a:spcAft>
                <a:spcPts val="0"/>
              </a:spcAft>
              <a:buClrTx/>
              <a:buSzTx/>
              <a:buFontTx/>
              <a:buNone/>
              <a:defRPr/>
            </a:pPr>
            <a:r>
              <a:rPr lang="en-US" altLang="zh-CN" sz="1600" noProof="0" dirty="0">
                <a:ln>
                  <a:noFill/>
                </a:ln>
                <a:solidFill>
                  <a:srgbClr val="701E5E"/>
                </a:solidFill>
                <a:effectLst/>
                <a:uLnTx/>
                <a:uFillTx/>
                <a:latin typeface="Calibri Light" panose="020F0302020204030204"/>
                <a:ea typeface="微软雅黑 Light" panose="020B0502040204020203" charset="-122"/>
                <a:sym typeface="+mn-ea"/>
              </a:rPr>
              <a:t>LSB </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全称为</a:t>
            </a:r>
            <a:r>
              <a:rPr lang="en-US" altLang="zh-CN" sz="1600" noProof="0" dirty="0">
                <a:ln>
                  <a:noFill/>
                </a:ln>
                <a:solidFill>
                  <a:srgbClr val="701E5E"/>
                </a:solidFill>
                <a:effectLst/>
                <a:uLnTx/>
                <a:uFillTx/>
                <a:latin typeface="Calibri Light" panose="020F0302020204030204"/>
                <a:ea typeface="微软雅黑 Light" panose="020B0502040204020203" charset="-122"/>
                <a:sym typeface="+mn-ea"/>
              </a:rPr>
              <a:t>Least Significant Bit</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，即最不重要位。</a:t>
            </a:r>
            <a:r>
              <a:rPr lang="en-US" altLang="zh-CN" sz="1600" noProof="0" dirty="0">
                <a:ln>
                  <a:noFill/>
                </a:ln>
                <a:solidFill>
                  <a:srgbClr val="701E5E"/>
                </a:solidFill>
                <a:effectLst/>
                <a:uLnTx/>
                <a:uFillTx/>
                <a:latin typeface="Calibri Light" panose="020F0302020204030204"/>
                <a:ea typeface="微软雅黑 Light" panose="020B0502040204020203" charset="-122"/>
                <a:sym typeface="+mn-ea"/>
              </a:rPr>
              <a:t>LSB </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方法是一种最简单的数据嵌入方法。任何秘密数据都可以看做是一串二进制位流，而音频文件的每一个采样数据也是用二进制数来表示的。这样，</a:t>
            </a:r>
            <a:r>
              <a:rPr lang="zh-CN" altLang="en-US" sz="1600" b="1" noProof="0" dirty="0">
                <a:ln>
                  <a:noFill/>
                </a:ln>
                <a:solidFill>
                  <a:srgbClr val="701E5E"/>
                </a:solidFill>
                <a:effectLst/>
                <a:uLnTx/>
                <a:uFillTx/>
                <a:latin typeface="Calibri Light" panose="020F0302020204030204"/>
                <a:ea typeface="微软雅黑 Light" panose="020B0502040204020203" charset="-122"/>
                <a:sym typeface="+mn-ea"/>
              </a:rPr>
              <a:t>可以将每一个采样值的最不重要位</a:t>
            </a:r>
            <a:r>
              <a:rPr lang="en-US" altLang="zh-CN" sz="1600" b="1" noProof="0" dirty="0">
                <a:ln>
                  <a:noFill/>
                </a:ln>
                <a:solidFill>
                  <a:srgbClr val="701E5E"/>
                </a:solidFill>
                <a:effectLst/>
                <a:uLnTx/>
                <a:uFillTx/>
                <a:latin typeface="Calibri Light" panose="020F0302020204030204"/>
                <a:ea typeface="微软雅黑 Light" panose="020B0502040204020203" charset="-122"/>
                <a:sym typeface="+mn-ea"/>
              </a:rPr>
              <a:t>(</a:t>
            </a:r>
            <a:r>
              <a:rPr lang="zh-CN" altLang="en-US" sz="1600" b="1" noProof="0" dirty="0">
                <a:ln>
                  <a:noFill/>
                </a:ln>
                <a:solidFill>
                  <a:srgbClr val="701E5E"/>
                </a:solidFill>
                <a:effectLst/>
                <a:uLnTx/>
                <a:uFillTx/>
                <a:latin typeface="Calibri Light" panose="020F0302020204030204"/>
                <a:ea typeface="微软雅黑 Light" panose="020B0502040204020203" charset="-122"/>
                <a:sym typeface="+mn-ea"/>
              </a:rPr>
              <a:t>大多数情况下为最低位</a:t>
            </a:r>
            <a:r>
              <a:rPr lang="en-US" altLang="zh-CN" sz="1600" b="1" noProof="0" dirty="0">
                <a:ln>
                  <a:noFill/>
                </a:ln>
                <a:solidFill>
                  <a:srgbClr val="701E5E"/>
                </a:solidFill>
                <a:effectLst/>
                <a:uLnTx/>
                <a:uFillTx/>
                <a:latin typeface="Calibri Light" panose="020F0302020204030204"/>
                <a:ea typeface="微软雅黑 Light" panose="020B0502040204020203" charset="-122"/>
                <a:sym typeface="+mn-ea"/>
              </a:rPr>
              <a:t>)</a:t>
            </a:r>
            <a:r>
              <a:rPr lang="zh-CN" altLang="en-US" sz="1600" b="1" noProof="0" dirty="0">
                <a:ln>
                  <a:noFill/>
                </a:ln>
                <a:solidFill>
                  <a:srgbClr val="701E5E"/>
                </a:solidFill>
                <a:effectLst/>
                <a:uLnTx/>
                <a:uFillTx/>
                <a:latin typeface="Calibri Light" panose="020F0302020204030204"/>
                <a:ea typeface="微软雅黑 Light" panose="020B0502040204020203" charset="-122"/>
                <a:sym typeface="+mn-ea"/>
              </a:rPr>
              <a:t>，用代表秘密数据的二进制位替换</a:t>
            </a: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，以达到在音频信号中编码进秘密数据的目的。</a:t>
            </a:r>
            <a:endParaRPr kumimoji="0" lang="zh-CN" altLang="en-US" sz="1600" b="0" i="0" u="none" strike="noStrike" kern="1200" cap="none" spc="0" normalizeH="0" baseline="0" noProof="0" dirty="0">
              <a:ln>
                <a:noFill/>
              </a:ln>
              <a:solidFill>
                <a:srgbClr val="701E5E"/>
              </a:solidFill>
              <a:effectLst/>
              <a:uLnTx/>
              <a:uFillTx/>
              <a:latin typeface="Calibri Light" panose="020F0302020204030204"/>
              <a:ea typeface="微软雅黑 Light" panose="020B0502040204020203" charset="-122"/>
              <a:cs typeface="+mn-cs"/>
            </a:endParaRPr>
          </a:p>
          <a:p>
            <a:pPr marL="0" marR="0" lvl="0" indent="0" algn="l" defTabSz="685800" rtl="0" eaLnBrk="1" fontAlgn="auto" latinLnBrk="0" hangingPunct="1">
              <a:lnSpc>
                <a:spcPct val="150000"/>
              </a:lnSpc>
              <a:spcBef>
                <a:spcPts val="600"/>
              </a:spcBef>
              <a:spcAft>
                <a:spcPts val="0"/>
              </a:spcAft>
              <a:buClrTx/>
              <a:buSzTx/>
              <a:buFontTx/>
              <a:buNone/>
              <a:defRPr/>
            </a:pP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优点：简单，容易实现，容量大；</a:t>
            </a:r>
            <a:endParaRPr kumimoji="0" lang="zh-CN" altLang="en-US" sz="1600" b="0" i="0" u="none" strike="noStrike" kern="1200" cap="none" spc="0" normalizeH="0" baseline="0" noProof="0" dirty="0">
              <a:ln>
                <a:noFill/>
              </a:ln>
              <a:solidFill>
                <a:srgbClr val="701E5E"/>
              </a:solidFill>
              <a:effectLst/>
              <a:uLnTx/>
              <a:uFillTx/>
              <a:latin typeface="Calibri Light" panose="020F0302020204030204"/>
              <a:ea typeface="微软雅黑 Light" panose="020B0502040204020203" charset="-122"/>
              <a:cs typeface="+mn-cs"/>
            </a:endParaRPr>
          </a:p>
          <a:p>
            <a:pPr marL="0" marR="0" lvl="0" indent="0" algn="l" defTabSz="685800" rtl="0" eaLnBrk="1" fontAlgn="auto" latinLnBrk="0" hangingPunct="1">
              <a:lnSpc>
                <a:spcPct val="150000"/>
              </a:lnSpc>
              <a:spcBef>
                <a:spcPts val="600"/>
              </a:spcBef>
              <a:spcAft>
                <a:spcPts val="0"/>
              </a:spcAft>
              <a:buClrTx/>
              <a:buSzTx/>
              <a:buFontTx/>
              <a:buNone/>
              <a:defRPr/>
            </a:pPr>
            <a:r>
              <a:rPr lang="zh-CN" altLang="en-US" sz="1600" noProof="0" dirty="0">
                <a:ln>
                  <a:noFill/>
                </a:ln>
                <a:solidFill>
                  <a:srgbClr val="701E5E"/>
                </a:solidFill>
                <a:effectLst/>
                <a:uLnTx/>
                <a:uFillTx/>
                <a:latin typeface="Calibri Light" panose="020F0302020204030204"/>
                <a:ea typeface="微软雅黑 Light" panose="020B0502040204020203" charset="-122"/>
                <a:sym typeface="+mn-ea"/>
              </a:rPr>
              <a:t>缺点：安全性不高，不能抵抗叠加噪声，有损压缩等破坏；</a:t>
            </a:r>
            <a:endParaRPr lang="zh-CN" altLang="en-US" sz="1600" noProof="0" dirty="0">
              <a:ln>
                <a:noFill/>
              </a:ln>
              <a:solidFill>
                <a:srgbClr val="701E5E"/>
              </a:solidFill>
              <a:effectLst/>
              <a:uLnTx/>
              <a:uFillTx/>
              <a:latin typeface="Calibri Light" panose="020F0302020204030204"/>
              <a:ea typeface="微软雅黑 Light" panose="020B0502040204020203" charset="-122"/>
              <a:sym typeface="+mn-ea"/>
            </a:endParaRPr>
          </a:p>
        </p:txBody>
      </p:sp>
      <p:sp>
        <p:nvSpPr>
          <p:cNvPr id="29" name="矩形 28"/>
          <p:cNvSpPr/>
          <p:nvPr>
            <p:custDataLst>
              <p:tags r:id="rId7"/>
            </p:custDataLst>
          </p:nvPr>
        </p:nvSpPr>
        <p:spPr>
          <a:xfrm>
            <a:off x="5342160" y="1085122"/>
            <a:ext cx="2236510" cy="400110"/>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6B1554"/>
                </a:solidFill>
                <a:effectLst/>
                <a:uLnTx/>
                <a:uFillTx/>
                <a:latin typeface="微软雅黑" panose="020B0503020204020204" pitchFamily="34" charset="-122"/>
                <a:ea typeface="微软雅黑" panose="020B0503020204020204" pitchFamily="34" charset="-122"/>
                <a:cs typeface="+mn-cs"/>
              </a:rPr>
              <a:t>音频信息隐藏技术</a:t>
            </a:r>
            <a:endParaRPr kumimoji="0" lang="zh-CN" altLang="en-US" sz="2000" b="1" i="0" u="none" strike="noStrike" kern="1200" cap="none" spc="0" normalizeH="0" baseline="0" noProof="0" dirty="0">
              <a:ln>
                <a:noFill/>
              </a:ln>
              <a:solidFill>
                <a:srgbClr val="6B1554"/>
              </a:solidFill>
              <a:effectLst/>
              <a:uLnTx/>
              <a:uFillTx/>
              <a:latin typeface="微软雅黑" panose="020B0503020204020204" pitchFamily="34" charset="-122"/>
              <a:ea typeface="微软雅黑" panose="020B0503020204020204" pitchFamily="34" charset="-122"/>
              <a:cs typeface="+mn-cs"/>
            </a:endParaRPr>
          </a:p>
        </p:txBody>
      </p:sp>
      <p:sp>
        <p:nvSpPr>
          <p:cNvPr id="45" name="矩形 44"/>
          <p:cNvSpPr/>
          <p:nvPr>
            <p:custDataLst>
              <p:tags r:id="rId8"/>
            </p:custDataLst>
          </p:nvPr>
        </p:nvSpPr>
        <p:spPr>
          <a:xfrm>
            <a:off x="2305028" y="4458923"/>
            <a:ext cx="1167307" cy="400110"/>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altLang="zh-CN" sz="2000" b="1" dirty="0">
                <a:solidFill>
                  <a:srgbClr val="6B1554"/>
                </a:solidFill>
                <a:latin typeface="微软雅黑" panose="020B0503020204020204" pitchFamily="34" charset="-122"/>
                <a:ea typeface="微软雅黑" panose="020B0503020204020204" pitchFamily="34" charset="-122"/>
              </a:rPr>
              <a:t>LSB</a:t>
            </a:r>
            <a:r>
              <a:rPr lang="zh-CN" altLang="en-US" sz="2000" b="1" dirty="0">
                <a:solidFill>
                  <a:srgbClr val="6B1554"/>
                </a:solidFill>
                <a:latin typeface="微软雅黑" panose="020B0503020204020204" pitchFamily="34" charset="-122"/>
                <a:ea typeface="微软雅黑" panose="020B0503020204020204" pitchFamily="34" charset="-122"/>
              </a:rPr>
              <a:t>算法</a:t>
            </a:r>
            <a:endParaRPr kumimoji="0" lang="zh-CN" altLang="en-US" sz="2000" b="1" i="0" u="none" strike="noStrike" kern="1200" cap="none" spc="0" normalizeH="0" baseline="0" noProof="0" dirty="0">
              <a:ln>
                <a:noFill/>
              </a:ln>
              <a:solidFill>
                <a:srgbClr val="6B1554"/>
              </a:solidFill>
              <a:effectLst/>
              <a:uLnTx/>
              <a:uFillTx/>
              <a:latin typeface="微软雅黑" panose="020B0503020204020204" pitchFamily="34" charset="-122"/>
              <a:ea typeface="微软雅黑" panose="020B0503020204020204" pitchFamily="34" charset="-122"/>
              <a:cs typeface="+mn-cs"/>
            </a:endParaRPr>
          </a:p>
        </p:txBody>
      </p:sp>
    </p:spTree>
    <p:custDataLst>
      <p:tags r:id="rId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354978" y="201712"/>
            <a:ext cx="3441065" cy="649188"/>
          </a:xfrm>
          <a:prstGeom prst="roundRect">
            <a:avLst>
              <a:gd name="adj" fmla="val 49999"/>
            </a:avLst>
          </a:prstGeom>
          <a:solidFill>
            <a:srgbClr val="701E5E"/>
          </a:solidFill>
        </p:spPr>
        <p:txBody>
          <a:bodyPr wrap="square" rtlCol="0" anchor="t">
            <a:spAutoFit/>
          </a:bodyPr>
          <a:lstStyle/>
          <a:p>
            <a:pPr lvl="0" algn="ctr">
              <a:buClrTx/>
              <a:buSzTx/>
              <a:buFontTx/>
            </a:pP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LSB</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信息隐藏过程</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0995" y="1200785"/>
            <a:ext cx="6486820" cy="4730115"/>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50190" y="1295723"/>
            <a:ext cx="4043310" cy="4465826"/>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80000"/>
          </a:srgbClr>
        </a:solidFill>
        <a:effectLst/>
      </p:bgPr>
    </p:bg>
    <p:spTree>
      <p:nvGrpSpPr>
        <p:cNvPr id="1" name=""/>
        <p:cNvGrpSpPr/>
        <p:nvPr/>
      </p:nvGrpSpPr>
      <p:grpSpPr>
        <a:xfrm>
          <a:off x="0" y="0"/>
          <a:ext cx="0" cy="0"/>
          <a:chOff x="0" y="0"/>
          <a:chExt cx="0" cy="0"/>
        </a:xfrm>
      </p:grpSpPr>
      <p:sp>
        <p:nvSpPr>
          <p:cNvPr id="2" name="八角星 1"/>
          <p:cNvSpPr/>
          <p:nvPr/>
        </p:nvSpPr>
        <p:spPr>
          <a:xfrm>
            <a:off x="4286885" y="2373630"/>
            <a:ext cx="2129790" cy="2129790"/>
          </a:xfrm>
          <a:prstGeom prst="star8">
            <a:avLst>
              <a:gd name="adj" fmla="val 38189"/>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tIns="288290" rIns="36195" bIns="0" rtlCol="0" anchor="ctr" anchorCtr="1"/>
          <a:lstStyle/>
          <a:p>
            <a:pPr algn="ctr" fontAlgn="auto">
              <a:lnSpc>
                <a:spcPts val="4000"/>
              </a:lnSpc>
            </a:pPr>
            <a:r>
              <a:rPr lang="en-US" altLang="zh-CN" sz="4000" b="1" dirty="0">
                <a:latin typeface="微软雅黑" panose="020B0503020204020204" pitchFamily="34" charset="-122"/>
                <a:ea typeface="微软雅黑" panose="020B0503020204020204" pitchFamily="34" charset="-122"/>
              </a:rPr>
              <a:t>PART</a:t>
            </a:r>
            <a:endParaRPr lang="en-US" altLang="zh-CN" sz="4000" b="1" dirty="0">
              <a:latin typeface="微软雅黑" panose="020B0503020204020204" pitchFamily="34" charset="-122"/>
              <a:ea typeface="微软雅黑" panose="020B0503020204020204" pitchFamily="34" charset="-122"/>
            </a:endParaRPr>
          </a:p>
          <a:p>
            <a:pPr algn="ctr" fontAlgn="auto">
              <a:lnSpc>
                <a:spcPts val="4000"/>
              </a:lnSpc>
            </a:pPr>
            <a:r>
              <a:rPr lang="en-US" altLang="zh-CN" sz="4000" b="1" dirty="0">
                <a:latin typeface="微软雅黑" panose="020B0503020204020204" pitchFamily="34" charset="-122"/>
                <a:ea typeface="微软雅黑" panose="020B0503020204020204" pitchFamily="34" charset="-122"/>
              </a:rPr>
              <a:t>02</a:t>
            </a:r>
            <a:endParaRPr lang="en-US" altLang="zh-CN" sz="4000" b="1" dirty="0">
              <a:latin typeface="微软雅黑" panose="020B0503020204020204" pitchFamily="34" charset="-122"/>
              <a:ea typeface="微软雅黑" panose="020B0503020204020204" pitchFamily="34" charset="-122"/>
            </a:endParaRPr>
          </a:p>
        </p:txBody>
      </p:sp>
      <p:sp>
        <p:nvSpPr>
          <p:cNvPr id="9240" name="文本框 47"/>
          <p:cNvSpPr txBox="1"/>
          <p:nvPr/>
        </p:nvSpPr>
        <p:spPr>
          <a:xfrm>
            <a:off x="6429058" y="2884805"/>
            <a:ext cx="5762625" cy="1445260"/>
          </a:xfrm>
          <a:prstGeom prst="rect">
            <a:avLst/>
          </a:prstGeom>
          <a:noFill/>
          <a:ln w="9525">
            <a:noFill/>
          </a:ln>
        </p:spPr>
        <p:txBody>
          <a:bodyPr vert="horz" wrap="square" anchor="t">
            <a:spAutoFit/>
          </a:bodyPr>
          <a:lstStyle/>
          <a:p>
            <a:pPr lvl="0" algn="ctr">
              <a:buClrTx/>
              <a:buSzTx/>
              <a:buFontTx/>
            </a:pPr>
            <a:r>
              <a:rPr lang="zh-CN" altLang="en-US" sz="44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任选一种媒体文件，进行格式剖析</a:t>
            </a:r>
            <a:endParaRPr lang="zh-CN" sz="44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707255" y="233680"/>
            <a:ext cx="2772410" cy="682761"/>
          </a:xfrm>
          <a:prstGeom prst="roundRect">
            <a:avLst>
              <a:gd name="adj" fmla="val 49999"/>
            </a:avLst>
          </a:prstGeom>
          <a:solidFill>
            <a:srgbClr val="701E5E"/>
          </a:solidFill>
        </p:spPr>
        <p:txBody>
          <a:bodyPr wrap="square" rtlCol="0" anchor="t">
            <a:spAutoFit/>
          </a:bodyPr>
          <a:lstStyle/>
          <a:p>
            <a:pPr lvl="0" algn="ctr">
              <a:buClrTx/>
              <a:buSzTx/>
              <a:buFontTx/>
            </a:pP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WAV </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文件</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pic>
        <p:nvPicPr>
          <p:cNvPr id="1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71895" y="1270635"/>
            <a:ext cx="5205730" cy="482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文本框 34"/>
          <p:cNvSpPr txBox="1"/>
          <p:nvPr/>
        </p:nvSpPr>
        <p:spPr>
          <a:xfrm>
            <a:off x="1585595" y="1480820"/>
            <a:ext cx="3971290" cy="3757930"/>
          </a:xfrm>
          <a:prstGeom prst="rect">
            <a:avLst/>
          </a:prstGeom>
          <a:noFill/>
        </p:spPr>
        <p:txBody>
          <a:bodyPr wrap="square" rtlCol="0" anchor="t">
            <a:noAutofit/>
          </a:bodyPr>
          <a:lstStyle/>
          <a:p>
            <a:pPr>
              <a:lnSpc>
                <a:spcPct val="190000"/>
              </a:lnSpc>
            </a:pP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WAV</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文件采用的是</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RIFF</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格式结构。至少是由</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3</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个块构成</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分别是</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RIFF</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kern="100" dirty="0" err="1">
                <a:solidFill>
                  <a:srgbClr val="701E5E"/>
                </a:solidFill>
                <a:effectLst/>
                <a:latin typeface="Times New Roman" panose="02020603050405020304" pitchFamily="18" charset="0"/>
                <a:ea typeface="宋体" panose="02010600030101010101" pitchFamily="2" charset="-122"/>
                <a:sym typeface="+mn-ea"/>
              </a:rPr>
              <a:t>fmt</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 </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Data</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。所有基于压缩编码的</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WAV</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文件必须含有</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fact</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块。此外所有其它块都是可选的。块</a:t>
            </a:r>
            <a:r>
              <a:rPr lang="en-US" altLang="zh-CN" sz="2000" kern="100" dirty="0" err="1">
                <a:solidFill>
                  <a:srgbClr val="701E5E"/>
                </a:solidFill>
                <a:effectLst/>
                <a:latin typeface="Times New Roman" panose="02020603050405020304" pitchFamily="18" charset="0"/>
                <a:ea typeface="宋体" panose="02010600030101010101" pitchFamily="2" charset="-122"/>
                <a:sym typeface="+mn-ea"/>
              </a:rPr>
              <a:t>fmt,Data</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及</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fact</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均为</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RIFF</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块的子块。</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WAV</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文件的文件格式类型标识符为</a:t>
            </a:r>
            <a:r>
              <a:rPr lang="en-US" altLang="zh-CN" sz="2000" kern="100" dirty="0">
                <a:solidFill>
                  <a:srgbClr val="701E5E"/>
                </a:solidFill>
                <a:effectLst/>
                <a:latin typeface="Times New Roman" panose="02020603050405020304" pitchFamily="18" charset="0"/>
                <a:ea typeface="宋体" panose="02010600030101010101" pitchFamily="2" charset="-122"/>
                <a:sym typeface="+mn-ea"/>
              </a:rPr>
              <a:t>“WAVE”</a:t>
            </a:r>
            <a:r>
              <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zh-CN" sz="2000" kern="100" dirty="0">
              <a:solidFill>
                <a:srgbClr val="701E5E"/>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custDataLst>
              <p:tags r:id="rId1"/>
            </p:custDataLst>
          </p:nvPr>
        </p:nvGrpSpPr>
        <p:grpSpPr>
          <a:xfrm>
            <a:off x="385445" y="521695"/>
            <a:ext cx="4795520" cy="924019"/>
            <a:chOff x="1016" y="3320"/>
            <a:chExt cx="7552" cy="1455"/>
          </a:xfrm>
        </p:grpSpPr>
        <p:sp>
          <p:nvSpPr>
            <p:cNvPr id="10263" name="333333"/>
            <p:cNvSpPr txBox="1"/>
            <p:nvPr>
              <p:custDataLst>
                <p:tags r:id="rId2"/>
              </p:custDataLst>
            </p:nvPr>
          </p:nvSpPr>
          <p:spPr>
            <a:xfrm>
              <a:off x="1486" y="3320"/>
              <a:ext cx="6033" cy="581"/>
            </a:xfrm>
            <a:prstGeom prst="rect">
              <a:avLst/>
            </a:prstGeom>
            <a:noFill/>
            <a:ln w="9525">
              <a:noFill/>
            </a:ln>
          </p:spPr>
          <p:txBody>
            <a:bodyPr wrap="square" anchor="t">
              <a:noAutofit/>
            </a:bodyPr>
            <a:lstStyle/>
            <a:p>
              <a:pPr algn="l"/>
              <a:r>
                <a:rPr lang="en-US" altLang="zh-CN">
                  <a:solidFill>
                    <a:srgbClr val="AD4591"/>
                  </a:solidFill>
                  <a:effectLst>
                    <a:outerShdw blurRad="38100" dist="38100" dir="2700000" algn="tl">
                      <a:srgbClr val="000000">
                        <a:alpha val="43137"/>
                      </a:srgbClr>
                    </a:outerShdw>
                  </a:effectLst>
                  <a:latin typeface="+mj-ea"/>
                  <a:ea typeface="+mj-ea"/>
                  <a:cs typeface="+mj-ea"/>
                  <a:sym typeface="+mn-ea"/>
                </a:rPr>
                <a:t>RIFF </a:t>
              </a:r>
              <a:r>
                <a:rPr lang="zh-CN" altLang="en-US">
                  <a:solidFill>
                    <a:srgbClr val="AD4591"/>
                  </a:solidFill>
                  <a:effectLst>
                    <a:outerShdw blurRad="38100" dist="38100" dir="2700000" algn="tl">
                      <a:srgbClr val="000000">
                        <a:alpha val="43137"/>
                      </a:srgbClr>
                    </a:outerShdw>
                  </a:effectLst>
                  <a:latin typeface="+mj-ea"/>
                  <a:ea typeface="+mj-ea"/>
                  <a:cs typeface="+mj-ea"/>
                  <a:sym typeface="+mn-ea"/>
                </a:rPr>
                <a:t>头：标识文件类型</a:t>
              </a:r>
              <a:r>
                <a:rPr lang="zh-CN" altLang="en-US" dirty="0">
                  <a:solidFill>
                    <a:srgbClr val="AD4591"/>
                  </a:solidFill>
                  <a:effectLst>
                    <a:outerShdw blurRad="38100" dist="38100" dir="2700000" algn="tl">
                      <a:srgbClr val="000000">
                        <a:alpha val="43137"/>
                      </a:srgbClr>
                    </a:outerShdw>
                  </a:effectLst>
                  <a:latin typeface="+mj-ea"/>
                  <a:ea typeface="+mj-ea"/>
                  <a:cs typeface="+mj-ea"/>
                  <a:sym typeface="+mn-ea"/>
                </a:rPr>
                <a:t>文件总大小</a:t>
              </a:r>
              <a:endParaRPr lang="zh-CN" altLang="en-US" dirty="0">
                <a:solidFill>
                  <a:srgbClr val="AD4591"/>
                </a:solidFill>
                <a:effectLst>
                  <a:outerShdw blurRad="38100" dist="38100" dir="2700000" algn="tl">
                    <a:srgbClr val="000000">
                      <a:alpha val="43137"/>
                    </a:srgbClr>
                  </a:outerShdw>
                </a:effectLst>
                <a:latin typeface="+mj-ea"/>
                <a:ea typeface="+mj-ea"/>
                <a:cs typeface="+mj-ea"/>
                <a:sym typeface="+mn-ea"/>
              </a:endParaRPr>
            </a:p>
          </p:txBody>
        </p:sp>
        <p:sp>
          <p:nvSpPr>
            <p:cNvPr id="41" name="1111"/>
            <p:cNvSpPr txBox="1"/>
            <p:nvPr>
              <p:custDataLst>
                <p:tags r:id="rId3"/>
              </p:custDataLst>
            </p:nvPr>
          </p:nvSpPr>
          <p:spPr>
            <a:xfrm>
              <a:off x="1016" y="3818"/>
              <a:ext cx="7552" cy="957"/>
            </a:xfrm>
            <a:prstGeom prst="rect">
              <a:avLst/>
            </a:prstGeom>
            <a:noFill/>
            <a:ln w="9525">
              <a:noFill/>
            </a:ln>
          </p:spPr>
          <p:txBody>
            <a:bodyPr wrap="square" anchor="t">
              <a:noAutofit/>
            </a:bodyPr>
            <a:lstStyle/>
            <a:p>
              <a:pPr algn="just">
                <a:lnSpc>
                  <a:spcPct val="150000"/>
                </a:lnSpc>
              </a:pP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wav</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文件开头四字节固定为</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RIFF</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ASCII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字符）</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文件总大小：</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endPar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sp>
        <p:nvSpPr>
          <p:cNvPr id="14" name="文本框 13"/>
          <p:cNvSpPr txBox="1"/>
          <p:nvPr/>
        </p:nvSpPr>
        <p:spPr>
          <a:xfrm>
            <a:off x="4707255" y="233680"/>
            <a:ext cx="2772410" cy="682761"/>
          </a:xfrm>
          <a:prstGeom prst="roundRect">
            <a:avLst>
              <a:gd name="adj" fmla="val 49999"/>
            </a:avLst>
          </a:prstGeom>
          <a:solidFill>
            <a:srgbClr val="701E5E"/>
          </a:solidFill>
        </p:spPr>
        <p:txBody>
          <a:bodyPr wrap="square" rtlCol="0" anchor="t">
            <a:spAutoFit/>
          </a:bodyPr>
          <a:lstStyle/>
          <a:p>
            <a:pPr lvl="0" algn="ctr">
              <a:buClrTx/>
              <a:buSzTx/>
              <a:buFontTx/>
            </a:pPr>
            <a:r>
              <a:rPr lang="en-US" altLang="zh-CN" sz="2400" b="1" spc="300" dirty="0">
                <a:solidFill>
                  <a:schemeClr val="bg1"/>
                </a:solidFill>
                <a:uFillTx/>
                <a:latin typeface="微软雅黑" panose="020B0503020204020204" pitchFamily="34" charset="-122"/>
                <a:ea typeface="微软雅黑" panose="020B0503020204020204" pitchFamily="34" charset="-122"/>
                <a:sym typeface="+mn-ea"/>
              </a:rPr>
              <a:t>WAV </a:t>
            </a: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文件</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20" name="组合 19"/>
          <p:cNvGrpSpPr/>
          <p:nvPr>
            <p:custDataLst>
              <p:tags r:id="rId4"/>
            </p:custDataLst>
          </p:nvPr>
        </p:nvGrpSpPr>
        <p:grpSpPr>
          <a:xfrm>
            <a:off x="385227" y="2526982"/>
            <a:ext cx="4321348" cy="961005"/>
            <a:chOff x="693" y="3756"/>
            <a:chExt cx="6342" cy="975"/>
          </a:xfrm>
        </p:grpSpPr>
        <p:sp>
          <p:nvSpPr>
            <p:cNvPr id="21" name="333333"/>
            <p:cNvSpPr txBox="1"/>
            <p:nvPr>
              <p:custDataLst>
                <p:tags r:id="rId5"/>
              </p:custDataLst>
            </p:nvPr>
          </p:nvSpPr>
          <p:spPr>
            <a:xfrm>
              <a:off x="693" y="3756"/>
              <a:ext cx="5768" cy="655"/>
            </a:xfrm>
            <a:prstGeom prst="rect">
              <a:avLst/>
            </a:prstGeom>
            <a:noFill/>
            <a:ln w="9525">
              <a:noFill/>
            </a:ln>
          </p:spPr>
          <p:txBody>
            <a:bodyPr wrap="square" anchor="t">
              <a:spAutoFit/>
            </a:bodyPr>
            <a:lstStyle/>
            <a:p>
              <a:pPr algn="l"/>
              <a:r>
                <a:rPr lang="en-US" altLang="zh-CN">
                  <a:solidFill>
                    <a:srgbClr val="AD4591"/>
                  </a:solidFill>
                  <a:effectLst>
                    <a:outerShdw blurRad="38100" dist="38100" dir="2700000" algn="tl">
                      <a:srgbClr val="000000">
                        <a:alpha val="43137"/>
                      </a:srgbClr>
                    </a:outerShdw>
                  </a:effectLst>
                  <a:latin typeface="+mj-ea"/>
                  <a:ea typeface="+mj-ea"/>
                  <a:cs typeface="+mj-ea"/>
                  <a:sym typeface="+mn-ea"/>
                </a:rPr>
                <a:t>fmt </a:t>
              </a:r>
              <a:r>
                <a:rPr lang="zh-CN" altLang="en-US">
                  <a:solidFill>
                    <a:srgbClr val="AD4591"/>
                  </a:solidFill>
                  <a:effectLst>
                    <a:outerShdw blurRad="38100" dist="38100" dir="2700000" algn="tl">
                      <a:srgbClr val="000000">
                        <a:alpha val="43137"/>
                      </a:srgbClr>
                    </a:outerShdw>
                  </a:effectLst>
                  <a:latin typeface="+mj-ea"/>
                  <a:ea typeface="+mj-ea"/>
                  <a:cs typeface="+mj-ea"/>
                  <a:sym typeface="+mn-ea"/>
                </a:rPr>
                <a:t>子块：存储音频格式参数</a:t>
              </a:r>
              <a:br>
                <a:rPr lang="zh-CN" altLang="en-US">
                  <a:solidFill>
                    <a:srgbClr val="AD4591"/>
                  </a:solidFill>
                  <a:effectLst>
                    <a:outerShdw blurRad="38100" dist="38100" dir="2700000" algn="tl">
                      <a:srgbClr val="000000">
                        <a:alpha val="43137"/>
                      </a:srgbClr>
                    </a:outerShdw>
                  </a:effectLst>
                  <a:latin typeface="+mj-ea"/>
                  <a:ea typeface="+mj-ea"/>
                  <a:cs typeface="+mj-ea"/>
                  <a:sym typeface="+mn-ea"/>
                </a:rPr>
              </a:br>
              <a:r>
                <a:rPr lang="zh-CN" altLang="en-US">
                  <a:solidFill>
                    <a:srgbClr val="AD4591"/>
                  </a:solidFill>
                  <a:effectLst>
                    <a:outerShdw blurRad="38100" dist="38100" dir="2700000" algn="tl">
                      <a:srgbClr val="000000">
                        <a:alpha val="43137"/>
                      </a:srgbClr>
                    </a:outerShdw>
                  </a:effectLst>
                  <a:latin typeface="+mj-ea"/>
                  <a:ea typeface="+mj-ea"/>
                  <a:cs typeface="+mj-ea"/>
                  <a:sym typeface="+mn-ea"/>
                </a:rPr>
                <a:t>（如</a:t>
              </a:r>
              <a:r>
                <a:rPr lang="en-US" altLang="zh-CN">
                  <a:solidFill>
                    <a:srgbClr val="AD4591"/>
                  </a:solidFill>
                  <a:effectLst>
                    <a:outerShdw blurRad="38100" dist="38100" dir="2700000" algn="tl">
                      <a:srgbClr val="000000">
                        <a:alpha val="43137"/>
                      </a:srgbClr>
                    </a:outerShdw>
                  </a:effectLst>
                  <a:latin typeface="+mj-ea"/>
                  <a:ea typeface="+mj-ea"/>
                  <a:cs typeface="+mj-ea"/>
                  <a:sym typeface="+mn-ea"/>
                </a:rPr>
                <a:t> PCM </a:t>
              </a:r>
              <a:r>
                <a:rPr lang="zh-CN" altLang="en-US">
                  <a:solidFill>
                    <a:srgbClr val="AD4591"/>
                  </a:solidFill>
                  <a:effectLst>
                    <a:outerShdw blurRad="38100" dist="38100" dir="2700000" algn="tl">
                      <a:srgbClr val="000000">
                        <a:alpha val="43137"/>
                      </a:srgbClr>
                    </a:outerShdw>
                  </a:effectLst>
                  <a:latin typeface="+mj-ea"/>
                  <a:ea typeface="+mj-ea"/>
                  <a:cs typeface="+mj-ea"/>
                  <a:sym typeface="+mn-ea"/>
                </a:rPr>
                <a:t>编码、声道数、采样率）</a:t>
              </a:r>
              <a:endParaRPr lang="zh-CN" altLang="en-US" b="1" dirty="0">
                <a:solidFill>
                  <a:srgbClr val="AD4591"/>
                </a:solidFill>
                <a:effectLst>
                  <a:outerShdw blurRad="38100" dist="38100" dir="2700000" algn="tl">
                    <a:srgbClr val="000000">
                      <a:alpha val="43137"/>
                    </a:srgbClr>
                  </a:outerShdw>
                </a:effectLst>
                <a:latin typeface="+mj-ea"/>
                <a:ea typeface="+mj-ea"/>
                <a:cs typeface="+mj-ea"/>
                <a:sym typeface="+mn-ea"/>
              </a:endParaRPr>
            </a:p>
          </p:txBody>
        </p:sp>
        <p:sp>
          <p:nvSpPr>
            <p:cNvPr id="22" name="1111"/>
            <p:cNvSpPr txBox="1"/>
            <p:nvPr>
              <p:custDataLst>
                <p:tags r:id="rId6"/>
              </p:custDataLst>
            </p:nvPr>
          </p:nvSpPr>
          <p:spPr>
            <a:xfrm>
              <a:off x="847" y="4312"/>
              <a:ext cx="6188" cy="419"/>
            </a:xfrm>
            <a:prstGeom prst="rect">
              <a:avLst/>
            </a:prstGeom>
            <a:noFill/>
            <a:ln w="9525">
              <a:noFill/>
            </a:ln>
          </p:spPr>
          <p:txBody>
            <a:bodyPr wrap="square" anchor="t">
              <a:noAutofit/>
            </a:bodyPr>
            <a:lstStyle/>
            <a:p>
              <a:pPr algn="just">
                <a:lnSpc>
                  <a:spcPct val="150000"/>
                </a:lnSpc>
              </a:pP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Format</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：固定为</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WAVE</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ASCII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字符）</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声道数（</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2</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表示立体声）</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采样率：</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44100 Hz</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（小端存储）</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每秒字节数：</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23" name="组合 22"/>
          <p:cNvGrpSpPr/>
          <p:nvPr>
            <p:custDataLst>
              <p:tags r:id="rId7"/>
            </p:custDataLst>
          </p:nvPr>
        </p:nvGrpSpPr>
        <p:grpSpPr>
          <a:xfrm>
            <a:off x="6911340" y="735132"/>
            <a:ext cx="5164455" cy="1434611"/>
            <a:chOff x="-708" y="4518"/>
            <a:chExt cx="8133" cy="2259"/>
          </a:xfrm>
        </p:grpSpPr>
        <p:sp>
          <p:nvSpPr>
            <p:cNvPr id="24" name="333333"/>
            <p:cNvSpPr txBox="1"/>
            <p:nvPr>
              <p:custDataLst>
                <p:tags r:id="rId8"/>
              </p:custDataLst>
            </p:nvPr>
          </p:nvSpPr>
          <p:spPr>
            <a:xfrm>
              <a:off x="-162" y="4518"/>
              <a:ext cx="7587" cy="642"/>
            </a:xfrm>
            <a:prstGeom prst="rect">
              <a:avLst/>
            </a:prstGeom>
            <a:noFill/>
            <a:ln w="9525">
              <a:noFill/>
            </a:ln>
          </p:spPr>
          <p:txBody>
            <a:bodyPr wrap="square" anchor="t">
              <a:noAutofit/>
            </a:bodyPr>
            <a:lstStyle/>
            <a:p>
              <a:pPr algn="l"/>
              <a:r>
                <a:rPr lang="en-US" altLang="zh-CN">
                  <a:solidFill>
                    <a:srgbClr val="AD4591"/>
                  </a:solidFill>
                  <a:effectLst>
                    <a:outerShdw blurRad="38100" dist="38100" dir="2700000" algn="tl">
                      <a:srgbClr val="000000">
                        <a:alpha val="43137"/>
                      </a:srgbClr>
                    </a:outerShdw>
                  </a:effectLst>
                  <a:latin typeface="+mj-ea"/>
                  <a:ea typeface="+mj-ea"/>
                  <a:cs typeface="+mj-ea"/>
                  <a:sym typeface="+mn-ea"/>
                </a:rPr>
                <a:t>data </a:t>
              </a:r>
              <a:r>
                <a:rPr lang="zh-CN" altLang="en-US">
                  <a:solidFill>
                    <a:srgbClr val="AD4591"/>
                  </a:solidFill>
                  <a:effectLst>
                    <a:outerShdw blurRad="38100" dist="38100" dir="2700000" algn="tl">
                      <a:srgbClr val="000000">
                        <a:alpha val="43137"/>
                      </a:srgbClr>
                    </a:outerShdw>
                  </a:effectLst>
                  <a:latin typeface="+mj-ea"/>
                  <a:ea typeface="+mj-ea"/>
                  <a:cs typeface="+mj-ea"/>
                  <a:sym typeface="+mn-ea"/>
                </a:rPr>
                <a:t>子块：存储原始音频数据（</a:t>
              </a:r>
              <a:r>
                <a:rPr lang="en-US" altLang="zh-CN">
                  <a:solidFill>
                    <a:srgbClr val="AD4591"/>
                  </a:solidFill>
                  <a:effectLst>
                    <a:outerShdw blurRad="38100" dist="38100" dir="2700000" algn="tl">
                      <a:srgbClr val="000000">
                        <a:alpha val="43137"/>
                      </a:srgbClr>
                    </a:outerShdw>
                  </a:effectLst>
                  <a:latin typeface="+mj-ea"/>
                  <a:ea typeface="+mj-ea"/>
                  <a:cs typeface="+mj-ea"/>
                  <a:sym typeface="+mn-ea"/>
                </a:rPr>
                <a:t>PCM </a:t>
              </a:r>
              <a:r>
                <a:rPr lang="zh-CN" altLang="en-US">
                  <a:solidFill>
                    <a:srgbClr val="AD4591"/>
                  </a:solidFill>
                  <a:effectLst>
                    <a:outerShdw blurRad="38100" dist="38100" dir="2700000" algn="tl">
                      <a:srgbClr val="000000">
                        <a:alpha val="43137"/>
                      </a:srgbClr>
                    </a:outerShdw>
                  </a:effectLst>
                  <a:latin typeface="+mj-ea"/>
                  <a:ea typeface="+mj-ea"/>
                  <a:cs typeface="+mj-ea"/>
                  <a:sym typeface="+mn-ea"/>
                </a:rPr>
                <a:t>样本）</a:t>
              </a:r>
              <a:endParaRPr lang="zh-CN" altLang="en-US" b="1" dirty="0">
                <a:solidFill>
                  <a:srgbClr val="AD4591"/>
                </a:solidFill>
                <a:effectLst>
                  <a:outerShdw blurRad="38100" dist="38100" dir="2700000" algn="tl">
                    <a:srgbClr val="000000">
                      <a:alpha val="43137"/>
                    </a:srgbClr>
                  </a:outerShdw>
                </a:effectLst>
                <a:latin typeface="+mj-ea"/>
                <a:ea typeface="+mj-ea"/>
                <a:cs typeface="+mj-ea"/>
                <a:sym typeface="+mn-ea"/>
              </a:endParaRPr>
            </a:p>
          </p:txBody>
        </p:sp>
        <p:sp>
          <p:nvSpPr>
            <p:cNvPr id="25" name="1111"/>
            <p:cNvSpPr txBox="1"/>
            <p:nvPr>
              <p:custDataLst>
                <p:tags r:id="rId9"/>
              </p:custDataLst>
            </p:nvPr>
          </p:nvSpPr>
          <p:spPr>
            <a:xfrm>
              <a:off x="-708" y="5637"/>
              <a:ext cx="7803" cy="1140"/>
            </a:xfrm>
            <a:prstGeom prst="rect">
              <a:avLst/>
            </a:prstGeom>
            <a:noFill/>
            <a:ln w="9525">
              <a:noFill/>
            </a:ln>
          </p:spPr>
          <p:txBody>
            <a:bodyPr wrap="square" anchor="t">
              <a:noAutofit/>
            </a:bodyPr>
            <a:lstStyle/>
            <a:p>
              <a:pPr algn="just">
                <a:lnSpc>
                  <a:spcPct val="150000"/>
                </a:lnSpc>
              </a:pP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 </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音频数据的总字节数（小端存储）：</a:t>
              </a: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5115678 </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字节</a:t>
              </a:r>
              <a:endPar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26" name="组合 25"/>
          <p:cNvGrpSpPr/>
          <p:nvPr>
            <p:custDataLst>
              <p:tags r:id="rId10"/>
            </p:custDataLst>
          </p:nvPr>
        </p:nvGrpSpPr>
        <p:grpSpPr>
          <a:xfrm>
            <a:off x="7917180" y="3412251"/>
            <a:ext cx="3949065" cy="2820958"/>
            <a:chOff x="346" y="3883"/>
            <a:chExt cx="6219" cy="4442"/>
          </a:xfrm>
        </p:grpSpPr>
        <p:sp>
          <p:nvSpPr>
            <p:cNvPr id="27" name="333333"/>
            <p:cNvSpPr txBox="1"/>
            <p:nvPr>
              <p:custDataLst>
                <p:tags r:id="rId11"/>
              </p:custDataLst>
            </p:nvPr>
          </p:nvSpPr>
          <p:spPr>
            <a:xfrm>
              <a:off x="1478" y="3883"/>
              <a:ext cx="1811" cy="580"/>
            </a:xfrm>
            <a:prstGeom prst="rect">
              <a:avLst/>
            </a:prstGeom>
            <a:noFill/>
            <a:ln w="9525">
              <a:noFill/>
            </a:ln>
          </p:spPr>
          <p:txBody>
            <a:bodyPr wrap="square" anchor="t">
              <a:spAutoFit/>
            </a:bodyPr>
            <a:lstStyle/>
            <a:p>
              <a:pPr algn="l"/>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1111"/>
            <p:cNvSpPr txBox="1"/>
            <p:nvPr>
              <p:custDataLst>
                <p:tags r:id="rId12"/>
              </p:custDataLst>
            </p:nvPr>
          </p:nvSpPr>
          <p:spPr>
            <a:xfrm>
              <a:off x="346" y="3883"/>
              <a:ext cx="6219" cy="4442"/>
            </a:xfrm>
            <a:prstGeom prst="rect">
              <a:avLst/>
            </a:prstGeom>
            <a:noFill/>
            <a:ln w="9525">
              <a:noFill/>
            </a:ln>
          </p:spPr>
          <p:txBody>
            <a:bodyPr wrap="square" anchor="t">
              <a:noAutofit/>
            </a:bodyPr>
            <a:lstStyle/>
            <a:p>
              <a:pPr algn="just">
                <a:lnSpc>
                  <a:spcPct val="150000"/>
                </a:lnSpc>
              </a:pP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因实验文件由</a:t>
              </a: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mp3</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文件转换的</a:t>
              </a: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wav</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文件，会有一些额外字段：</a:t>
              </a:r>
              <a:endPar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r>
                <a:rPr lang="en-US" altLang="zh-CN" sz="1600" b="1" dirty="0">
                  <a:solidFill>
                    <a:srgbClr val="AD4591"/>
                  </a:solidFill>
                  <a:latin typeface="微软雅黑 Light" panose="020B0502040204020203" charset="-122"/>
                  <a:ea typeface="微软雅黑 Light" panose="020B0502040204020203" charset="-122"/>
                  <a:sym typeface="微软雅黑" panose="020B0503020204020204" pitchFamily="34" charset="-122"/>
                </a:rPr>
                <a:t>LIST </a:t>
              </a:r>
              <a:r>
                <a:rPr lang="zh-CN" altLang="en-US" sz="1600" b="1" dirty="0">
                  <a:solidFill>
                    <a:srgbClr val="AD4591"/>
                  </a:solidFill>
                  <a:latin typeface="微软雅黑 Light" panose="020B0502040204020203" charset="-122"/>
                  <a:ea typeface="微软雅黑 Light" panose="020B0502040204020203" charset="-122"/>
                  <a:sym typeface="微软雅黑" panose="020B0503020204020204" pitchFamily="34" charset="-122"/>
                </a:rPr>
                <a:t>块（元数据块）</a:t>
              </a:r>
              <a:endParaRPr lang="zh-CN" altLang="en-US" sz="1600" b="1" dirty="0">
                <a:solidFill>
                  <a:srgbClr val="AD4591"/>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 </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存储</a:t>
              </a: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 MP3 </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文件原有的元数据（如歌曲名、艺术家、专辑等）。</a:t>
              </a:r>
              <a:endPar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pPr>
              <a:r>
                <a:rPr lang="en-US" altLang="zh-CN" sz="1600" b="1" dirty="0">
                  <a:solidFill>
                    <a:srgbClr val="AD4591"/>
                  </a:solidFill>
                  <a:latin typeface="微软雅黑 Light" panose="020B0502040204020203" charset="-122"/>
                  <a:ea typeface="微软雅黑 Light" panose="020B0502040204020203" charset="-122"/>
                  <a:sym typeface="微软雅黑" panose="020B0503020204020204" pitchFamily="34" charset="-122"/>
                </a:rPr>
                <a:t>INFO </a:t>
              </a:r>
              <a:r>
                <a:rPr lang="zh-CN" altLang="en-US" sz="1600" b="1" dirty="0">
                  <a:solidFill>
                    <a:srgbClr val="AD4591"/>
                  </a:solidFill>
                  <a:latin typeface="微软雅黑 Light" panose="020B0502040204020203" charset="-122"/>
                  <a:ea typeface="微软雅黑 Light" panose="020B0502040204020203" charset="-122"/>
                  <a:sym typeface="微软雅黑" panose="020B0503020204020204" pitchFamily="34" charset="-122"/>
                </a:rPr>
                <a:t>子块：</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包含键值对形式的元数据（如</a:t>
              </a: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 INAM=</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歌曲名，</a:t>
              </a:r>
              <a:r>
                <a:rPr lang="en-US" altLang="zh-CN"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IART=</a:t>
              </a:r>
              <a:r>
                <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rPr>
                <a:t>艺术家）。</a:t>
              </a:r>
              <a:endParaRPr lang="zh-CN" altLang="en-US" sz="1600" dirty="0">
                <a:solidFill>
                  <a:srgbClr val="AD4591"/>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5" name="组合 4"/>
          <p:cNvGrpSpPr/>
          <p:nvPr>
            <p:custDataLst>
              <p:tags r:id="rId13"/>
            </p:custDataLst>
          </p:nvPr>
        </p:nvGrpSpPr>
        <p:grpSpPr>
          <a:xfrm>
            <a:off x="3983990" y="1552575"/>
            <a:ext cx="3989070" cy="5142865"/>
            <a:chOff x="6274" y="2429"/>
            <a:chExt cx="6282" cy="8099"/>
          </a:xfrm>
        </p:grpSpPr>
        <p:grpSp>
          <p:nvGrpSpPr>
            <p:cNvPr id="4" name="组合 3"/>
            <p:cNvGrpSpPr/>
            <p:nvPr/>
          </p:nvGrpSpPr>
          <p:grpSpPr>
            <a:xfrm>
              <a:off x="7975" y="8620"/>
              <a:ext cx="3247" cy="1908"/>
              <a:chOff x="7975" y="8620"/>
              <a:chExt cx="3247" cy="1908"/>
            </a:xfrm>
          </p:grpSpPr>
          <p:sp>
            <p:nvSpPr>
              <p:cNvPr id="2" name="菱形 1"/>
              <p:cNvSpPr/>
              <p:nvPr>
                <p:custDataLst>
                  <p:tags r:id="rId14"/>
                </p:custDataLst>
              </p:nvPr>
            </p:nvSpPr>
            <p:spPr>
              <a:xfrm>
                <a:off x="8527" y="8620"/>
                <a:ext cx="2143" cy="593"/>
              </a:xfrm>
              <a:prstGeom prst="diamond">
                <a:avLst/>
              </a:prstGeom>
              <a:solidFill>
                <a:srgbClr val="701E5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8525" y="8922"/>
                <a:ext cx="2145" cy="1606"/>
                <a:chOff x="8525" y="8922"/>
                <a:chExt cx="2145" cy="1606"/>
              </a:xfrm>
            </p:grpSpPr>
            <p:sp>
              <p:nvSpPr>
                <p:cNvPr id="30" name="椭圆 29"/>
                <p:cNvSpPr/>
                <p:nvPr/>
              </p:nvSpPr>
              <p:spPr>
                <a:xfrm>
                  <a:off x="8525" y="9692"/>
                  <a:ext cx="2144" cy="837"/>
                </a:xfrm>
                <a:prstGeom prst="ellipse">
                  <a:avLst/>
                </a:prstGeom>
                <a:gradFill>
                  <a:gsLst>
                    <a:gs pos="0">
                      <a:schemeClr val="bg1">
                        <a:lumMod val="50000"/>
                      </a:schemeClr>
                    </a:gs>
                    <a:gs pos="100000">
                      <a:schemeClr val="bg1">
                        <a:lumMod val="9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6200000">
                  <a:off x="8332" y="9117"/>
                  <a:ext cx="1463" cy="1072"/>
                </a:xfrm>
                <a:prstGeom prst="parallelogram">
                  <a:avLst>
                    <a:gd name="adj" fmla="val 27747"/>
                  </a:avLst>
                </a:prstGeom>
                <a:solidFill>
                  <a:srgbClr val="A2508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rot="180000">
                  <a:off x="8586" y="9925"/>
                  <a:ext cx="954" cy="362"/>
                </a:xfrm>
                <a:prstGeom prst="rect">
                  <a:avLst/>
                </a:prstGeom>
                <a:noFill/>
              </p:spPr>
              <p:txBody>
                <a:bodyPr wrap="square" rtlCol="0">
                  <a:prstTxWarp prst="textSlantDown">
                    <a:avLst/>
                  </a:prstTxWarp>
                  <a:spAutoFit/>
                </a:bodyPr>
                <a:lstStyle/>
                <a:p>
                  <a:pPr algn="dist"/>
                  <a:r>
                    <a:rPr lang="en-US" altLang="zh-CN" sz="700">
                      <a:solidFill>
                        <a:schemeClr val="bg1">
                          <a:alpha val="50000"/>
                        </a:schemeClr>
                      </a:solidFill>
                      <a:latin typeface="微软雅黑 Light" panose="020B0502040204020203" charset="-122"/>
                      <a:ea typeface="微软雅黑 Light" panose="020B0502040204020203" charset="-122"/>
                    </a:rPr>
                    <a:t>NANKAI</a:t>
                  </a:r>
                  <a:endParaRPr lang="en-US" altLang="zh-CN" sz="700">
                    <a:solidFill>
                      <a:schemeClr val="bg1">
                        <a:alpha val="50000"/>
                      </a:schemeClr>
                    </a:solidFill>
                    <a:latin typeface="微软雅黑 Light" panose="020B0502040204020203" charset="-122"/>
                    <a:ea typeface="微软雅黑 Light" panose="020B0502040204020203" charset="-122"/>
                  </a:endParaRPr>
                </a:p>
              </p:txBody>
            </p:sp>
            <p:sp>
              <p:nvSpPr>
                <p:cNvPr id="9" name="平行四边形 8"/>
                <p:cNvSpPr/>
                <p:nvPr/>
              </p:nvSpPr>
              <p:spPr>
                <a:xfrm rot="5400000" flipH="1">
                  <a:off x="9403" y="9118"/>
                  <a:ext cx="1463" cy="1072"/>
                </a:xfrm>
                <a:prstGeom prst="parallelogram">
                  <a:avLst>
                    <a:gd name="adj" fmla="val 27747"/>
                  </a:avLst>
                </a:prstGeom>
                <a:solidFill>
                  <a:srgbClr val="A2508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rot="21360000">
                  <a:off x="9629" y="9935"/>
                  <a:ext cx="1011" cy="351"/>
                </a:xfrm>
                <a:prstGeom prst="rect">
                  <a:avLst/>
                </a:prstGeom>
                <a:noFill/>
              </p:spPr>
              <p:txBody>
                <a:bodyPr wrap="square" lIns="0" tIns="0" rIns="0" bIns="0" rtlCol="0">
                  <a:prstTxWarp prst="textSlantUp">
                    <a:avLst>
                      <a:gd name="adj" fmla="val 49572"/>
                    </a:avLst>
                  </a:prstTxWarp>
                  <a:spAutoFit/>
                </a:bodyPr>
                <a:lstStyle/>
                <a:p>
                  <a:pPr algn="ctr"/>
                  <a:r>
                    <a:rPr lang="en-US" altLang="zh-CN" sz="700">
                      <a:solidFill>
                        <a:schemeClr val="bg1">
                          <a:alpha val="50000"/>
                        </a:schemeClr>
                      </a:solidFill>
                      <a:latin typeface="微软雅黑 Light" panose="020B0502040204020203" charset="-122"/>
                      <a:ea typeface="微软雅黑 Light" panose="020B0502040204020203" charset="-122"/>
                    </a:rPr>
                    <a:t>UNIVERSITY</a:t>
                  </a:r>
                  <a:endParaRPr lang="en-US" altLang="zh-CN" sz="700">
                    <a:solidFill>
                      <a:schemeClr val="bg1">
                        <a:alpha val="50000"/>
                      </a:schemeClr>
                    </a:solidFill>
                    <a:latin typeface="微软雅黑 Light" panose="020B0502040204020203" charset="-122"/>
                    <a:ea typeface="微软雅黑 Light" panose="020B0502040204020203" charset="-122"/>
                  </a:endParaRPr>
                </a:p>
              </p:txBody>
            </p:sp>
          </p:grpSp>
          <p:sp>
            <p:nvSpPr>
              <p:cNvPr id="10" name="平行四边形 9"/>
              <p:cNvSpPr/>
              <p:nvPr>
                <p:custDataLst>
                  <p:tags r:id="rId15"/>
                </p:custDataLst>
              </p:nvPr>
            </p:nvSpPr>
            <p:spPr>
              <a:xfrm rot="900000">
                <a:off x="7975" y="8997"/>
                <a:ext cx="1589" cy="479"/>
              </a:xfrm>
              <a:prstGeom prst="parallelogram">
                <a:avLst>
                  <a:gd name="adj" fmla="val 99146"/>
                </a:avLst>
              </a:prstGeom>
              <a:solidFill>
                <a:srgbClr val="B78E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b" anchorCtr="0"/>
              <a:lstStyle/>
              <a:p>
                <a:pPr algn="dist"/>
                <a:endParaRPr lang="en-US" altLang="zh-CN" sz="800">
                  <a:latin typeface="微软雅黑 Light" panose="020B0502040204020203" charset="-122"/>
                  <a:ea typeface="微软雅黑 Light" panose="020B0502040204020203" charset="-122"/>
                </a:endParaRPr>
              </a:p>
            </p:txBody>
          </p:sp>
          <p:sp>
            <p:nvSpPr>
              <p:cNvPr id="12" name="平行四边形 11"/>
              <p:cNvSpPr/>
              <p:nvPr>
                <p:custDataLst>
                  <p:tags r:id="rId16"/>
                </p:custDataLst>
              </p:nvPr>
            </p:nvSpPr>
            <p:spPr>
              <a:xfrm rot="20700000" flipH="1">
                <a:off x="9634" y="8997"/>
                <a:ext cx="1589" cy="479"/>
              </a:xfrm>
              <a:prstGeom prst="parallelogram">
                <a:avLst>
                  <a:gd name="adj" fmla="val 99146"/>
                </a:avLst>
              </a:prstGeom>
              <a:solidFill>
                <a:srgbClr val="B78E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圆角右箭头 14"/>
            <p:cNvSpPr/>
            <p:nvPr>
              <p:custDataLst>
                <p:tags r:id="rId17"/>
              </p:custDataLst>
            </p:nvPr>
          </p:nvSpPr>
          <p:spPr>
            <a:xfrm>
              <a:off x="9580" y="2827"/>
              <a:ext cx="2131" cy="5955"/>
            </a:xfrm>
            <a:prstGeom prst="bentArrow">
              <a:avLst>
                <a:gd name="adj1" fmla="val 8399"/>
                <a:gd name="adj2" fmla="val 13033"/>
                <a:gd name="adj3" fmla="val 20027"/>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圆角右箭头 16"/>
            <p:cNvSpPr/>
            <p:nvPr>
              <p:custDataLst>
                <p:tags r:id="rId18"/>
              </p:custDataLst>
            </p:nvPr>
          </p:nvSpPr>
          <p:spPr>
            <a:xfrm flipH="1">
              <a:off x="6640" y="2429"/>
              <a:ext cx="2940" cy="6492"/>
            </a:xfrm>
            <a:prstGeom prst="bentArrow">
              <a:avLst>
                <a:gd name="adj1" fmla="val 6292"/>
                <a:gd name="adj2" fmla="val 10222"/>
                <a:gd name="adj3" fmla="val 17201"/>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圆角右箭头 15"/>
            <p:cNvSpPr/>
            <p:nvPr>
              <p:custDataLst>
                <p:tags r:id="rId19"/>
              </p:custDataLst>
            </p:nvPr>
          </p:nvSpPr>
          <p:spPr>
            <a:xfrm>
              <a:off x="9598" y="5176"/>
              <a:ext cx="2958" cy="3606"/>
            </a:xfrm>
            <a:prstGeom prst="bentArrow">
              <a:avLst>
                <a:gd name="adj1" fmla="val 7636"/>
                <a:gd name="adj2" fmla="val 13033"/>
                <a:gd name="adj3" fmla="val 20027"/>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圆角右箭头 17"/>
            <p:cNvSpPr/>
            <p:nvPr>
              <p:custDataLst>
                <p:tags r:id="rId20"/>
              </p:custDataLst>
            </p:nvPr>
          </p:nvSpPr>
          <p:spPr>
            <a:xfrm flipH="1">
              <a:off x="6274" y="4310"/>
              <a:ext cx="3323" cy="4612"/>
            </a:xfrm>
            <a:prstGeom prst="bentArrow">
              <a:avLst>
                <a:gd name="adj1" fmla="val 8752"/>
                <a:gd name="adj2" fmla="val 12536"/>
                <a:gd name="adj3" fmla="val 17201"/>
                <a:gd name="adj4" fmla="val 43750"/>
              </a:avLst>
            </a:prstGeom>
            <a:gradFill>
              <a:gsLst>
                <a:gs pos="0">
                  <a:srgbClr val="701E5E"/>
                </a:gs>
                <a:gs pos="100000">
                  <a:srgbClr val="A2508C"/>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8" name="图片 7"/>
          <p:cNvPicPr>
            <a:picLocks noChangeAspect="1"/>
          </p:cNvPicPr>
          <p:nvPr/>
        </p:nvPicPr>
        <p:blipFill>
          <a:blip r:embed="rId21"/>
          <a:stretch>
            <a:fillRect/>
          </a:stretch>
        </p:blipFill>
        <p:spPr>
          <a:xfrm>
            <a:off x="147955" y="1296670"/>
            <a:ext cx="4893945" cy="251460"/>
          </a:xfrm>
          <a:prstGeom prst="rect">
            <a:avLst/>
          </a:prstGeom>
        </p:spPr>
      </p:pic>
      <p:pic>
        <p:nvPicPr>
          <p:cNvPr id="11" name="图片 10"/>
          <p:cNvPicPr>
            <a:picLocks noChangeAspect="1"/>
          </p:cNvPicPr>
          <p:nvPr/>
        </p:nvPicPr>
        <p:blipFill>
          <a:blip r:embed="rId22"/>
          <a:stretch>
            <a:fillRect/>
          </a:stretch>
        </p:blipFill>
        <p:spPr>
          <a:xfrm>
            <a:off x="128905" y="3537585"/>
            <a:ext cx="6278245" cy="288290"/>
          </a:xfrm>
          <a:prstGeom prst="rect">
            <a:avLst/>
          </a:prstGeom>
        </p:spPr>
      </p:pic>
      <p:pic>
        <p:nvPicPr>
          <p:cNvPr id="13" name="图片 12"/>
          <p:cNvPicPr>
            <a:picLocks noChangeAspect="1"/>
          </p:cNvPicPr>
          <p:nvPr/>
        </p:nvPicPr>
        <p:blipFill>
          <a:blip r:embed="rId23"/>
          <a:stretch>
            <a:fillRect/>
          </a:stretch>
        </p:blipFill>
        <p:spPr>
          <a:xfrm>
            <a:off x="128905" y="4235450"/>
            <a:ext cx="4667250" cy="339725"/>
          </a:xfrm>
          <a:prstGeom prst="rect">
            <a:avLst/>
          </a:prstGeom>
        </p:spPr>
      </p:pic>
      <p:pic>
        <p:nvPicPr>
          <p:cNvPr id="29" name="图片 28"/>
          <p:cNvPicPr>
            <a:picLocks noChangeAspect="1"/>
          </p:cNvPicPr>
          <p:nvPr/>
        </p:nvPicPr>
        <p:blipFill>
          <a:blip r:embed="rId24"/>
          <a:stretch>
            <a:fillRect/>
          </a:stretch>
        </p:blipFill>
        <p:spPr>
          <a:xfrm>
            <a:off x="128905" y="4984750"/>
            <a:ext cx="5120005" cy="267970"/>
          </a:xfrm>
          <a:prstGeom prst="rect">
            <a:avLst/>
          </a:prstGeom>
        </p:spPr>
      </p:pic>
      <p:pic>
        <p:nvPicPr>
          <p:cNvPr id="31" name="图片 30"/>
          <p:cNvPicPr>
            <a:picLocks noChangeAspect="1"/>
          </p:cNvPicPr>
          <p:nvPr/>
        </p:nvPicPr>
        <p:blipFill>
          <a:blip r:embed="rId25"/>
          <a:stretch>
            <a:fillRect/>
          </a:stretch>
        </p:blipFill>
        <p:spPr>
          <a:xfrm>
            <a:off x="128905" y="5662295"/>
            <a:ext cx="3362325" cy="304800"/>
          </a:xfrm>
          <a:prstGeom prst="rect">
            <a:avLst/>
          </a:prstGeom>
        </p:spPr>
      </p:pic>
      <p:pic>
        <p:nvPicPr>
          <p:cNvPr id="34" name="图片 33"/>
          <p:cNvPicPr>
            <a:picLocks noChangeAspect="1"/>
          </p:cNvPicPr>
          <p:nvPr/>
        </p:nvPicPr>
        <p:blipFill>
          <a:blip r:embed="rId26"/>
          <a:stretch>
            <a:fillRect/>
          </a:stretch>
        </p:blipFill>
        <p:spPr>
          <a:xfrm>
            <a:off x="147955" y="2078355"/>
            <a:ext cx="2885440" cy="300355"/>
          </a:xfrm>
          <a:prstGeom prst="rect">
            <a:avLst/>
          </a:prstGeom>
        </p:spPr>
      </p:pic>
      <p:pic>
        <p:nvPicPr>
          <p:cNvPr id="36" name="图片 35"/>
          <p:cNvPicPr>
            <a:picLocks noChangeAspect="1"/>
          </p:cNvPicPr>
          <p:nvPr/>
        </p:nvPicPr>
        <p:blipFill>
          <a:blip r:embed="rId27"/>
          <a:stretch>
            <a:fillRect/>
          </a:stretch>
        </p:blipFill>
        <p:spPr>
          <a:xfrm>
            <a:off x="2198370" y="6259195"/>
            <a:ext cx="9877425" cy="304800"/>
          </a:xfrm>
          <a:prstGeom prst="rect">
            <a:avLst/>
          </a:prstGeom>
        </p:spPr>
      </p:pic>
      <p:pic>
        <p:nvPicPr>
          <p:cNvPr id="37" name="图片 36"/>
          <p:cNvPicPr>
            <a:picLocks noChangeAspect="1"/>
          </p:cNvPicPr>
          <p:nvPr/>
        </p:nvPicPr>
        <p:blipFill>
          <a:blip r:embed="rId28"/>
          <a:srcRect l="4" t="21495" r="-771" b="-21963"/>
          <a:stretch>
            <a:fillRect/>
          </a:stretch>
        </p:blipFill>
        <p:spPr>
          <a:xfrm>
            <a:off x="5248910" y="1078865"/>
            <a:ext cx="6702425" cy="384810"/>
          </a:xfrm>
          <a:prstGeom prst="rect">
            <a:avLst/>
          </a:prstGeom>
        </p:spPr>
      </p:pic>
      <p:pic>
        <p:nvPicPr>
          <p:cNvPr id="38" name="图片 37"/>
          <p:cNvPicPr>
            <a:picLocks noChangeAspect="1"/>
          </p:cNvPicPr>
          <p:nvPr/>
        </p:nvPicPr>
        <p:blipFill>
          <a:blip r:embed="rId29"/>
          <a:stretch>
            <a:fillRect/>
          </a:stretch>
        </p:blipFill>
        <p:spPr>
          <a:xfrm>
            <a:off x="8270875" y="1978660"/>
            <a:ext cx="3219450" cy="400050"/>
          </a:xfrm>
          <a:prstGeom prst="rect">
            <a:avLst/>
          </a:prstGeom>
        </p:spPr>
      </p:pic>
    </p:spTree>
    <p:custDataLst>
      <p:tags r:id="rId30"/>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八角星 1"/>
          <p:cNvSpPr/>
          <p:nvPr/>
        </p:nvSpPr>
        <p:spPr>
          <a:xfrm>
            <a:off x="4286885" y="2373630"/>
            <a:ext cx="2129790" cy="2129790"/>
          </a:xfrm>
          <a:prstGeom prst="star8">
            <a:avLst>
              <a:gd name="adj" fmla="val 38189"/>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tIns="288290" rIns="36195" bIns="0" rtlCol="0" anchor="ctr" anchorCtr="1"/>
          <a:lstStyle/>
          <a:p>
            <a:pPr algn="ctr" fontAlgn="auto">
              <a:lnSpc>
                <a:spcPts val="4000"/>
              </a:lnSpc>
            </a:pPr>
            <a:r>
              <a:rPr lang="en-US" altLang="zh-CN" sz="4000" b="1">
                <a:latin typeface="微软雅黑" panose="020B0503020204020204" pitchFamily="34" charset="-122"/>
                <a:ea typeface="微软雅黑" panose="020B0503020204020204" pitchFamily="34" charset="-122"/>
              </a:rPr>
              <a:t>PART</a:t>
            </a:r>
            <a:endParaRPr lang="en-US" altLang="zh-CN" sz="4000" b="1">
              <a:latin typeface="微软雅黑" panose="020B0503020204020204" pitchFamily="34" charset="-122"/>
              <a:ea typeface="微软雅黑" panose="020B0503020204020204" pitchFamily="34" charset="-122"/>
            </a:endParaRPr>
          </a:p>
          <a:p>
            <a:pPr algn="ctr" fontAlgn="auto">
              <a:lnSpc>
                <a:spcPts val="4000"/>
              </a:lnSpc>
            </a:pPr>
            <a:r>
              <a:rPr lang="en-US" altLang="zh-CN" sz="4000" b="1">
                <a:latin typeface="微软雅黑" panose="020B0503020204020204" pitchFamily="34" charset="-122"/>
                <a:ea typeface="微软雅黑" panose="020B0503020204020204" pitchFamily="34" charset="-122"/>
              </a:rPr>
              <a:t>03</a:t>
            </a:r>
            <a:endParaRPr lang="en-US" altLang="zh-CN" sz="4000" b="1">
              <a:latin typeface="微软雅黑" panose="020B0503020204020204" pitchFamily="34" charset="-122"/>
              <a:ea typeface="微软雅黑" panose="020B0503020204020204" pitchFamily="34" charset="-122"/>
            </a:endParaRPr>
          </a:p>
        </p:txBody>
      </p:sp>
      <p:sp>
        <p:nvSpPr>
          <p:cNvPr id="9240" name="文本框 47"/>
          <p:cNvSpPr txBox="1"/>
          <p:nvPr/>
        </p:nvSpPr>
        <p:spPr>
          <a:xfrm>
            <a:off x="6194108" y="2931160"/>
            <a:ext cx="5762625" cy="1014730"/>
          </a:xfrm>
          <a:prstGeom prst="rect">
            <a:avLst/>
          </a:prstGeom>
          <a:noFill/>
          <a:ln w="9525">
            <a:noFill/>
          </a:ln>
        </p:spPr>
        <p:txBody>
          <a:bodyPr vert="horz" wrap="square" anchor="t">
            <a:spAutoFit/>
          </a:bodyPr>
          <a:lstStyle/>
          <a:p>
            <a:pPr lvl="0" algn="ctr">
              <a:buClrTx/>
              <a:buSzTx/>
              <a:buFontTx/>
            </a:pPr>
            <a:r>
              <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秘密信息隐藏</a:t>
            </a:r>
            <a:endPar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07255" y="233680"/>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文件头</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sp>
        <p:nvSpPr>
          <p:cNvPr id="2" name="矩形 1"/>
          <p:cNvSpPr/>
          <p:nvPr>
            <p:custDataLst>
              <p:tags r:id="rId1"/>
            </p:custDataLst>
          </p:nvPr>
        </p:nvSpPr>
        <p:spPr>
          <a:xfrm>
            <a:off x="1046480" y="1143000"/>
            <a:ext cx="10080000" cy="1620000"/>
          </a:xfrm>
          <a:prstGeom prst="rect">
            <a:avLst/>
          </a:prstGeom>
          <a:solidFill>
            <a:srgbClr val="EFE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2"/>
            </p:custDataLst>
          </p:nvPr>
        </p:nvSpPr>
        <p:spPr>
          <a:xfrm>
            <a:off x="1046480" y="4889615"/>
            <a:ext cx="10080000" cy="1619885"/>
          </a:xfrm>
          <a:prstGeom prst="rect">
            <a:avLst/>
          </a:prstGeom>
          <a:solidFill>
            <a:srgbClr val="EFE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3"/>
            </p:custDataLst>
          </p:nvPr>
        </p:nvSpPr>
        <p:spPr>
          <a:xfrm>
            <a:off x="1046480" y="3016365"/>
            <a:ext cx="10080000" cy="1619885"/>
          </a:xfrm>
          <a:prstGeom prst="rect">
            <a:avLst/>
          </a:prstGeom>
          <a:solidFill>
            <a:srgbClr val="EFE6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1325245" y="1266190"/>
            <a:ext cx="415925" cy="1374140"/>
          </a:xfrm>
          <a:prstGeom prst="rect">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RIFF 头</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
        <p:nvSpPr>
          <p:cNvPr id="19" name="矩形 18"/>
          <p:cNvSpPr/>
          <p:nvPr>
            <p:custDataLst>
              <p:tags r:id="rId5"/>
            </p:custDataLst>
          </p:nvPr>
        </p:nvSpPr>
        <p:spPr>
          <a:xfrm>
            <a:off x="1325245" y="5012055"/>
            <a:ext cx="415925" cy="1374140"/>
          </a:xfrm>
          <a:prstGeom prst="rect">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sym typeface="+mn-ea"/>
              </a:rPr>
              <a:t>扩展块</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
        <p:nvSpPr>
          <p:cNvPr id="20" name="矩形 19"/>
          <p:cNvSpPr/>
          <p:nvPr>
            <p:custDataLst>
              <p:tags r:id="rId6"/>
            </p:custDataLst>
          </p:nvPr>
        </p:nvSpPr>
        <p:spPr>
          <a:xfrm>
            <a:off x="1325245" y="3139440"/>
            <a:ext cx="415925" cy="1374140"/>
          </a:xfrm>
          <a:prstGeom prst="rect">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sym typeface="+mn-ea"/>
              </a:rPr>
              <a:t>格式块</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
        <p:nvSpPr>
          <p:cNvPr id="23" name="1111"/>
          <p:cNvSpPr txBox="1"/>
          <p:nvPr>
            <p:custDataLst>
              <p:tags r:id="rId7"/>
            </p:custDataLst>
          </p:nvPr>
        </p:nvSpPr>
        <p:spPr>
          <a:xfrm>
            <a:off x="1999615" y="1266190"/>
            <a:ext cx="7155180" cy="1179830"/>
          </a:xfrm>
          <a:prstGeom prst="rect">
            <a:avLst/>
          </a:prstGeom>
          <a:noFill/>
          <a:ln w="9525">
            <a:noFill/>
          </a:ln>
        </p:spPr>
        <p:txBody>
          <a:bodyPr wrap="square" tIns="36195" bIns="36195" anchor="t">
            <a:spAutoFit/>
          </a:bodyPr>
          <a:lstStyle/>
          <a:p>
            <a:pPr algn="just">
              <a:lnSpc>
                <a:spcPct val="150000"/>
              </a:lnSpc>
            </a:pP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包含文件类型和文件大小等信息。可以通过修改一些无关紧要的位来隐藏少量信息，例如在文件大小字段的低位字节中进行修改，因为这些修改可能不会影响文件的正常播放。</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sp>
        <p:nvSpPr>
          <p:cNvPr id="24" name="1111"/>
          <p:cNvSpPr txBox="1"/>
          <p:nvPr>
            <p:custDataLst>
              <p:tags r:id="rId8"/>
            </p:custDataLst>
          </p:nvPr>
        </p:nvSpPr>
        <p:spPr>
          <a:xfrm>
            <a:off x="2040255" y="3139440"/>
            <a:ext cx="7155180" cy="1179830"/>
          </a:xfrm>
          <a:prstGeom prst="rect">
            <a:avLst/>
          </a:prstGeom>
          <a:noFill/>
          <a:ln w="9525">
            <a:noFill/>
          </a:ln>
        </p:spPr>
        <p:txBody>
          <a:bodyPr wrap="square" tIns="36195" bIns="36195" anchor="t">
            <a:sp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描述音频数据的格式，如采样率、声道数、位深度等。可以在一些保留字段或者对音频质量影响较小的参数位上进行信息嵌入。例如，在一些未使用的标志位或者采样率的低位字节进行修改。</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sp>
        <p:nvSpPr>
          <p:cNvPr id="25" name="1111"/>
          <p:cNvSpPr txBox="1"/>
          <p:nvPr>
            <p:custDataLst>
              <p:tags r:id="rId9"/>
            </p:custDataLst>
          </p:nvPr>
        </p:nvSpPr>
        <p:spPr>
          <a:xfrm>
            <a:off x="2040255" y="5297805"/>
            <a:ext cx="7155180" cy="810895"/>
          </a:xfrm>
          <a:prstGeom prst="rect">
            <a:avLst/>
          </a:prstGeom>
          <a:noFill/>
          <a:ln w="9525">
            <a:noFill/>
          </a:ln>
        </p:spPr>
        <p:txBody>
          <a:bodyPr wrap="square" tIns="36195" bIns="36195" anchor="t">
            <a:sp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如果存在扩展块，这里面也可以寻找合适的位置进行信息隐藏。例如，在扩展块的一些自定义字段或者未被充分利用的字段中嵌入信息。</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nvGrpSpPr>
          <p:cNvPr id="30" name="组合 29"/>
          <p:cNvGrpSpPr/>
          <p:nvPr>
            <p:custDataLst>
              <p:tags r:id="rId10"/>
            </p:custDataLst>
          </p:nvPr>
        </p:nvGrpSpPr>
        <p:grpSpPr>
          <a:xfrm>
            <a:off x="9361170" y="1085215"/>
            <a:ext cx="1731010" cy="1731010"/>
            <a:chOff x="1566" y="1709"/>
            <a:chExt cx="2726" cy="2726"/>
          </a:xfrm>
        </p:grpSpPr>
        <p:sp>
          <p:nvSpPr>
            <p:cNvPr id="31" name="八角星 30"/>
            <p:cNvSpPr/>
            <p:nvPr>
              <p:custDataLst>
                <p:tags r:id="rId11"/>
              </p:custDataLst>
            </p:nvPr>
          </p:nvSpPr>
          <p:spPr>
            <a:xfrm>
              <a:off x="1648" y="1788"/>
              <a:ext cx="2563" cy="2563"/>
            </a:xfrm>
            <a:prstGeom prst="star8">
              <a:avLst>
                <a:gd name="adj" fmla="val 38209"/>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八角星 31"/>
            <p:cNvSpPr/>
            <p:nvPr>
              <p:custDataLst>
                <p:tags r:id="rId12"/>
              </p:custDataLst>
            </p:nvPr>
          </p:nvSpPr>
          <p:spPr>
            <a:xfrm>
              <a:off x="1566" y="1709"/>
              <a:ext cx="2727" cy="2727"/>
            </a:xfrm>
            <a:prstGeom prst="star8">
              <a:avLst>
                <a:gd name="adj" fmla="val 38209"/>
              </a:avLst>
            </a:prstGeom>
            <a:noFill/>
            <a:ln>
              <a:solidFill>
                <a:srgbClr val="B78EAE"/>
              </a:solidFill>
            </a:ln>
            <a:extLst>
              <a:ext uri="{909E8E84-426E-40DD-AFC4-6F175D3DCCD1}">
                <a14:hiddenFill xmlns:a14="http://schemas.microsoft.com/office/drawing/2010/main">
                  <a:solidFill>
                    <a:srgbClr val="DCAAA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descr="303b32303139323730333bc7a6b1ca"/>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2315" y="2480"/>
              <a:ext cx="1228" cy="1228"/>
            </a:xfrm>
            <a:prstGeom prst="rect">
              <a:avLst/>
            </a:prstGeom>
          </p:spPr>
        </p:pic>
      </p:grpSp>
      <p:grpSp>
        <p:nvGrpSpPr>
          <p:cNvPr id="34" name="组合 33"/>
          <p:cNvGrpSpPr/>
          <p:nvPr>
            <p:custDataLst>
              <p:tags r:id="rId16"/>
            </p:custDataLst>
          </p:nvPr>
        </p:nvGrpSpPr>
        <p:grpSpPr>
          <a:xfrm>
            <a:off x="9361170" y="2956560"/>
            <a:ext cx="1731010" cy="1731010"/>
            <a:chOff x="1566" y="4656"/>
            <a:chExt cx="2726" cy="2726"/>
          </a:xfrm>
        </p:grpSpPr>
        <p:sp>
          <p:nvSpPr>
            <p:cNvPr id="35" name="八角星 34"/>
            <p:cNvSpPr/>
            <p:nvPr>
              <p:custDataLst>
                <p:tags r:id="rId17"/>
              </p:custDataLst>
            </p:nvPr>
          </p:nvSpPr>
          <p:spPr>
            <a:xfrm>
              <a:off x="1648" y="4738"/>
              <a:ext cx="2563" cy="2563"/>
            </a:xfrm>
            <a:prstGeom prst="star8">
              <a:avLst>
                <a:gd name="adj" fmla="val 38209"/>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八角星 35"/>
            <p:cNvSpPr/>
            <p:nvPr>
              <p:custDataLst>
                <p:tags r:id="rId18"/>
              </p:custDataLst>
            </p:nvPr>
          </p:nvSpPr>
          <p:spPr>
            <a:xfrm>
              <a:off x="1566" y="4656"/>
              <a:ext cx="2727" cy="2727"/>
            </a:xfrm>
            <a:prstGeom prst="star8">
              <a:avLst>
                <a:gd name="adj" fmla="val 38209"/>
              </a:avLst>
            </a:prstGeom>
            <a:noFill/>
            <a:ln>
              <a:solidFill>
                <a:srgbClr val="B78EAE"/>
              </a:solidFill>
            </a:ln>
            <a:extLst>
              <a:ext uri="{909E8E84-426E-40DD-AFC4-6F175D3DCCD1}">
                <a14:hiddenFill xmlns:a14="http://schemas.microsoft.com/office/drawing/2010/main">
                  <a:solidFill>
                    <a:srgbClr val="DCAAA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图片 36" descr="303b32303039333137363bc1b4bdd3"/>
            <p:cNvPicPr>
              <a:picLocks noChangeAspect="1"/>
            </p:cNvPicPr>
            <p:nvPr>
              <p:custDataLst>
                <p:tags r:id="rId19"/>
              </p:custDataLst>
            </p:nvPr>
          </p:nvPicPr>
          <p:blipFill>
            <a:blip r:embed="rId20"/>
            <a:stretch>
              <a:fillRect/>
            </a:stretch>
          </p:blipFill>
          <p:spPr>
            <a:xfrm>
              <a:off x="2295" y="5410"/>
              <a:ext cx="1227" cy="1227"/>
            </a:xfrm>
            <a:prstGeom prst="rect">
              <a:avLst/>
            </a:prstGeom>
          </p:spPr>
        </p:pic>
      </p:grpSp>
      <p:grpSp>
        <p:nvGrpSpPr>
          <p:cNvPr id="38" name="组合 37"/>
          <p:cNvGrpSpPr/>
          <p:nvPr>
            <p:custDataLst>
              <p:tags r:id="rId21"/>
            </p:custDataLst>
          </p:nvPr>
        </p:nvGrpSpPr>
        <p:grpSpPr>
          <a:xfrm>
            <a:off x="9361170" y="4835525"/>
            <a:ext cx="1731010" cy="1731010"/>
            <a:chOff x="1566" y="7615"/>
            <a:chExt cx="2726" cy="2726"/>
          </a:xfrm>
        </p:grpSpPr>
        <p:sp>
          <p:nvSpPr>
            <p:cNvPr id="39" name="八角星 38"/>
            <p:cNvSpPr/>
            <p:nvPr>
              <p:custDataLst>
                <p:tags r:id="rId22"/>
              </p:custDataLst>
            </p:nvPr>
          </p:nvSpPr>
          <p:spPr>
            <a:xfrm>
              <a:off x="1648" y="7688"/>
              <a:ext cx="2563" cy="2563"/>
            </a:xfrm>
            <a:prstGeom prst="star8">
              <a:avLst>
                <a:gd name="adj" fmla="val 38209"/>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八角星 39"/>
            <p:cNvSpPr/>
            <p:nvPr>
              <p:custDataLst>
                <p:tags r:id="rId23"/>
              </p:custDataLst>
            </p:nvPr>
          </p:nvSpPr>
          <p:spPr>
            <a:xfrm>
              <a:off x="1566" y="7615"/>
              <a:ext cx="2727" cy="2727"/>
            </a:xfrm>
            <a:prstGeom prst="star8">
              <a:avLst>
                <a:gd name="adj" fmla="val 38209"/>
              </a:avLst>
            </a:prstGeom>
            <a:noFill/>
            <a:ln>
              <a:solidFill>
                <a:srgbClr val="B78EAE"/>
              </a:solidFill>
            </a:ln>
            <a:extLst>
              <a:ext uri="{909E8E84-426E-40DD-AFC4-6F175D3DCCD1}">
                <a14:hiddenFill xmlns:a14="http://schemas.microsoft.com/office/drawing/2010/main">
                  <a:solidFill>
                    <a:srgbClr val="DCAAA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303b32303139323730333bc7a6b1ca"/>
            <p:cNvPicPr>
              <a:picLocks noChangeAspect="1"/>
            </p:cNvPicPr>
            <p:nvPr>
              <p:custDataLst>
                <p:tags r:id="rId24"/>
              </p:custDataLst>
            </p:nvPr>
          </p:nvPicPr>
          <p:blipFill>
            <a:blip r:embed="rId14">
              <a:extLst>
                <a:ext uri="{96DAC541-7B7A-43D3-8B79-37D633B846F1}">
                  <asvg:svgBlip xmlns:asvg="http://schemas.microsoft.com/office/drawing/2016/SVG/main" r:embed="rId15"/>
                </a:ext>
              </a:extLst>
            </a:blip>
            <a:stretch>
              <a:fillRect/>
            </a:stretch>
          </p:blipFill>
          <p:spPr>
            <a:xfrm>
              <a:off x="2294" y="8343"/>
              <a:ext cx="1228" cy="1228"/>
            </a:xfrm>
            <a:prstGeom prst="rect">
              <a:avLst/>
            </a:prstGeom>
          </p:spPr>
        </p:pic>
      </p:grpSp>
    </p:spTree>
    <p:custDataLst>
      <p:tags r:id="rId2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07255" y="233680"/>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音频数据</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23" name="组合 22"/>
          <p:cNvGrpSpPr/>
          <p:nvPr/>
        </p:nvGrpSpPr>
        <p:grpSpPr>
          <a:xfrm>
            <a:off x="3544570" y="1081166"/>
            <a:ext cx="7094855" cy="1414289"/>
            <a:chOff x="1478" y="3883"/>
            <a:chExt cx="11173" cy="2227"/>
          </a:xfrm>
        </p:grpSpPr>
        <p:sp>
          <p:nvSpPr>
            <p:cNvPr id="24" name="333333"/>
            <p:cNvSpPr txBox="1"/>
            <p:nvPr/>
          </p:nvSpPr>
          <p:spPr>
            <a:xfrm>
              <a:off x="1478" y="3883"/>
              <a:ext cx="5093"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最低有效位（LSB）</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1111"/>
            <p:cNvSpPr txBox="1"/>
            <p:nvPr/>
          </p:nvSpPr>
          <p:spPr>
            <a:xfrm>
              <a:off x="1478" y="4252"/>
              <a:ext cx="11173" cy="1858"/>
            </a:xfrm>
            <a:prstGeom prst="rect">
              <a:avLst/>
            </a:prstGeom>
            <a:noFill/>
            <a:ln w="9525">
              <a:noFill/>
            </a:ln>
          </p:spPr>
          <p:txBody>
            <a:bodyPr wrap="square" tIns="36195" bIns="36195" anchor="t">
              <a:sp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音频数据通常以一定的位深度表示，如</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 8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16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32 </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位等。可以将隐藏信息嵌入到音频样本的最低有效位中。由于人耳对音频信号的微小变化不太敏感，这种方式可以在不明显影响音频质量的情况下隐藏大量信息。</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sp>
        <p:nvSpPr>
          <p:cNvPr id="28" name="文本框 27"/>
          <p:cNvSpPr txBox="1"/>
          <p:nvPr>
            <p:custDataLst>
              <p:tags r:id="rId1"/>
            </p:custDataLst>
          </p:nvPr>
        </p:nvSpPr>
        <p:spPr>
          <a:xfrm>
            <a:off x="1981200" y="2096770"/>
            <a:ext cx="453390" cy="521970"/>
          </a:xfrm>
          <a:prstGeom prst="rect">
            <a:avLst/>
          </a:prstGeom>
          <a:noFill/>
        </p:spPr>
        <p:txBody>
          <a:bodyPr wrap="none" rtlCol="0">
            <a:spAutoFit/>
          </a:bodyPr>
          <a:lstStyle/>
          <a:p>
            <a:r>
              <a:rPr lang="en-US" altLang="zh-CN" sz="2800" b="1">
                <a:latin typeface="微软雅黑" panose="020B0503020204020204" pitchFamily="34" charset="-122"/>
                <a:ea typeface="微软雅黑" panose="020B0503020204020204" pitchFamily="34" charset="-122"/>
              </a:rPr>
              <a:t>+</a:t>
            </a:r>
            <a:endParaRPr lang="en-US" altLang="zh-CN" sz="2800" b="1">
              <a:latin typeface="微软雅黑" panose="020B0503020204020204" pitchFamily="34" charset="-122"/>
              <a:ea typeface="微软雅黑" panose="020B0503020204020204" pitchFamily="34" charset="-122"/>
            </a:endParaRPr>
          </a:p>
        </p:txBody>
      </p:sp>
      <p:grpSp>
        <p:nvGrpSpPr>
          <p:cNvPr id="35" name="组合 34"/>
          <p:cNvGrpSpPr/>
          <p:nvPr>
            <p:custDataLst>
              <p:tags r:id="rId2"/>
            </p:custDataLst>
          </p:nvPr>
        </p:nvGrpSpPr>
        <p:grpSpPr>
          <a:xfrm>
            <a:off x="3544570" y="2481449"/>
            <a:ext cx="7094855" cy="1112520"/>
            <a:chOff x="1478" y="3883"/>
            <a:chExt cx="11173" cy="1752"/>
          </a:xfrm>
        </p:grpSpPr>
        <p:sp>
          <p:nvSpPr>
            <p:cNvPr id="36" name="333333"/>
            <p:cNvSpPr txBox="1"/>
            <p:nvPr>
              <p:custDataLst>
                <p:tags r:id="rId3"/>
              </p:custDataLst>
            </p:nvPr>
          </p:nvSpPr>
          <p:spPr>
            <a:xfrm>
              <a:off x="1478" y="3883"/>
              <a:ext cx="3234"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音频帧间隙</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1111"/>
            <p:cNvSpPr txBox="1"/>
            <p:nvPr>
              <p:custDataLst>
                <p:tags r:id="rId4"/>
              </p:custDataLst>
            </p:nvPr>
          </p:nvSpPr>
          <p:spPr>
            <a:xfrm>
              <a:off x="1478" y="4358"/>
              <a:ext cx="11173" cy="1277"/>
            </a:xfrm>
            <a:prstGeom prst="rect">
              <a:avLst/>
            </a:prstGeom>
            <a:noFill/>
            <a:ln w="9525">
              <a:noFill/>
            </a:ln>
          </p:spPr>
          <p:txBody>
            <a:bodyPr wrap="square" tIns="36195" bIns="36195" anchor="t">
              <a:sp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在音频数据的帧之间，可能存在一些间隙或者未被充分利用的空间。可以在这些位置插入隐藏信息，通过特殊的编码方式来标识信息的起始和结束。</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38" name="组合 37"/>
          <p:cNvGrpSpPr/>
          <p:nvPr>
            <p:custDataLst>
              <p:tags r:id="rId5"/>
            </p:custDataLst>
          </p:nvPr>
        </p:nvGrpSpPr>
        <p:grpSpPr>
          <a:xfrm>
            <a:off x="3557270" y="3708904"/>
            <a:ext cx="7094855" cy="1481455"/>
            <a:chOff x="1478" y="3883"/>
            <a:chExt cx="11173" cy="2333"/>
          </a:xfrm>
        </p:grpSpPr>
        <p:sp>
          <p:nvSpPr>
            <p:cNvPr id="39" name="333333"/>
            <p:cNvSpPr txBox="1"/>
            <p:nvPr>
              <p:custDataLst>
                <p:tags r:id="rId6"/>
              </p:custDataLst>
            </p:nvPr>
          </p:nvSpPr>
          <p:spPr>
            <a:xfrm>
              <a:off x="1478" y="3883"/>
              <a:ext cx="1811"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静音段</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1111"/>
            <p:cNvSpPr txBox="1"/>
            <p:nvPr>
              <p:custDataLst>
                <p:tags r:id="rId7"/>
              </p:custDataLst>
            </p:nvPr>
          </p:nvSpPr>
          <p:spPr>
            <a:xfrm>
              <a:off x="1478" y="4358"/>
              <a:ext cx="11173" cy="1858"/>
            </a:xfrm>
            <a:prstGeom prst="rect">
              <a:avLst/>
            </a:prstGeom>
            <a:noFill/>
            <a:ln w="9525">
              <a:noFill/>
            </a:ln>
          </p:spPr>
          <p:txBody>
            <a:bodyPr wrap="square" tIns="36195" bIns="36195" anchor="t">
              <a:sp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音频文件中的静音部分，即音频样本值接近零的区域，可以用来隐藏信息。可以通过对静音段的一些特征进行微小调整来编码隐藏信息，而不会对听觉效果产生明显影响。</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41" name="组合 40"/>
          <p:cNvGrpSpPr/>
          <p:nvPr>
            <p:custDataLst>
              <p:tags r:id="rId8"/>
            </p:custDataLst>
          </p:nvPr>
        </p:nvGrpSpPr>
        <p:grpSpPr>
          <a:xfrm>
            <a:off x="3544570" y="5190359"/>
            <a:ext cx="7094855" cy="1448435"/>
            <a:chOff x="1465" y="3739"/>
            <a:chExt cx="11173" cy="2281"/>
          </a:xfrm>
        </p:grpSpPr>
        <p:sp>
          <p:nvSpPr>
            <p:cNvPr id="42" name="333333"/>
            <p:cNvSpPr txBox="1"/>
            <p:nvPr>
              <p:custDataLst>
                <p:tags r:id="rId9"/>
              </p:custDataLst>
            </p:nvPr>
          </p:nvSpPr>
          <p:spPr>
            <a:xfrm>
              <a:off x="1485" y="3739"/>
              <a:ext cx="1811"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频率域</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1111"/>
            <p:cNvSpPr txBox="1"/>
            <p:nvPr>
              <p:custDataLst>
                <p:tags r:id="rId10"/>
              </p:custDataLst>
            </p:nvPr>
          </p:nvSpPr>
          <p:spPr>
            <a:xfrm>
              <a:off x="1465" y="4162"/>
              <a:ext cx="11173" cy="1858"/>
            </a:xfrm>
            <a:prstGeom prst="rect">
              <a:avLst/>
            </a:prstGeom>
            <a:noFill/>
            <a:ln w="9525">
              <a:noFill/>
            </a:ln>
          </p:spPr>
          <p:txBody>
            <a:bodyPr wrap="square" tIns="36195" bIns="36195" anchor="t">
              <a:spAutoFit/>
            </a:bodyPr>
            <a:lstStyle/>
            <a:p>
              <a:pPr algn="just">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通过对音频信号进行傅里叶变换，将其转换到频率域。在频率域中，可以选择一些对听觉感知影响较小的频率分量来隐藏信息，例如在高频部分或者一些非关键频率点上进行信息嵌入。</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sp>
        <p:nvSpPr>
          <p:cNvPr id="44" name="文本框 43"/>
          <p:cNvSpPr txBox="1"/>
          <p:nvPr>
            <p:custDataLst>
              <p:tags r:id="rId11"/>
            </p:custDataLst>
          </p:nvPr>
        </p:nvSpPr>
        <p:spPr>
          <a:xfrm>
            <a:off x="1981200" y="3474720"/>
            <a:ext cx="453390" cy="521970"/>
          </a:xfrm>
          <a:prstGeom prst="rect">
            <a:avLst/>
          </a:prstGeom>
          <a:noFill/>
        </p:spPr>
        <p:txBody>
          <a:bodyPr wrap="none" rtlCol="0">
            <a:spAutoFit/>
          </a:bodyPr>
          <a:lstStyle/>
          <a:p>
            <a:r>
              <a:rPr lang="en-US" altLang="zh-CN" sz="2800" b="1">
                <a:latin typeface="微软雅黑" panose="020B0503020204020204" pitchFamily="34" charset="-122"/>
                <a:ea typeface="微软雅黑" panose="020B0503020204020204" pitchFamily="34" charset="-122"/>
              </a:rPr>
              <a:t>+</a:t>
            </a:r>
            <a:endParaRPr lang="en-US" altLang="zh-CN" sz="2800" b="1">
              <a:latin typeface="微软雅黑" panose="020B0503020204020204" pitchFamily="34" charset="-122"/>
              <a:ea typeface="微软雅黑" panose="020B0503020204020204" pitchFamily="34" charset="-122"/>
            </a:endParaRPr>
          </a:p>
        </p:txBody>
      </p:sp>
      <p:sp>
        <p:nvSpPr>
          <p:cNvPr id="45" name="文本框 44"/>
          <p:cNvSpPr txBox="1"/>
          <p:nvPr>
            <p:custDataLst>
              <p:tags r:id="rId12"/>
            </p:custDataLst>
          </p:nvPr>
        </p:nvSpPr>
        <p:spPr>
          <a:xfrm>
            <a:off x="1981200" y="4852670"/>
            <a:ext cx="453390" cy="521970"/>
          </a:xfrm>
          <a:prstGeom prst="rect">
            <a:avLst/>
          </a:prstGeom>
          <a:noFill/>
        </p:spPr>
        <p:txBody>
          <a:bodyPr wrap="none" rtlCol="0">
            <a:spAutoFit/>
          </a:bodyPr>
          <a:lstStyle/>
          <a:p>
            <a:r>
              <a:rPr lang="en-US" altLang="zh-CN" sz="2800" b="1">
                <a:latin typeface="微软雅黑" panose="020B0503020204020204" pitchFamily="34" charset="-122"/>
                <a:ea typeface="微软雅黑" panose="020B0503020204020204" pitchFamily="34" charset="-122"/>
              </a:rPr>
              <a:t>=</a:t>
            </a:r>
            <a:endParaRPr lang="en-US" altLang="zh-CN" sz="2800" b="1">
              <a:latin typeface="微软雅黑" panose="020B0503020204020204" pitchFamily="34" charset="-122"/>
              <a:ea typeface="微软雅黑" panose="020B0503020204020204" pitchFamily="34" charset="-122"/>
            </a:endParaRPr>
          </a:p>
        </p:txBody>
      </p:sp>
      <p:grpSp>
        <p:nvGrpSpPr>
          <p:cNvPr id="50" name="组合 49"/>
          <p:cNvGrpSpPr/>
          <p:nvPr/>
        </p:nvGrpSpPr>
        <p:grpSpPr>
          <a:xfrm>
            <a:off x="1720215" y="1181100"/>
            <a:ext cx="975360" cy="975360"/>
            <a:chOff x="3461" y="2138"/>
            <a:chExt cx="1536" cy="1536"/>
          </a:xfrm>
          <a:solidFill>
            <a:srgbClr val="701E5E"/>
          </a:solidFill>
        </p:grpSpPr>
        <p:sp>
          <p:nvSpPr>
            <p:cNvPr id="8" name="八角星 7"/>
            <p:cNvSpPr/>
            <p:nvPr/>
          </p:nvSpPr>
          <p:spPr>
            <a:xfrm>
              <a:off x="3461" y="2138"/>
              <a:ext cx="1537" cy="1537"/>
            </a:xfrm>
            <a:prstGeom prst="star8">
              <a:avLst>
                <a:gd name="adj" fmla="val 382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图片 45" descr="31393935333436333b31393936333833343bcfdfd0d4cafdbeddcdbc"/>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872" y="2530"/>
              <a:ext cx="752" cy="752"/>
            </a:xfrm>
            <a:prstGeom prst="rect">
              <a:avLst/>
            </a:prstGeom>
          </p:spPr>
        </p:pic>
      </p:grpSp>
      <p:grpSp>
        <p:nvGrpSpPr>
          <p:cNvPr id="51" name="组合 50"/>
          <p:cNvGrpSpPr/>
          <p:nvPr>
            <p:custDataLst>
              <p:tags r:id="rId15"/>
            </p:custDataLst>
          </p:nvPr>
        </p:nvGrpSpPr>
        <p:grpSpPr>
          <a:xfrm>
            <a:off x="1720215" y="2559050"/>
            <a:ext cx="975360" cy="975360"/>
            <a:chOff x="3461" y="4343"/>
            <a:chExt cx="1536" cy="1536"/>
          </a:xfrm>
        </p:grpSpPr>
        <p:sp>
          <p:nvSpPr>
            <p:cNvPr id="9" name="八角星 8"/>
            <p:cNvSpPr/>
            <p:nvPr>
              <p:custDataLst>
                <p:tags r:id="rId16"/>
              </p:custDataLst>
            </p:nvPr>
          </p:nvSpPr>
          <p:spPr>
            <a:xfrm>
              <a:off x="3461" y="4343"/>
              <a:ext cx="1537" cy="1537"/>
            </a:xfrm>
            <a:prstGeom prst="star8">
              <a:avLst>
                <a:gd name="adj" fmla="val 38288"/>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descr="303b32303039333137363bc1b4bdd3"/>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3715" y="4559"/>
              <a:ext cx="1028" cy="1028"/>
            </a:xfrm>
            <a:prstGeom prst="rect">
              <a:avLst/>
            </a:prstGeom>
          </p:spPr>
        </p:pic>
      </p:grpSp>
      <p:grpSp>
        <p:nvGrpSpPr>
          <p:cNvPr id="52" name="组合 51"/>
          <p:cNvGrpSpPr/>
          <p:nvPr>
            <p:custDataLst>
              <p:tags r:id="rId20"/>
            </p:custDataLst>
          </p:nvPr>
        </p:nvGrpSpPr>
        <p:grpSpPr>
          <a:xfrm>
            <a:off x="1720850" y="3937000"/>
            <a:ext cx="975360" cy="975360"/>
            <a:chOff x="3461" y="6548"/>
            <a:chExt cx="1536" cy="1536"/>
          </a:xfrm>
          <a:solidFill>
            <a:srgbClr val="701E5E"/>
          </a:solidFill>
        </p:grpSpPr>
        <p:sp>
          <p:nvSpPr>
            <p:cNvPr id="10" name="八角星 9"/>
            <p:cNvSpPr/>
            <p:nvPr>
              <p:custDataLst>
                <p:tags r:id="rId21"/>
              </p:custDataLst>
            </p:nvPr>
          </p:nvSpPr>
          <p:spPr>
            <a:xfrm>
              <a:off x="3461" y="6548"/>
              <a:ext cx="1537" cy="1537"/>
            </a:xfrm>
            <a:prstGeom prst="star8">
              <a:avLst>
                <a:gd name="adj" fmla="val 382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图片 47" descr="303b32303139323730333bc7a6b1ca"/>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3798" y="6928"/>
              <a:ext cx="864" cy="864"/>
            </a:xfrm>
            <a:prstGeom prst="rect">
              <a:avLst/>
            </a:prstGeom>
          </p:spPr>
        </p:pic>
      </p:grpSp>
      <p:grpSp>
        <p:nvGrpSpPr>
          <p:cNvPr id="53" name="组合 52"/>
          <p:cNvGrpSpPr/>
          <p:nvPr>
            <p:custDataLst>
              <p:tags r:id="rId25"/>
            </p:custDataLst>
          </p:nvPr>
        </p:nvGrpSpPr>
        <p:grpSpPr>
          <a:xfrm>
            <a:off x="1719898" y="5314950"/>
            <a:ext cx="975995" cy="975995"/>
            <a:chOff x="3461" y="8753"/>
            <a:chExt cx="1537" cy="1537"/>
          </a:xfrm>
        </p:grpSpPr>
        <p:sp>
          <p:nvSpPr>
            <p:cNvPr id="27" name="八角星 26"/>
            <p:cNvSpPr/>
            <p:nvPr>
              <p:custDataLst>
                <p:tags r:id="rId26"/>
              </p:custDataLst>
            </p:nvPr>
          </p:nvSpPr>
          <p:spPr>
            <a:xfrm>
              <a:off x="3461" y="8753"/>
              <a:ext cx="1537" cy="1537"/>
            </a:xfrm>
            <a:prstGeom prst="star8">
              <a:avLst>
                <a:gd name="adj" fmla="val 38288"/>
              </a:avLst>
            </a:prstGeom>
            <a:solidFill>
              <a:srgbClr val="B78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descr="303b32303039333131343bd1adbbb7"/>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3677" y="8980"/>
              <a:ext cx="1106" cy="1106"/>
            </a:xfrm>
            <a:prstGeom prst="rect">
              <a:avLst/>
            </a:prstGeom>
          </p:spPr>
        </p:pic>
      </p:grpSp>
      <p:cxnSp>
        <p:nvCxnSpPr>
          <p:cNvPr id="54" name="直接连接符 53"/>
          <p:cNvCxnSpPr/>
          <p:nvPr>
            <p:custDataLst>
              <p:tags r:id="rId30"/>
            </p:custDataLst>
          </p:nvPr>
        </p:nvCxnSpPr>
        <p:spPr>
          <a:xfrm>
            <a:off x="3647440" y="2468245"/>
            <a:ext cx="6984000" cy="0"/>
          </a:xfrm>
          <a:prstGeom prst="line">
            <a:avLst/>
          </a:prstGeom>
          <a:ln>
            <a:solidFill>
              <a:srgbClr val="EFE6E1"/>
            </a:solidFill>
            <a:prstDash val="lg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custDataLst>
              <p:tags r:id="rId31"/>
            </p:custDataLst>
          </p:nvPr>
        </p:nvCxnSpPr>
        <p:spPr>
          <a:xfrm>
            <a:off x="3655695" y="3738245"/>
            <a:ext cx="6984000" cy="0"/>
          </a:xfrm>
          <a:prstGeom prst="line">
            <a:avLst/>
          </a:prstGeom>
          <a:ln>
            <a:solidFill>
              <a:srgbClr val="EFE6E1"/>
            </a:solidFill>
            <a:prstDash val="lg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custDataLst>
              <p:tags r:id="rId32"/>
            </p:custDataLst>
          </p:nvPr>
        </p:nvCxnSpPr>
        <p:spPr>
          <a:xfrm>
            <a:off x="3655695" y="5138420"/>
            <a:ext cx="6984000" cy="0"/>
          </a:xfrm>
          <a:prstGeom prst="line">
            <a:avLst/>
          </a:prstGeom>
          <a:ln>
            <a:solidFill>
              <a:srgbClr val="EFE6E1"/>
            </a:solidFill>
            <a:prstDash val="lgDash"/>
          </a:ln>
        </p:spPr>
        <p:style>
          <a:lnRef idx="1">
            <a:schemeClr val="accent1"/>
          </a:lnRef>
          <a:fillRef idx="0">
            <a:schemeClr val="accent1"/>
          </a:fillRef>
          <a:effectRef idx="0">
            <a:schemeClr val="accent1"/>
          </a:effectRef>
          <a:fontRef idx="minor">
            <a:schemeClr val="tx1"/>
          </a:fontRef>
        </p:style>
      </p:cxnSp>
    </p:spTree>
    <p:custDataLst>
      <p:tags r:id="rId3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295140" y="233680"/>
            <a:ext cx="3601720" cy="695873"/>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秘密信息隐藏方法</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1"/>
          <a:srcRect l="7530" t="6181" r="5192" b="5059"/>
          <a:stretch>
            <a:fillRect/>
          </a:stretch>
        </p:blipFill>
        <p:spPr>
          <a:xfrm>
            <a:off x="2710180" y="1003935"/>
            <a:ext cx="8314055" cy="5328920"/>
          </a:xfrm>
          <a:prstGeom prst="rect">
            <a:avLst/>
          </a:prstGeom>
        </p:spPr>
      </p:pic>
      <p:sp>
        <p:nvSpPr>
          <p:cNvPr id="3" name="文本框 2"/>
          <p:cNvSpPr txBox="1"/>
          <p:nvPr/>
        </p:nvSpPr>
        <p:spPr>
          <a:xfrm>
            <a:off x="1753870" y="1905000"/>
            <a:ext cx="956310" cy="3526155"/>
          </a:xfrm>
          <a:prstGeom prst="roundRect">
            <a:avLst>
              <a:gd name="adj" fmla="val 49999"/>
            </a:avLst>
          </a:prstGeom>
          <a:solidFill>
            <a:srgbClr val="701E5E"/>
          </a:solidFill>
        </p:spPr>
        <p:txBody>
          <a:bodyPr wrap="square" rtlCol="0" anchor="t">
            <a:no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秘密信息隐藏方法</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109085" y="233680"/>
            <a:ext cx="3974465" cy="695873"/>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秘密信息隐藏常见方法</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75" name="组合 74"/>
          <p:cNvGrpSpPr/>
          <p:nvPr>
            <p:custDataLst>
              <p:tags r:id="rId1"/>
            </p:custDataLst>
          </p:nvPr>
        </p:nvGrpSpPr>
        <p:grpSpPr>
          <a:xfrm>
            <a:off x="543560" y="1385966"/>
            <a:ext cx="5022850" cy="1787072"/>
            <a:chOff x="1478" y="3883"/>
            <a:chExt cx="7910" cy="2814"/>
          </a:xfrm>
        </p:grpSpPr>
        <p:sp>
          <p:nvSpPr>
            <p:cNvPr id="76" name="333333"/>
            <p:cNvSpPr txBox="1"/>
            <p:nvPr>
              <p:custDataLst>
                <p:tags r:id="rId2"/>
              </p:custDataLst>
            </p:nvPr>
          </p:nvSpPr>
          <p:spPr>
            <a:xfrm>
              <a:off x="1478" y="3883"/>
              <a:ext cx="5701" cy="580"/>
            </a:xfrm>
            <a:prstGeom prst="rect">
              <a:avLst/>
            </a:prstGeom>
            <a:noFill/>
            <a:ln w="9525">
              <a:noFill/>
            </a:ln>
          </p:spPr>
          <p:txBody>
            <a:bodyPr wrap="square" anchor="t">
              <a:spAutoFit/>
            </a:bodyPr>
            <a:lstStyle/>
            <a:p>
              <a:pPr algn="l"/>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最低有效位（</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LSB</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）替换法</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7" name="1111"/>
            <p:cNvSpPr txBox="1"/>
            <p:nvPr>
              <p:custDataLst>
                <p:tags r:id="rId3"/>
              </p:custDataLst>
            </p:nvPr>
          </p:nvSpPr>
          <p:spPr>
            <a:xfrm>
              <a:off x="1478" y="4518"/>
              <a:ext cx="7910" cy="2179"/>
            </a:xfrm>
            <a:prstGeom prst="rect">
              <a:avLst/>
            </a:prstGeom>
            <a:noFill/>
            <a:ln w="9525">
              <a:noFill/>
            </a:ln>
          </p:spPr>
          <p:txBody>
            <a:bodyPr wrap="square" anchor="t">
              <a:spAutoFit/>
            </a:bodyPr>
            <a:lstStyle/>
            <a:p>
              <a:pPr algn="just">
                <a:lnSpc>
                  <a:spcPct val="150000"/>
                </a:lnSpc>
              </a:pP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WAV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文件中的音频数据通常以一定的位深度来表示，</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8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16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位或</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32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位等。将秘密信息嵌入到音频样本的最低有效位中。由于人耳对音频信号的微小变化不敏感，只要修改的幅度足够小，就可以在不明显影响音频质量的情况下隐藏大量信息。</a:t>
              </a:r>
              <a:endPar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78" name="组合 77"/>
          <p:cNvGrpSpPr/>
          <p:nvPr>
            <p:custDataLst>
              <p:tags r:id="rId4"/>
            </p:custDataLst>
          </p:nvPr>
        </p:nvGrpSpPr>
        <p:grpSpPr>
          <a:xfrm>
            <a:off x="6631305" y="1385966"/>
            <a:ext cx="5022850" cy="1787072"/>
            <a:chOff x="1478" y="3883"/>
            <a:chExt cx="7910" cy="2814"/>
          </a:xfrm>
        </p:grpSpPr>
        <p:sp>
          <p:nvSpPr>
            <p:cNvPr id="79" name="333333"/>
            <p:cNvSpPr txBox="1"/>
            <p:nvPr>
              <p:custDataLst>
                <p:tags r:id="rId5"/>
              </p:custDataLst>
            </p:nvPr>
          </p:nvSpPr>
          <p:spPr>
            <a:xfrm>
              <a:off x="1478" y="3883"/>
              <a:ext cx="2503"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回声隐藏法</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0" name="1111"/>
            <p:cNvSpPr txBox="1"/>
            <p:nvPr>
              <p:custDataLst>
                <p:tags r:id="rId6"/>
              </p:custDataLst>
            </p:nvPr>
          </p:nvSpPr>
          <p:spPr>
            <a:xfrm>
              <a:off x="1478" y="4518"/>
              <a:ext cx="7910" cy="2179"/>
            </a:xfrm>
            <a:prstGeom prst="rect">
              <a:avLst/>
            </a:prstGeom>
            <a:noFill/>
            <a:ln w="9525">
              <a:noFill/>
            </a:ln>
          </p:spPr>
          <p:txBody>
            <a:bodyPr wrap="square" anchor="t">
              <a:spAutoFit/>
            </a:bodyPr>
            <a:lstStyle/>
            <a:p>
              <a:pPr algn="just">
                <a:lnSpc>
                  <a:spcPct val="150000"/>
                </a:lnSpc>
              </a:pP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利用人耳对回声的掩蔽效应，通过在原始音频信号中添加回声。回声的延迟时间和强度可以根据秘密信息进行编码。若要隐藏信息</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“0”</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，可以设置较短的回声延迟时间和较低的回声强度；要隐藏信息</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“1”</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，则设置较长的延迟时间和较高的回声强度。</a:t>
              </a:r>
              <a:endPar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81" name="组合 80"/>
          <p:cNvGrpSpPr/>
          <p:nvPr>
            <p:custDataLst>
              <p:tags r:id="rId7"/>
            </p:custDataLst>
          </p:nvPr>
        </p:nvGrpSpPr>
        <p:grpSpPr>
          <a:xfrm>
            <a:off x="543560" y="4687966"/>
            <a:ext cx="5022850" cy="1787072"/>
            <a:chOff x="1478" y="3883"/>
            <a:chExt cx="7910" cy="2814"/>
          </a:xfrm>
        </p:grpSpPr>
        <p:sp>
          <p:nvSpPr>
            <p:cNvPr id="82" name="333333"/>
            <p:cNvSpPr txBox="1"/>
            <p:nvPr>
              <p:custDataLst>
                <p:tags r:id="rId8"/>
              </p:custDataLst>
            </p:nvPr>
          </p:nvSpPr>
          <p:spPr>
            <a:xfrm>
              <a:off x="1478" y="3883"/>
              <a:ext cx="3411"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相位编码法</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3" name="1111"/>
            <p:cNvSpPr txBox="1"/>
            <p:nvPr>
              <p:custDataLst>
                <p:tags r:id="rId9"/>
              </p:custDataLst>
            </p:nvPr>
          </p:nvSpPr>
          <p:spPr>
            <a:xfrm>
              <a:off x="1478" y="4518"/>
              <a:ext cx="7910" cy="2179"/>
            </a:xfrm>
            <a:prstGeom prst="rect">
              <a:avLst/>
            </a:prstGeom>
            <a:noFill/>
            <a:ln w="9525">
              <a:noFill/>
            </a:ln>
          </p:spPr>
          <p:txBody>
            <a:bodyPr wrap="square" anchor="t">
              <a:spAutoFit/>
            </a:bodyPr>
            <a:lstStyle/>
            <a:p>
              <a:pPr algn="just">
                <a:lnSpc>
                  <a:spcPct val="150000"/>
                </a:lnSpc>
              </a:pP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对音频信号的相位信息进行调制来隐藏秘密信息。人耳对相位的微小变化相对不敏感。通过改变音频信号某些部分的相位来编码秘密信息，而不会对音频的整体感知产生太大影响。可以规定相位偏移</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0</a:t>
              </a:r>
              <a:r>
                <a:rPr lang="en-US"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表示信息</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“0”</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，相位偏移</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180</a:t>
              </a:r>
              <a:r>
                <a:rPr lang="en-US"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表示信息</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“1”</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endPar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84" name="组合 83"/>
          <p:cNvGrpSpPr/>
          <p:nvPr>
            <p:custDataLst>
              <p:tags r:id="rId10"/>
            </p:custDataLst>
          </p:nvPr>
        </p:nvGrpSpPr>
        <p:grpSpPr>
          <a:xfrm>
            <a:off x="6631305" y="4687966"/>
            <a:ext cx="5022850" cy="1787072"/>
            <a:chOff x="1478" y="3883"/>
            <a:chExt cx="7910" cy="2814"/>
          </a:xfrm>
        </p:grpSpPr>
        <p:sp>
          <p:nvSpPr>
            <p:cNvPr id="85" name="333333"/>
            <p:cNvSpPr txBox="1"/>
            <p:nvPr>
              <p:custDataLst>
                <p:tags r:id="rId11"/>
              </p:custDataLst>
            </p:nvPr>
          </p:nvSpPr>
          <p:spPr>
            <a:xfrm>
              <a:off x="1478" y="3883"/>
              <a:ext cx="3635" cy="580"/>
            </a:xfrm>
            <a:prstGeom prst="rect">
              <a:avLst/>
            </a:prstGeom>
            <a:noFill/>
            <a:ln w="9525">
              <a:noFill/>
            </a:ln>
          </p:spPr>
          <p:txBody>
            <a:bodyPr wrap="square" anchor="t">
              <a:spAutoFit/>
            </a:bodyPr>
            <a:lstStyle/>
            <a:p>
              <a:pPr algn="l"/>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变换域隐藏法</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6" name="1111"/>
            <p:cNvSpPr txBox="1"/>
            <p:nvPr>
              <p:custDataLst>
                <p:tags r:id="rId12"/>
              </p:custDataLst>
            </p:nvPr>
          </p:nvSpPr>
          <p:spPr>
            <a:xfrm>
              <a:off x="1478" y="4518"/>
              <a:ext cx="7910" cy="2179"/>
            </a:xfrm>
            <a:prstGeom prst="rect">
              <a:avLst/>
            </a:prstGeom>
            <a:noFill/>
            <a:ln w="9525">
              <a:noFill/>
            </a:ln>
          </p:spPr>
          <p:txBody>
            <a:bodyPr wrap="square" anchor="t">
              <a:spAutoFit/>
            </a:bodyPr>
            <a:lstStyle/>
            <a:p>
              <a:pPr algn="just">
                <a:lnSpc>
                  <a:spcPct val="150000"/>
                </a:lnSpc>
              </a:pP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先将音频信号从时域转换到变换域，如</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DCT</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DWT</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FFT</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等。然后在变换域中选择一些对听觉感知影响较小的系数进行修改，以嵌入秘密信息。最后再将修改后的变换域系数转换回时域，得到隐藏信息后的音频信号。</a:t>
              </a:r>
              <a:endPar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cxnSp>
        <p:nvCxnSpPr>
          <p:cNvPr id="87" name="直接连接符 86"/>
          <p:cNvCxnSpPr/>
          <p:nvPr>
            <p:custDataLst>
              <p:tags r:id="rId13"/>
            </p:custDataLst>
          </p:nvPr>
        </p:nvCxnSpPr>
        <p:spPr>
          <a:xfrm>
            <a:off x="6083300" y="1551940"/>
            <a:ext cx="0" cy="1362075"/>
          </a:xfrm>
          <a:prstGeom prst="line">
            <a:avLst/>
          </a:prstGeom>
          <a:ln w="12700">
            <a:solidFill>
              <a:srgbClr val="C65844"/>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custDataLst>
              <p:tags r:id="rId14"/>
            </p:custDataLst>
          </p:nvPr>
        </p:nvCxnSpPr>
        <p:spPr>
          <a:xfrm>
            <a:off x="6094095" y="4929505"/>
            <a:ext cx="0" cy="1362075"/>
          </a:xfrm>
          <a:prstGeom prst="line">
            <a:avLst/>
          </a:prstGeom>
          <a:ln w="12700">
            <a:solidFill>
              <a:srgbClr val="C65844"/>
            </a:solidFill>
            <a:prstDash val="dash"/>
          </a:ln>
        </p:spPr>
        <p:style>
          <a:lnRef idx="1">
            <a:schemeClr val="accent1"/>
          </a:lnRef>
          <a:fillRef idx="0">
            <a:schemeClr val="accent1"/>
          </a:fillRef>
          <a:effectRef idx="0">
            <a:schemeClr val="accent1"/>
          </a:effectRef>
          <a:fontRef idx="minor">
            <a:schemeClr val="tx1"/>
          </a:fontRef>
        </p:style>
      </p:cxnSp>
      <p:sp>
        <p:nvSpPr>
          <p:cNvPr id="89" name="文本框 88"/>
          <p:cNvSpPr txBox="1"/>
          <p:nvPr>
            <p:custDataLst>
              <p:tags r:id="rId15"/>
            </p:custDataLst>
          </p:nvPr>
        </p:nvSpPr>
        <p:spPr>
          <a:xfrm>
            <a:off x="949960" y="3147695"/>
            <a:ext cx="10061575" cy="1363345"/>
          </a:xfrm>
          <a:custGeom>
            <a:avLst/>
            <a:gdLst/>
            <a:ahLst/>
            <a:cxnLst>
              <a:cxn ang="3">
                <a:pos x="hc" y="t"/>
              </a:cxn>
              <a:cxn ang="cd2">
                <a:pos x="l" y="vc"/>
              </a:cxn>
              <a:cxn ang="cd4">
                <a:pos x="hc" y="b"/>
              </a:cxn>
              <a:cxn ang="0">
                <a:pos x="r" y="vc"/>
              </a:cxn>
            </a:cxnLst>
            <a:rect l="l" t="t" r="r" b="b"/>
            <a:pathLst>
              <a:path w="16734" h="3016">
                <a:moveTo>
                  <a:pt x="15039" y="521"/>
                </a:moveTo>
                <a:lnTo>
                  <a:pt x="15044" y="550"/>
                </a:lnTo>
                <a:cubicBezTo>
                  <a:pt x="15067" y="676"/>
                  <a:pt x="15079" y="816"/>
                  <a:pt x="15079" y="970"/>
                </a:cubicBezTo>
                <a:lnTo>
                  <a:pt x="15079" y="2983"/>
                </a:lnTo>
                <a:lnTo>
                  <a:pt x="14947" y="2989"/>
                </a:lnTo>
                <a:cubicBezTo>
                  <a:pt x="14668" y="3002"/>
                  <a:pt x="14388" y="3009"/>
                  <a:pt x="14109" y="3013"/>
                </a:cubicBezTo>
                <a:lnTo>
                  <a:pt x="14048" y="3014"/>
                </a:lnTo>
                <a:lnTo>
                  <a:pt x="14048" y="1038"/>
                </a:lnTo>
                <a:cubicBezTo>
                  <a:pt x="14048" y="903"/>
                  <a:pt x="14032" y="809"/>
                  <a:pt x="14000" y="757"/>
                </a:cubicBezTo>
                <a:cubicBezTo>
                  <a:pt x="13968" y="704"/>
                  <a:pt x="13910" y="678"/>
                  <a:pt x="13827" y="678"/>
                </a:cubicBezTo>
                <a:cubicBezTo>
                  <a:pt x="13666" y="678"/>
                  <a:pt x="13586" y="798"/>
                  <a:pt x="13586" y="1038"/>
                </a:cubicBezTo>
                <a:lnTo>
                  <a:pt x="13586" y="1470"/>
                </a:lnTo>
                <a:lnTo>
                  <a:pt x="13883" y="1470"/>
                </a:lnTo>
                <a:lnTo>
                  <a:pt x="13883" y="2384"/>
                </a:lnTo>
                <a:lnTo>
                  <a:pt x="13586" y="2384"/>
                </a:lnTo>
                <a:lnTo>
                  <a:pt x="13586" y="3016"/>
                </a:lnTo>
                <a:lnTo>
                  <a:pt x="13550" y="3016"/>
                </a:lnTo>
                <a:cubicBezTo>
                  <a:pt x="13224" y="3015"/>
                  <a:pt x="12898" y="3008"/>
                  <a:pt x="12572" y="2998"/>
                </a:cubicBezTo>
                <a:lnTo>
                  <a:pt x="12555" y="2998"/>
                </a:lnTo>
                <a:lnTo>
                  <a:pt x="12555" y="1005"/>
                </a:lnTo>
                <a:cubicBezTo>
                  <a:pt x="12555" y="846"/>
                  <a:pt x="12571" y="699"/>
                  <a:pt x="12604" y="566"/>
                </a:cubicBezTo>
                <a:lnTo>
                  <a:pt x="12612" y="535"/>
                </a:lnTo>
                <a:lnTo>
                  <a:pt x="12712" y="538"/>
                </a:lnTo>
                <a:cubicBezTo>
                  <a:pt x="13457" y="559"/>
                  <a:pt x="14202" y="558"/>
                  <a:pt x="14947" y="525"/>
                </a:cubicBezTo>
                <a:lnTo>
                  <a:pt x="15039" y="521"/>
                </a:lnTo>
                <a:close/>
                <a:moveTo>
                  <a:pt x="10818" y="448"/>
                </a:moveTo>
                <a:lnTo>
                  <a:pt x="11035" y="462"/>
                </a:lnTo>
                <a:cubicBezTo>
                  <a:pt x="11268" y="476"/>
                  <a:pt x="11501" y="489"/>
                  <a:pt x="11734" y="500"/>
                </a:cubicBezTo>
                <a:lnTo>
                  <a:pt x="11837" y="505"/>
                </a:lnTo>
                <a:lnTo>
                  <a:pt x="11367" y="1315"/>
                </a:lnTo>
                <a:lnTo>
                  <a:pt x="12168" y="2984"/>
                </a:lnTo>
                <a:lnTo>
                  <a:pt x="12153" y="2983"/>
                </a:lnTo>
                <a:cubicBezTo>
                  <a:pt x="11780" y="2968"/>
                  <a:pt x="11408" y="2949"/>
                  <a:pt x="11035" y="2926"/>
                </a:cubicBezTo>
                <a:lnTo>
                  <a:pt x="11001" y="2924"/>
                </a:lnTo>
                <a:lnTo>
                  <a:pt x="10333" y="1295"/>
                </a:lnTo>
                <a:lnTo>
                  <a:pt x="10818" y="448"/>
                </a:lnTo>
                <a:close/>
                <a:moveTo>
                  <a:pt x="16734" y="379"/>
                </a:moveTo>
                <a:lnTo>
                  <a:pt x="16734" y="2843"/>
                </a:lnTo>
                <a:lnTo>
                  <a:pt x="16624" y="2856"/>
                </a:lnTo>
                <a:cubicBezTo>
                  <a:pt x="16344" y="2889"/>
                  <a:pt x="16065" y="2916"/>
                  <a:pt x="15785" y="2938"/>
                </a:cubicBezTo>
                <a:lnTo>
                  <a:pt x="15703" y="2944"/>
                </a:lnTo>
                <a:lnTo>
                  <a:pt x="15703" y="480"/>
                </a:lnTo>
                <a:lnTo>
                  <a:pt x="15785" y="474"/>
                </a:lnTo>
                <a:cubicBezTo>
                  <a:pt x="16065" y="452"/>
                  <a:pt x="16344" y="425"/>
                  <a:pt x="16624" y="392"/>
                </a:cubicBezTo>
                <a:lnTo>
                  <a:pt x="16734" y="379"/>
                </a:lnTo>
                <a:close/>
                <a:moveTo>
                  <a:pt x="9272" y="336"/>
                </a:moveTo>
                <a:lnTo>
                  <a:pt x="9359" y="343"/>
                </a:lnTo>
                <a:cubicBezTo>
                  <a:pt x="9638" y="364"/>
                  <a:pt x="9918" y="386"/>
                  <a:pt x="10197" y="406"/>
                </a:cubicBezTo>
                <a:lnTo>
                  <a:pt x="10303" y="413"/>
                </a:lnTo>
                <a:lnTo>
                  <a:pt x="10303" y="2877"/>
                </a:lnTo>
                <a:lnTo>
                  <a:pt x="10197" y="2870"/>
                </a:lnTo>
                <a:cubicBezTo>
                  <a:pt x="9918" y="2850"/>
                  <a:pt x="9638" y="2829"/>
                  <a:pt x="9359" y="2807"/>
                </a:cubicBezTo>
                <a:lnTo>
                  <a:pt x="9272" y="2800"/>
                </a:lnTo>
                <a:lnTo>
                  <a:pt x="9272" y="336"/>
                </a:lnTo>
                <a:close/>
                <a:moveTo>
                  <a:pt x="6402" y="116"/>
                </a:moveTo>
                <a:lnTo>
                  <a:pt x="6565" y="127"/>
                </a:lnTo>
                <a:cubicBezTo>
                  <a:pt x="7030" y="159"/>
                  <a:pt x="7496" y="194"/>
                  <a:pt x="7962" y="231"/>
                </a:cubicBezTo>
                <a:lnTo>
                  <a:pt x="8511" y="275"/>
                </a:lnTo>
                <a:lnTo>
                  <a:pt x="8511" y="276"/>
                </a:lnTo>
                <a:cubicBezTo>
                  <a:pt x="8600" y="472"/>
                  <a:pt x="8645" y="712"/>
                  <a:pt x="8645" y="995"/>
                </a:cubicBezTo>
                <a:lnTo>
                  <a:pt x="8645" y="2750"/>
                </a:lnTo>
                <a:lnTo>
                  <a:pt x="8521" y="2740"/>
                </a:lnTo>
                <a:cubicBezTo>
                  <a:pt x="8241" y="2718"/>
                  <a:pt x="7962" y="2695"/>
                  <a:pt x="7682" y="2673"/>
                </a:cubicBezTo>
                <a:lnTo>
                  <a:pt x="7614" y="2668"/>
                </a:lnTo>
                <a:lnTo>
                  <a:pt x="7614" y="995"/>
                </a:lnTo>
                <a:cubicBezTo>
                  <a:pt x="7614" y="784"/>
                  <a:pt x="7539" y="678"/>
                  <a:pt x="7388" y="678"/>
                </a:cubicBezTo>
                <a:cubicBezTo>
                  <a:pt x="7243" y="678"/>
                  <a:pt x="7170" y="784"/>
                  <a:pt x="7170" y="995"/>
                </a:cubicBezTo>
                <a:lnTo>
                  <a:pt x="7170" y="2634"/>
                </a:lnTo>
                <a:lnTo>
                  <a:pt x="7123" y="2631"/>
                </a:lnTo>
                <a:cubicBezTo>
                  <a:pt x="6844" y="2610"/>
                  <a:pt x="6565" y="2590"/>
                  <a:pt x="6285" y="2572"/>
                </a:cubicBezTo>
                <a:lnTo>
                  <a:pt x="6139" y="2563"/>
                </a:lnTo>
                <a:lnTo>
                  <a:pt x="6139" y="960"/>
                </a:lnTo>
                <a:cubicBezTo>
                  <a:pt x="6139" y="627"/>
                  <a:pt x="6223" y="350"/>
                  <a:pt x="6391" y="129"/>
                </a:cubicBezTo>
                <a:lnTo>
                  <a:pt x="6402" y="116"/>
                </a:lnTo>
                <a:close/>
                <a:moveTo>
                  <a:pt x="2212" y="22"/>
                </a:moveTo>
                <a:lnTo>
                  <a:pt x="2214" y="24"/>
                </a:lnTo>
                <a:cubicBezTo>
                  <a:pt x="2409" y="253"/>
                  <a:pt x="2506" y="577"/>
                  <a:pt x="2506" y="995"/>
                </a:cubicBezTo>
                <a:lnTo>
                  <a:pt x="2506" y="2476"/>
                </a:lnTo>
                <a:lnTo>
                  <a:pt x="2373" y="2480"/>
                </a:lnTo>
                <a:cubicBezTo>
                  <a:pt x="2094" y="2489"/>
                  <a:pt x="1814" y="2503"/>
                  <a:pt x="1535" y="2522"/>
                </a:cubicBezTo>
                <a:lnTo>
                  <a:pt x="1475" y="2526"/>
                </a:lnTo>
                <a:lnTo>
                  <a:pt x="1475" y="995"/>
                </a:lnTo>
                <a:cubicBezTo>
                  <a:pt x="1475" y="784"/>
                  <a:pt x="1400" y="678"/>
                  <a:pt x="1249" y="678"/>
                </a:cubicBezTo>
                <a:cubicBezTo>
                  <a:pt x="1104" y="678"/>
                  <a:pt x="1031" y="784"/>
                  <a:pt x="1031" y="995"/>
                </a:cubicBezTo>
                <a:lnTo>
                  <a:pt x="1031" y="2561"/>
                </a:lnTo>
                <a:lnTo>
                  <a:pt x="976" y="2566"/>
                </a:lnTo>
                <a:cubicBezTo>
                  <a:pt x="697" y="2591"/>
                  <a:pt x="417" y="2622"/>
                  <a:pt x="138" y="2659"/>
                </a:cubicBezTo>
                <a:lnTo>
                  <a:pt x="0" y="2677"/>
                </a:lnTo>
                <a:lnTo>
                  <a:pt x="0" y="960"/>
                </a:lnTo>
                <a:cubicBezTo>
                  <a:pt x="0" y="664"/>
                  <a:pt x="66" y="412"/>
                  <a:pt x="199" y="205"/>
                </a:cubicBezTo>
                <a:lnTo>
                  <a:pt x="213" y="185"/>
                </a:lnTo>
                <a:lnTo>
                  <a:pt x="278" y="177"/>
                </a:lnTo>
                <a:cubicBezTo>
                  <a:pt x="883" y="101"/>
                  <a:pt x="1488" y="53"/>
                  <a:pt x="2094" y="27"/>
                </a:cubicBezTo>
                <a:lnTo>
                  <a:pt x="2212" y="22"/>
                </a:lnTo>
                <a:close/>
                <a:moveTo>
                  <a:pt x="3423" y="0"/>
                </a:moveTo>
                <a:lnTo>
                  <a:pt x="3491" y="0"/>
                </a:lnTo>
                <a:cubicBezTo>
                  <a:pt x="4096" y="3"/>
                  <a:pt x="4702" y="22"/>
                  <a:pt x="5307" y="51"/>
                </a:cubicBezTo>
                <a:lnTo>
                  <a:pt x="5355" y="54"/>
                </a:lnTo>
                <a:lnTo>
                  <a:pt x="5362" y="64"/>
                </a:lnTo>
                <a:cubicBezTo>
                  <a:pt x="5511" y="277"/>
                  <a:pt x="5586" y="579"/>
                  <a:pt x="5586" y="970"/>
                </a:cubicBezTo>
                <a:lnTo>
                  <a:pt x="5586" y="2530"/>
                </a:lnTo>
                <a:lnTo>
                  <a:pt x="5447" y="2523"/>
                </a:lnTo>
                <a:cubicBezTo>
                  <a:pt x="5167" y="2508"/>
                  <a:pt x="4888" y="2496"/>
                  <a:pt x="4609" y="2486"/>
                </a:cubicBezTo>
                <a:lnTo>
                  <a:pt x="4555" y="2485"/>
                </a:lnTo>
                <a:lnTo>
                  <a:pt x="4555" y="1038"/>
                </a:lnTo>
                <a:cubicBezTo>
                  <a:pt x="4555" y="903"/>
                  <a:pt x="4539" y="809"/>
                  <a:pt x="4507" y="757"/>
                </a:cubicBezTo>
                <a:cubicBezTo>
                  <a:pt x="4475" y="704"/>
                  <a:pt x="4417" y="678"/>
                  <a:pt x="4334" y="678"/>
                </a:cubicBezTo>
                <a:cubicBezTo>
                  <a:pt x="4173" y="678"/>
                  <a:pt x="4093" y="798"/>
                  <a:pt x="4093" y="1038"/>
                </a:cubicBezTo>
                <a:lnTo>
                  <a:pt x="4093" y="1470"/>
                </a:lnTo>
                <a:lnTo>
                  <a:pt x="4390" y="1470"/>
                </a:lnTo>
                <a:lnTo>
                  <a:pt x="4390" y="2384"/>
                </a:lnTo>
                <a:lnTo>
                  <a:pt x="4093" y="2384"/>
                </a:lnTo>
                <a:lnTo>
                  <a:pt x="4093" y="2472"/>
                </a:lnTo>
                <a:lnTo>
                  <a:pt x="4050" y="2471"/>
                </a:lnTo>
                <a:cubicBezTo>
                  <a:pt x="3724" y="2465"/>
                  <a:pt x="3398" y="2462"/>
                  <a:pt x="3072" y="2465"/>
                </a:cubicBezTo>
                <a:lnTo>
                  <a:pt x="3062" y="2465"/>
                </a:lnTo>
                <a:lnTo>
                  <a:pt x="3062" y="1005"/>
                </a:lnTo>
                <a:cubicBezTo>
                  <a:pt x="3062" y="579"/>
                  <a:pt x="3178" y="247"/>
                  <a:pt x="3411" y="11"/>
                </a:cubicBezTo>
                <a:lnTo>
                  <a:pt x="3423" y="0"/>
                </a:lnTo>
                <a:close/>
              </a:path>
            </a:pathLst>
          </a:custGeom>
          <a:solidFill>
            <a:srgbClr val="B78EAE"/>
          </a:solidFill>
          <a:effectLst/>
        </p:spPr>
        <p:txBody>
          <a:bodyPr wrap="square" rtlCol="0">
            <a:noAutofit/>
          </a:bodyPr>
          <a:lstStyle/>
          <a:p>
            <a:endParaRPr lang="en-US" altLang="zh-CN" sz="26000">
              <a:solidFill>
                <a:srgbClr val="C65844"/>
              </a:solidFill>
              <a:latin typeface="Bauhaus 93" panose="04030905020B02020C02" charset="0"/>
              <a:cs typeface="Bauhaus 93" panose="04030905020B02020C02" charset="0"/>
            </a:endParaRPr>
          </a:p>
        </p:txBody>
      </p:sp>
    </p:spTree>
    <p:custDataLst>
      <p:tags r:id="rId1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07255" y="233680"/>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代码分析</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pic>
        <p:nvPicPr>
          <p:cNvPr id="100" name="图片 99" descr="C:/Users/86191/Pictures/Screenshots/屏幕截图 2025-04-12 181047.png屏幕截图 2025-04-12 181047"/>
          <p:cNvPicPr/>
          <p:nvPr>
            <p:custDataLst>
              <p:tags r:id="rId1"/>
            </p:custDataLst>
          </p:nvPr>
        </p:nvPicPr>
        <p:blipFill>
          <a:blip r:embed="rId2"/>
          <a:srcRect t="929" b="929"/>
          <a:stretch>
            <a:fillRect/>
          </a:stretch>
        </p:blipFill>
        <p:spPr>
          <a:xfrm>
            <a:off x="3546475" y="1466850"/>
            <a:ext cx="2493645" cy="4596765"/>
          </a:xfrm>
          <a:prstGeom prst="rect">
            <a:avLst/>
          </a:prstGeom>
          <a:effectLst>
            <a:outerShdw blurRad="63500" sx="102000" sy="102000" algn="ctr" rotWithShape="0">
              <a:prstClr val="black">
                <a:alpha val="40000"/>
              </a:prstClr>
            </a:outerShdw>
          </a:effectLst>
        </p:spPr>
      </p:pic>
      <p:pic>
        <p:nvPicPr>
          <p:cNvPr id="104" name="图片 103" descr="C:/Users/86191/Pictures/Screenshots/屏幕截图 2025-04-12 181449.png屏幕截图 2025-04-12 181449"/>
          <p:cNvPicPr/>
          <p:nvPr>
            <p:custDataLst>
              <p:tags r:id="rId3"/>
            </p:custDataLst>
          </p:nvPr>
        </p:nvPicPr>
        <p:blipFill>
          <a:blip r:embed="rId4">
            <a:lum bright="6000" contrast="-6000"/>
          </a:blip>
          <a:srcRect t="179" b="179"/>
          <a:stretch>
            <a:fillRect/>
          </a:stretch>
        </p:blipFill>
        <p:spPr>
          <a:xfrm>
            <a:off x="6161405" y="1466850"/>
            <a:ext cx="2476500" cy="4596765"/>
          </a:xfrm>
          <a:prstGeom prst="rect">
            <a:avLst/>
          </a:prstGeom>
          <a:noFill/>
          <a:ln w="9525">
            <a:noFill/>
          </a:ln>
          <a:effectLst>
            <a:outerShdw blurRad="63500" sx="102000" sy="102000" algn="ctr" rotWithShape="0">
              <a:prstClr val="black">
                <a:alpha val="40000"/>
              </a:prstClr>
            </a:outerShdw>
          </a:effectLst>
        </p:spPr>
      </p:pic>
      <p:grpSp>
        <p:nvGrpSpPr>
          <p:cNvPr id="29" name="组合 28"/>
          <p:cNvGrpSpPr/>
          <p:nvPr>
            <p:custDataLst>
              <p:tags r:id="rId5"/>
            </p:custDataLst>
          </p:nvPr>
        </p:nvGrpSpPr>
        <p:grpSpPr>
          <a:xfrm>
            <a:off x="340995" y="3865880"/>
            <a:ext cx="3205091" cy="1706880"/>
            <a:chOff x="511" y="5845"/>
            <a:chExt cx="4483" cy="2688"/>
          </a:xfrm>
        </p:grpSpPr>
        <p:sp>
          <p:nvSpPr>
            <p:cNvPr id="22" name="任意多边形 21"/>
            <p:cNvSpPr/>
            <p:nvPr>
              <p:custDataLst>
                <p:tags r:id="rId6"/>
              </p:custDataLst>
            </p:nvPr>
          </p:nvSpPr>
          <p:spPr>
            <a:xfrm rot="5400000">
              <a:off x="1477" y="5016"/>
              <a:ext cx="2551" cy="4483"/>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551" h="5616">
                  <a:moveTo>
                    <a:pt x="900" y="511"/>
                  </a:moveTo>
                  <a:lnTo>
                    <a:pt x="1276" y="0"/>
                  </a:lnTo>
                  <a:lnTo>
                    <a:pt x="1652" y="511"/>
                  </a:lnTo>
                  <a:lnTo>
                    <a:pt x="900" y="511"/>
                  </a:lnTo>
                  <a:close/>
                  <a:moveTo>
                    <a:pt x="0" y="5616"/>
                  </a:moveTo>
                  <a:lnTo>
                    <a:pt x="0" y="513"/>
                  </a:lnTo>
                  <a:lnTo>
                    <a:pt x="2551" y="513"/>
                  </a:lnTo>
                  <a:lnTo>
                    <a:pt x="2551" y="5616"/>
                  </a:lnTo>
                  <a:lnTo>
                    <a:pt x="0" y="5616"/>
                  </a:lnTo>
                  <a:close/>
                </a:path>
              </a:pathLst>
            </a:custGeom>
            <a:solidFill>
              <a:srgbClr val="B78EA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1111"/>
            <p:cNvSpPr txBox="1"/>
            <p:nvPr>
              <p:custDataLst>
                <p:tags r:id="rId7"/>
              </p:custDataLst>
            </p:nvPr>
          </p:nvSpPr>
          <p:spPr>
            <a:xfrm>
              <a:off x="556" y="5845"/>
              <a:ext cx="3737" cy="2688"/>
            </a:xfrm>
            <a:prstGeom prst="rect">
              <a:avLst/>
            </a:prstGeom>
            <a:noFill/>
            <a:ln w="9525">
              <a:noFill/>
            </a:ln>
          </p:spPr>
          <p:txBody>
            <a:bodyPr wrap="square" anchor="t">
              <a:spAutoFit/>
            </a:bodyPr>
            <a:lstStyle/>
            <a:p>
              <a:pPr algn="just">
                <a:lnSpc>
                  <a:spcPct val="150000"/>
                </a:lnSpc>
              </a:pPr>
              <a:r>
                <a:rPr lang="zh-CN" altLang="en-US" sz="1400" b="1" dirty="0">
                  <a:solidFill>
                    <a:srgbClr val="262626"/>
                  </a:solidFill>
                  <a:latin typeface="华文中宋" panose="02010600040101010101" charset="-122"/>
                  <a:ea typeface="华文中宋" panose="02010600040101010101" charset="-122"/>
                  <a:sym typeface="微软雅黑" panose="020B0503020204020204" pitchFamily="34" charset="-122"/>
                </a:rPr>
                <a:t>嵌入随机序列</a:t>
              </a:r>
              <a:r>
                <a:rPr lang="zh-CN" altLang="en-US" sz="1400" b="1"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将原始音频数据</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oa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复制到变量</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M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中，通过循环将随机二进制序列</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d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逐位嵌入到</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M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中从</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dataStart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位置开始的每个字节的最低有效位。</a:t>
              </a:r>
              <a:endPar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30" name="组合 29"/>
          <p:cNvGrpSpPr/>
          <p:nvPr>
            <p:custDataLst>
              <p:tags r:id="rId8"/>
            </p:custDataLst>
          </p:nvPr>
        </p:nvGrpSpPr>
        <p:grpSpPr>
          <a:xfrm>
            <a:off x="275126" y="1762125"/>
            <a:ext cx="3270714" cy="1753235"/>
            <a:chOff x="398" y="5890"/>
            <a:chExt cx="5611" cy="2761"/>
          </a:xfrm>
        </p:grpSpPr>
        <p:sp>
          <p:nvSpPr>
            <p:cNvPr id="31" name="任意多边形 30"/>
            <p:cNvSpPr/>
            <p:nvPr>
              <p:custDataLst>
                <p:tags r:id="rId9"/>
              </p:custDataLst>
            </p:nvPr>
          </p:nvSpPr>
          <p:spPr>
            <a:xfrm rot="5400000">
              <a:off x="1984" y="4508"/>
              <a:ext cx="2551" cy="5498"/>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551" h="5616">
                  <a:moveTo>
                    <a:pt x="900" y="511"/>
                  </a:moveTo>
                  <a:lnTo>
                    <a:pt x="1276" y="0"/>
                  </a:lnTo>
                  <a:lnTo>
                    <a:pt x="1652" y="511"/>
                  </a:lnTo>
                  <a:lnTo>
                    <a:pt x="900" y="511"/>
                  </a:lnTo>
                  <a:close/>
                  <a:moveTo>
                    <a:pt x="0" y="5616"/>
                  </a:moveTo>
                  <a:lnTo>
                    <a:pt x="0" y="513"/>
                  </a:lnTo>
                  <a:lnTo>
                    <a:pt x="2551" y="513"/>
                  </a:lnTo>
                  <a:lnTo>
                    <a:pt x="2551" y="5616"/>
                  </a:lnTo>
                  <a:lnTo>
                    <a:pt x="0" y="5616"/>
                  </a:lnTo>
                  <a:close/>
                </a:path>
              </a:pathLst>
            </a:custGeom>
            <a:solidFill>
              <a:srgbClr val="A2508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1111"/>
            <p:cNvSpPr txBox="1"/>
            <p:nvPr>
              <p:custDataLst>
                <p:tags r:id="rId10"/>
              </p:custDataLst>
            </p:nvPr>
          </p:nvSpPr>
          <p:spPr>
            <a:xfrm>
              <a:off x="398" y="5890"/>
              <a:ext cx="5155" cy="2761"/>
            </a:xfrm>
            <a:prstGeom prst="rect">
              <a:avLst/>
            </a:prstGeom>
            <a:noFill/>
            <a:ln w="9525">
              <a:noFill/>
            </a:ln>
          </p:spPr>
          <p:txBody>
            <a:bodyPr wrap="square" anchor="t">
              <a:spAutoFit/>
            </a:bodyPr>
            <a:lstStyle/>
            <a:p>
              <a:pPr algn="just">
                <a:lnSpc>
                  <a:spcPct val="150000"/>
                </a:lnSpc>
              </a:pPr>
              <a:r>
                <a:rPr lang="zh-CN" altLang="en-US" sz="1200" b="1" dirty="0">
                  <a:solidFill>
                    <a:srgbClr val="262626"/>
                  </a:solidFill>
                  <a:latin typeface="华文中宋" panose="02010600040101010101" charset="-122"/>
                  <a:ea typeface="华文中宋" panose="02010600040101010101" charset="-122"/>
                  <a:sym typeface="微软雅黑" panose="020B0503020204020204" pitchFamily="34" charset="-122"/>
                </a:rPr>
                <a:t>生成随机序列</a:t>
              </a:r>
              <a:r>
                <a:rPr lang="zh-CN" altLang="en-US" sz="1000" b="1"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计算</a:t>
              </a:r>
              <a:r>
                <a:rPr lang="en-US" altLang="zh-CN"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 data </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块中实际数据部分的起始位置</a:t>
              </a:r>
              <a:r>
                <a:rPr lang="en-US" altLang="zh-CN"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 dataStart</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然后计算从</a:t>
              </a:r>
              <a:r>
                <a:rPr lang="en-US" altLang="zh-CN"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 data </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块数据起始位置到音频数据末尾的长度，作为可嵌入数据的长度</a:t>
              </a:r>
              <a:r>
                <a:rPr lang="en-US" altLang="zh-CN"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 n</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，并使用</a:t>
              </a:r>
              <a:r>
                <a:rPr lang="en-US" altLang="zh-CN"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 randsrc </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函数生成一个长度为</a:t>
              </a:r>
              <a:r>
                <a:rPr lang="en-US" altLang="zh-CN"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 n </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的随机二进制序列</a:t>
              </a:r>
              <a:r>
                <a:rPr lang="en-US" altLang="zh-CN"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 d</a:t>
              </a:r>
              <a:r>
                <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endParaRPr lang="zh-CN" altLang="en-US" sz="12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35" name="组合 34"/>
          <p:cNvGrpSpPr/>
          <p:nvPr>
            <p:custDataLst>
              <p:tags r:id="rId11"/>
            </p:custDataLst>
          </p:nvPr>
        </p:nvGrpSpPr>
        <p:grpSpPr>
          <a:xfrm>
            <a:off x="8666480" y="4013200"/>
            <a:ext cx="3194603" cy="1783080"/>
            <a:chOff x="389" y="5946"/>
            <a:chExt cx="5198" cy="2808"/>
          </a:xfrm>
        </p:grpSpPr>
        <p:sp>
          <p:nvSpPr>
            <p:cNvPr id="36" name="任意多边形 35"/>
            <p:cNvSpPr/>
            <p:nvPr>
              <p:custDataLst>
                <p:tags r:id="rId12"/>
              </p:custDataLst>
            </p:nvPr>
          </p:nvSpPr>
          <p:spPr>
            <a:xfrm rot="16200000" flipH="1">
              <a:off x="1710" y="4660"/>
              <a:ext cx="2551" cy="5194"/>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551" h="5616">
                  <a:moveTo>
                    <a:pt x="900" y="511"/>
                  </a:moveTo>
                  <a:lnTo>
                    <a:pt x="1276" y="0"/>
                  </a:lnTo>
                  <a:lnTo>
                    <a:pt x="1652" y="511"/>
                  </a:lnTo>
                  <a:lnTo>
                    <a:pt x="900" y="511"/>
                  </a:lnTo>
                  <a:close/>
                  <a:moveTo>
                    <a:pt x="0" y="5616"/>
                  </a:moveTo>
                  <a:lnTo>
                    <a:pt x="0" y="513"/>
                  </a:lnTo>
                  <a:lnTo>
                    <a:pt x="2551" y="513"/>
                  </a:lnTo>
                  <a:lnTo>
                    <a:pt x="2551" y="5616"/>
                  </a:lnTo>
                  <a:lnTo>
                    <a:pt x="0" y="5616"/>
                  </a:lnTo>
                  <a:close/>
                </a:path>
              </a:pathLst>
            </a:custGeom>
            <a:solidFill>
              <a:srgbClr val="AD459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9" name="1111"/>
            <p:cNvSpPr txBox="1"/>
            <p:nvPr>
              <p:custDataLst>
                <p:tags r:id="rId13"/>
              </p:custDataLst>
            </p:nvPr>
          </p:nvSpPr>
          <p:spPr>
            <a:xfrm>
              <a:off x="877" y="5946"/>
              <a:ext cx="4710" cy="2808"/>
            </a:xfrm>
            <a:prstGeom prst="rect">
              <a:avLst/>
            </a:prstGeom>
            <a:noFill/>
            <a:ln w="9525">
              <a:noFill/>
            </a:ln>
          </p:spPr>
          <p:txBody>
            <a:bodyPr wrap="square" anchor="t">
              <a:noAutofit/>
            </a:bodyPr>
            <a:lstStyle/>
            <a:p>
              <a:pPr algn="just">
                <a:lnSpc>
                  <a:spcPct val="150000"/>
                </a:lnSpc>
              </a:pPr>
              <a:r>
                <a:rPr lang="zh-CN" altLang="en-US" sz="1400" b="1" dirty="0">
                  <a:solidFill>
                    <a:srgbClr val="262626"/>
                  </a:solidFill>
                  <a:latin typeface="华文中宋" panose="02010600040101010101" charset="-122"/>
                  <a:ea typeface="华文中宋" panose="02010600040101010101" charset="-122"/>
                  <a:sym typeface="微软雅黑" panose="020B0503020204020204" pitchFamily="34" charset="-122"/>
                </a:rPr>
                <a:t>绘制波形图对比：</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分别读取原</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orign.wav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和</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secret1.wav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的音频数据和采样率，分别绘制原始音频和隐藏信息后的音频的整体波形图以及局部细节波形图</a:t>
              </a:r>
              <a:endPar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40" name="组合 39"/>
          <p:cNvGrpSpPr/>
          <p:nvPr>
            <p:custDataLst>
              <p:tags r:id="rId14"/>
            </p:custDataLst>
          </p:nvPr>
        </p:nvGrpSpPr>
        <p:grpSpPr>
          <a:xfrm>
            <a:off x="8666480" y="1820545"/>
            <a:ext cx="3194685" cy="1619885"/>
            <a:chOff x="387" y="5982"/>
            <a:chExt cx="5196" cy="2551"/>
          </a:xfrm>
        </p:grpSpPr>
        <p:sp>
          <p:nvSpPr>
            <p:cNvPr id="41" name="任意多边形 40"/>
            <p:cNvSpPr/>
            <p:nvPr>
              <p:custDataLst>
                <p:tags r:id="rId15"/>
              </p:custDataLst>
            </p:nvPr>
          </p:nvSpPr>
          <p:spPr>
            <a:xfrm rot="16200000" flipH="1">
              <a:off x="1709" y="4659"/>
              <a:ext cx="2551" cy="5196"/>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551" h="5616">
                  <a:moveTo>
                    <a:pt x="900" y="511"/>
                  </a:moveTo>
                  <a:lnTo>
                    <a:pt x="1276" y="0"/>
                  </a:lnTo>
                  <a:lnTo>
                    <a:pt x="1652" y="511"/>
                  </a:lnTo>
                  <a:lnTo>
                    <a:pt x="900" y="511"/>
                  </a:lnTo>
                  <a:close/>
                  <a:moveTo>
                    <a:pt x="0" y="5616"/>
                  </a:moveTo>
                  <a:lnTo>
                    <a:pt x="0" y="513"/>
                  </a:lnTo>
                  <a:lnTo>
                    <a:pt x="2551" y="513"/>
                  </a:lnTo>
                  <a:lnTo>
                    <a:pt x="2551" y="5616"/>
                  </a:lnTo>
                  <a:lnTo>
                    <a:pt x="0" y="5616"/>
                  </a:lnTo>
                  <a:close/>
                </a:path>
              </a:pathLst>
            </a:custGeom>
            <a:solidFill>
              <a:srgbClr val="B78EA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4" name="1111"/>
            <p:cNvSpPr txBox="1"/>
            <p:nvPr>
              <p:custDataLst>
                <p:tags r:id="rId16"/>
              </p:custDataLst>
            </p:nvPr>
          </p:nvSpPr>
          <p:spPr>
            <a:xfrm>
              <a:off x="871" y="6077"/>
              <a:ext cx="4711" cy="2179"/>
            </a:xfrm>
            <a:prstGeom prst="rect">
              <a:avLst/>
            </a:prstGeom>
            <a:noFill/>
            <a:ln w="9525">
              <a:noFill/>
            </a:ln>
          </p:spPr>
          <p:txBody>
            <a:bodyPr wrap="square" anchor="t">
              <a:spAutoFit/>
            </a:bodyPr>
            <a:lstStyle/>
            <a:p>
              <a:pPr algn="just">
                <a:lnSpc>
                  <a:spcPct val="150000"/>
                </a:lnSpc>
              </a:pPr>
              <a:r>
                <a:rPr lang="zh-CN" altLang="en-US" sz="1400" b="1" dirty="0">
                  <a:solidFill>
                    <a:srgbClr val="262626"/>
                  </a:solidFill>
                  <a:latin typeface="华文中宋" panose="02010600040101010101" charset="-122"/>
                  <a:ea typeface="华文中宋" panose="02010600040101010101" charset="-122"/>
                  <a:sym typeface="微软雅黑" panose="020B0503020204020204" pitchFamily="34" charset="-122"/>
                </a:rPr>
                <a:t>嵌入随机序列</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：通过循环将随机二进制序列</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d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逐位嵌入到</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M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中从</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dataStart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位置开始的每个字节的最低有效位并</a:t>
              </a:r>
              <a:r>
                <a:rPr lang="en-US" altLang="zh-CN"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 </a:t>
              </a:r>
              <a:r>
                <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rPr>
                <a:t>更新文件头信息</a:t>
              </a:r>
              <a:endParaRPr lang="zh-CN" altLang="en-US" sz="14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spTree>
    <p:custDataLst>
      <p:tags r:id="rId17"/>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07255" y="233680"/>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uFillTx/>
                <a:latin typeface="微软雅黑" panose="020B0503020204020204" pitchFamily="34" charset="-122"/>
                <a:ea typeface="微软雅黑" panose="020B0503020204020204" pitchFamily="34" charset="-122"/>
                <a:sym typeface="+mn-ea"/>
              </a:rPr>
              <a:t>实验结果</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pic>
        <p:nvPicPr>
          <p:cNvPr id="9" name="图片 8"/>
          <p:cNvPicPr/>
          <p:nvPr/>
        </p:nvPicPr>
        <p:blipFill>
          <a:blip r:embed="rId1"/>
          <a:srcRect t="1476"/>
          <a:stretch>
            <a:fillRect/>
          </a:stretch>
        </p:blipFill>
        <p:spPr>
          <a:xfrm>
            <a:off x="450850" y="1107440"/>
            <a:ext cx="5726430" cy="4128135"/>
          </a:xfrm>
          <a:prstGeom prst="rect">
            <a:avLst/>
          </a:prstGeom>
        </p:spPr>
      </p:pic>
      <p:pic>
        <p:nvPicPr>
          <p:cNvPr id="10" name="图片 9"/>
          <p:cNvPicPr/>
          <p:nvPr/>
        </p:nvPicPr>
        <p:blipFill>
          <a:blip r:embed="rId2"/>
          <a:srcRect l="1059"/>
          <a:stretch>
            <a:fillRect/>
          </a:stretch>
        </p:blipFill>
        <p:spPr>
          <a:xfrm>
            <a:off x="6177280" y="1107440"/>
            <a:ext cx="5518150" cy="4128135"/>
          </a:xfrm>
          <a:prstGeom prst="rect">
            <a:avLst/>
          </a:prstGeom>
        </p:spPr>
      </p:pic>
      <p:grpSp>
        <p:nvGrpSpPr>
          <p:cNvPr id="26" name="组合 25"/>
          <p:cNvGrpSpPr/>
          <p:nvPr>
            <p:custDataLst>
              <p:tags r:id="rId3"/>
            </p:custDataLst>
          </p:nvPr>
        </p:nvGrpSpPr>
        <p:grpSpPr>
          <a:xfrm>
            <a:off x="628650" y="5492115"/>
            <a:ext cx="10943590" cy="829945"/>
            <a:chOff x="1478" y="3936"/>
            <a:chExt cx="7242" cy="1307"/>
          </a:xfrm>
        </p:grpSpPr>
        <p:sp>
          <p:nvSpPr>
            <p:cNvPr id="27" name="333333"/>
            <p:cNvSpPr txBox="1"/>
            <p:nvPr>
              <p:custDataLst>
                <p:tags r:id="rId4"/>
              </p:custDataLst>
            </p:nvPr>
          </p:nvSpPr>
          <p:spPr>
            <a:xfrm>
              <a:off x="4177" y="3936"/>
              <a:ext cx="1811" cy="580"/>
            </a:xfrm>
            <a:prstGeom prst="rect">
              <a:avLst/>
            </a:prstGeom>
            <a:noFill/>
            <a:ln w="9525">
              <a:noFill/>
            </a:ln>
          </p:spPr>
          <p:txBody>
            <a:bodyPr wrap="square" anchor="t">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实验结果</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1111"/>
            <p:cNvSpPr txBox="1"/>
            <p:nvPr>
              <p:custDataLst>
                <p:tags r:id="rId5"/>
              </p:custDataLst>
            </p:nvPr>
          </p:nvSpPr>
          <p:spPr>
            <a:xfrm>
              <a:off x="1478" y="4518"/>
              <a:ext cx="7242" cy="725"/>
            </a:xfrm>
            <a:prstGeom prst="rect">
              <a:avLst/>
            </a:prstGeom>
            <a:noFill/>
            <a:ln w="9525">
              <a:noFill/>
            </a:ln>
          </p:spPr>
          <p:txBody>
            <a:bodyPr wrap="square" anchor="t">
              <a:spAutoFit/>
            </a:bodyPr>
            <a:lstStyle/>
            <a:p>
              <a:pPr algn="ctr">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隐藏秘密信息后的音频图像与之前的差异不明显，放大局部（</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0-0.6s</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）之后还是可以发现显著差异</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八角星 1"/>
          <p:cNvSpPr/>
          <p:nvPr/>
        </p:nvSpPr>
        <p:spPr>
          <a:xfrm>
            <a:off x="4286885" y="2373630"/>
            <a:ext cx="2129790" cy="2129790"/>
          </a:xfrm>
          <a:prstGeom prst="star8">
            <a:avLst>
              <a:gd name="adj" fmla="val 38189"/>
            </a:avLst>
          </a:prstGeom>
          <a:solidFill>
            <a:srgbClr val="701E5E"/>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tIns="288290" rIns="36195" bIns="0" rtlCol="0" anchor="ctr" anchorCtr="1"/>
          <a:lstStyle/>
          <a:p>
            <a:pPr algn="ctr" fontAlgn="auto">
              <a:lnSpc>
                <a:spcPts val="4000"/>
              </a:lnSpc>
            </a:pPr>
            <a:r>
              <a:rPr lang="en-US" altLang="zh-CN" sz="4000" b="1" dirty="0">
                <a:latin typeface="微软雅黑" panose="020B0503020204020204" pitchFamily="34" charset="-122"/>
                <a:ea typeface="微软雅黑" panose="020B0503020204020204" pitchFamily="34" charset="-122"/>
              </a:rPr>
              <a:t>PART</a:t>
            </a:r>
            <a:endParaRPr lang="en-US" altLang="zh-CN" sz="4000" b="1" dirty="0">
              <a:latin typeface="微软雅黑" panose="020B0503020204020204" pitchFamily="34" charset="-122"/>
              <a:ea typeface="微软雅黑" panose="020B0503020204020204" pitchFamily="34" charset="-122"/>
            </a:endParaRPr>
          </a:p>
          <a:p>
            <a:pPr algn="ctr" fontAlgn="auto">
              <a:lnSpc>
                <a:spcPts val="4000"/>
              </a:lnSpc>
            </a:pPr>
            <a:r>
              <a:rPr lang="en-US" altLang="zh-CN" sz="4000" b="1" dirty="0">
                <a:latin typeface="微软雅黑" panose="020B0503020204020204" pitchFamily="34" charset="-122"/>
                <a:ea typeface="微软雅黑" panose="020B0503020204020204" pitchFamily="34" charset="-122"/>
              </a:rPr>
              <a:t>04</a:t>
            </a:r>
            <a:endParaRPr lang="en-US" altLang="zh-CN" sz="4000" b="1" dirty="0">
              <a:latin typeface="微软雅黑" panose="020B0503020204020204" pitchFamily="34" charset="-122"/>
              <a:ea typeface="微软雅黑" panose="020B0503020204020204" pitchFamily="34" charset="-122"/>
            </a:endParaRPr>
          </a:p>
        </p:txBody>
      </p:sp>
      <p:sp>
        <p:nvSpPr>
          <p:cNvPr id="9240" name="文本框 47"/>
          <p:cNvSpPr txBox="1"/>
          <p:nvPr/>
        </p:nvSpPr>
        <p:spPr>
          <a:xfrm>
            <a:off x="6194108" y="2931160"/>
            <a:ext cx="5762625" cy="1014730"/>
          </a:xfrm>
          <a:prstGeom prst="rect">
            <a:avLst/>
          </a:prstGeom>
          <a:noFill/>
          <a:ln w="9525">
            <a:noFill/>
          </a:ln>
        </p:spPr>
        <p:txBody>
          <a:bodyPr vert="horz" wrap="square" anchor="t">
            <a:spAutoFit/>
          </a:bodyPr>
          <a:lstStyle/>
          <a:p>
            <a:pPr lvl="0" algn="ctr">
              <a:buClrTx/>
              <a:buSzTx/>
              <a:buFontTx/>
            </a:pPr>
            <a:r>
              <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rPr>
              <a:t>秘密信息提取</a:t>
            </a:r>
            <a:endParaRPr lang="zh-CN" altLang="en-US" sz="6000" b="1" dirty="0">
              <a:solidFill>
                <a:srgbClr val="701E5E"/>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07255" y="233680"/>
            <a:ext cx="2772410" cy="651059"/>
          </a:xfrm>
          <a:prstGeom prst="roundRect">
            <a:avLst>
              <a:gd name="adj" fmla="val 49999"/>
            </a:avLst>
          </a:prstGeom>
          <a:solidFill>
            <a:srgbClr val="701E5E"/>
          </a:solidFill>
        </p:spPr>
        <p:txBody>
          <a:bodyPr wrap="square" rtlCol="0" anchor="t">
            <a:spAutoFit/>
          </a:bodyPr>
          <a:lstStyle/>
          <a:p>
            <a:pPr lvl="0" algn="ctr">
              <a:buClrTx/>
              <a:buSzTx/>
              <a:buFontTx/>
            </a:pPr>
            <a:r>
              <a:rPr lang="zh-CN" altLang="en-US" sz="2400" b="1" spc="300" dirty="0">
                <a:solidFill>
                  <a:schemeClr val="bg1"/>
                </a:solidFill>
                <a:latin typeface="微软雅黑" panose="020B0503020204020204" pitchFamily="34" charset="-122"/>
                <a:ea typeface="微软雅黑" panose="020B0503020204020204" pitchFamily="34" charset="-122"/>
                <a:sym typeface="+mn-ea"/>
              </a:rPr>
              <a:t>秘密信息提取</a:t>
            </a:r>
            <a:endParaRPr lang="zh-CN" altLang="en-US" sz="2400" b="1" spc="300" dirty="0">
              <a:solidFill>
                <a:schemeClr val="bg1"/>
              </a:solidFill>
              <a:uFillTx/>
              <a:latin typeface="微软雅黑" panose="020B0503020204020204" pitchFamily="34" charset="-122"/>
              <a:ea typeface="微软雅黑" panose="020B0503020204020204" pitchFamily="34" charset="-122"/>
              <a:sym typeface="+mn-ea"/>
            </a:endParaRPr>
          </a:p>
        </p:txBody>
      </p:sp>
      <p:grpSp>
        <p:nvGrpSpPr>
          <p:cNvPr id="29" name="组合 28"/>
          <p:cNvGrpSpPr/>
          <p:nvPr/>
        </p:nvGrpSpPr>
        <p:grpSpPr>
          <a:xfrm>
            <a:off x="364014" y="2773262"/>
            <a:ext cx="3566160" cy="1841005"/>
            <a:chOff x="511" y="5981"/>
            <a:chExt cx="5616" cy="2551"/>
          </a:xfrm>
        </p:grpSpPr>
        <p:sp>
          <p:nvSpPr>
            <p:cNvPr id="22" name="任意多边形 21"/>
            <p:cNvSpPr/>
            <p:nvPr/>
          </p:nvSpPr>
          <p:spPr>
            <a:xfrm rot="5400000">
              <a:off x="2043" y="4449"/>
              <a:ext cx="2551" cy="5616"/>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551" h="5616">
                  <a:moveTo>
                    <a:pt x="900" y="511"/>
                  </a:moveTo>
                  <a:lnTo>
                    <a:pt x="1276" y="0"/>
                  </a:lnTo>
                  <a:lnTo>
                    <a:pt x="1652" y="511"/>
                  </a:lnTo>
                  <a:lnTo>
                    <a:pt x="900" y="511"/>
                  </a:lnTo>
                  <a:close/>
                  <a:moveTo>
                    <a:pt x="0" y="5616"/>
                  </a:moveTo>
                  <a:lnTo>
                    <a:pt x="0" y="513"/>
                  </a:lnTo>
                  <a:lnTo>
                    <a:pt x="2551" y="513"/>
                  </a:lnTo>
                  <a:lnTo>
                    <a:pt x="2551" y="5616"/>
                  </a:lnTo>
                  <a:lnTo>
                    <a:pt x="0" y="5616"/>
                  </a:lnTo>
                  <a:close/>
                </a:path>
              </a:pathLst>
            </a:custGeom>
            <a:solidFill>
              <a:srgbClr val="B78EA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333333"/>
            <p:cNvSpPr txBox="1"/>
            <p:nvPr/>
          </p:nvSpPr>
          <p:spPr>
            <a:xfrm>
              <a:off x="559" y="6077"/>
              <a:ext cx="1811" cy="580"/>
            </a:xfrm>
            <a:prstGeom prst="rect">
              <a:avLst/>
            </a:prstGeom>
            <a:noFill/>
            <a:ln w="9525">
              <a:noFill/>
            </a:ln>
          </p:spPr>
          <p:txBody>
            <a:bodyPr wrap="square" anchor="t">
              <a:spAutoFit/>
            </a:bodyPr>
            <a:lstStyle/>
            <a:p>
              <a:pPr algn="l"/>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Part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2</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303530" y="987324"/>
            <a:ext cx="3566160" cy="1619885"/>
            <a:chOff x="511" y="5981"/>
            <a:chExt cx="5616" cy="2551"/>
          </a:xfrm>
        </p:grpSpPr>
        <p:sp>
          <p:nvSpPr>
            <p:cNvPr id="31" name="任意多边形 30"/>
            <p:cNvSpPr/>
            <p:nvPr/>
          </p:nvSpPr>
          <p:spPr>
            <a:xfrm rot="5400000">
              <a:off x="2043" y="4449"/>
              <a:ext cx="2551" cy="5616"/>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551" h="5616">
                  <a:moveTo>
                    <a:pt x="900" y="511"/>
                  </a:moveTo>
                  <a:lnTo>
                    <a:pt x="1276" y="0"/>
                  </a:lnTo>
                  <a:lnTo>
                    <a:pt x="1652" y="511"/>
                  </a:lnTo>
                  <a:lnTo>
                    <a:pt x="900" y="511"/>
                  </a:lnTo>
                  <a:close/>
                  <a:moveTo>
                    <a:pt x="0" y="5616"/>
                  </a:moveTo>
                  <a:lnTo>
                    <a:pt x="0" y="513"/>
                  </a:lnTo>
                  <a:lnTo>
                    <a:pt x="2551" y="513"/>
                  </a:lnTo>
                  <a:lnTo>
                    <a:pt x="2551" y="5616"/>
                  </a:lnTo>
                  <a:lnTo>
                    <a:pt x="0" y="5616"/>
                  </a:lnTo>
                  <a:close/>
                </a:path>
              </a:pathLst>
            </a:custGeom>
            <a:solidFill>
              <a:srgbClr val="A2508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32" name="组合 31"/>
            <p:cNvGrpSpPr/>
            <p:nvPr/>
          </p:nvGrpSpPr>
          <p:grpSpPr>
            <a:xfrm>
              <a:off x="556" y="6077"/>
              <a:ext cx="4983" cy="2146"/>
              <a:chOff x="1478" y="4043"/>
              <a:chExt cx="4983" cy="2146"/>
            </a:xfrm>
          </p:grpSpPr>
          <p:sp>
            <p:nvSpPr>
              <p:cNvPr id="33" name="333333"/>
              <p:cNvSpPr txBox="1"/>
              <p:nvPr/>
            </p:nvSpPr>
            <p:spPr>
              <a:xfrm>
                <a:off x="1481" y="4043"/>
                <a:ext cx="1811" cy="582"/>
              </a:xfrm>
              <a:prstGeom prst="rect">
                <a:avLst/>
              </a:prstGeom>
              <a:noFill/>
              <a:ln w="9525">
                <a:noFill/>
              </a:ln>
            </p:spPr>
            <p:txBody>
              <a:bodyPr wrap="square" anchor="t">
                <a:spAutoFit/>
              </a:bodyPr>
              <a:lstStyle/>
              <a:p>
                <a:pPr algn="l"/>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part 1</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1111"/>
              <p:cNvSpPr txBox="1"/>
              <p:nvPr/>
            </p:nvSpPr>
            <p:spPr>
              <a:xfrm>
                <a:off x="1478" y="4518"/>
                <a:ext cx="4983" cy="1671"/>
              </a:xfrm>
              <a:prstGeom prst="rect">
                <a:avLst/>
              </a:prstGeom>
              <a:noFill/>
              <a:ln w="9525">
                <a:noFill/>
              </a:ln>
            </p:spPr>
            <p:txBody>
              <a:bodyPr wrap="square" anchor="t">
                <a:spAutoFit/>
              </a:bodyPr>
              <a:lstStyle/>
              <a:p>
                <a:pPr algn="just">
                  <a:lnSpc>
                    <a:spcPct val="120000"/>
                  </a:lnSpc>
                </a:pPr>
                <a:r>
                  <a:rPr lang="zh-CN" altLang="en-US" kern="100" dirty="0">
                    <a:effectLst/>
                    <a:latin typeface="+mj-ea"/>
                    <a:ea typeface="+mj-ea"/>
                    <a:sym typeface="+mn-ea"/>
                  </a:rPr>
                  <a:t>首先</a:t>
                </a:r>
                <a:r>
                  <a:rPr lang="zh-CN" altLang="zh-CN" kern="100" dirty="0">
                    <a:effectLst/>
                    <a:latin typeface="+mj-ea"/>
                    <a:ea typeface="+mj-ea"/>
                    <a:sym typeface="+mn-ea"/>
                  </a:rPr>
                  <a:t>将含有隐藏信息的音频采样数据赋值给</a:t>
                </a:r>
                <a:r>
                  <a:rPr lang="en-US" altLang="zh-CN" kern="100" dirty="0">
                    <a:effectLst/>
                    <a:latin typeface="+mj-ea"/>
                    <a:ea typeface="+mj-ea"/>
                    <a:sym typeface="+mn-ea"/>
                  </a:rPr>
                  <a:t>m</a:t>
                </a:r>
                <a:r>
                  <a:rPr lang="zh-CN" altLang="en-US" kern="100" dirty="0">
                    <a:effectLst/>
                    <a:latin typeface="+mj-ea"/>
                    <a:ea typeface="+mj-ea"/>
                    <a:sym typeface="+mn-ea"/>
                  </a:rPr>
                  <a:t>；</a:t>
                </a:r>
                <a:r>
                  <a:rPr lang="zh-CN" altLang="zh-CN" kern="100" dirty="0">
                    <a:effectLst/>
                    <a:latin typeface="+mj-ea"/>
                    <a:ea typeface="+mj-ea"/>
                    <a:sym typeface="+mn-ea"/>
                  </a:rPr>
                  <a:t>定义待提取的秘密数据的长度；</a:t>
                </a:r>
                <a:endParaRPr lang="en-US" altLang="zh-CN" dirty="0">
                  <a:solidFill>
                    <a:schemeClr val="tx1">
                      <a:lumMod val="85000"/>
                      <a:lumOff val="15000"/>
                    </a:schemeClr>
                  </a:solidFill>
                  <a:latin typeface="+mj-ea"/>
                  <a:ea typeface="+mj-ea"/>
                </a:endParaRPr>
              </a:p>
            </p:txBody>
          </p:sp>
        </p:grpSp>
      </p:grpSp>
      <p:grpSp>
        <p:nvGrpSpPr>
          <p:cNvPr id="2" name="组合 1"/>
          <p:cNvGrpSpPr/>
          <p:nvPr/>
        </p:nvGrpSpPr>
        <p:grpSpPr>
          <a:xfrm>
            <a:off x="424180" y="4780723"/>
            <a:ext cx="3566795" cy="1843246"/>
            <a:chOff x="510" y="5981"/>
            <a:chExt cx="5617" cy="2551"/>
          </a:xfrm>
        </p:grpSpPr>
        <p:sp>
          <p:nvSpPr>
            <p:cNvPr id="3" name="任意多边形 30"/>
            <p:cNvSpPr/>
            <p:nvPr/>
          </p:nvSpPr>
          <p:spPr>
            <a:xfrm rot="5400000">
              <a:off x="2043" y="4449"/>
              <a:ext cx="2551" cy="5616"/>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551" h="5616">
                  <a:moveTo>
                    <a:pt x="900" y="511"/>
                  </a:moveTo>
                  <a:lnTo>
                    <a:pt x="1276" y="0"/>
                  </a:lnTo>
                  <a:lnTo>
                    <a:pt x="1652" y="511"/>
                  </a:lnTo>
                  <a:lnTo>
                    <a:pt x="900" y="511"/>
                  </a:lnTo>
                  <a:close/>
                  <a:moveTo>
                    <a:pt x="0" y="5616"/>
                  </a:moveTo>
                  <a:lnTo>
                    <a:pt x="0" y="513"/>
                  </a:lnTo>
                  <a:lnTo>
                    <a:pt x="2551" y="513"/>
                  </a:lnTo>
                  <a:lnTo>
                    <a:pt x="2551" y="5616"/>
                  </a:lnTo>
                  <a:lnTo>
                    <a:pt x="0" y="5616"/>
                  </a:lnTo>
                  <a:close/>
                </a:path>
              </a:pathLst>
            </a:custGeom>
            <a:solidFill>
              <a:srgbClr val="A2508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p:cNvGrpSpPr/>
            <p:nvPr/>
          </p:nvGrpSpPr>
          <p:grpSpPr>
            <a:xfrm>
              <a:off x="510" y="6077"/>
              <a:ext cx="4983" cy="2377"/>
              <a:chOff x="1432" y="4043"/>
              <a:chExt cx="4983" cy="2377"/>
            </a:xfrm>
          </p:grpSpPr>
          <p:sp>
            <p:nvSpPr>
              <p:cNvPr id="5" name="333333"/>
              <p:cNvSpPr txBox="1"/>
              <p:nvPr/>
            </p:nvSpPr>
            <p:spPr>
              <a:xfrm>
                <a:off x="1481" y="4043"/>
                <a:ext cx="1811" cy="582"/>
              </a:xfrm>
              <a:prstGeom prst="rect">
                <a:avLst/>
              </a:prstGeom>
              <a:noFill/>
              <a:ln w="9525">
                <a:noFill/>
              </a:ln>
            </p:spPr>
            <p:txBody>
              <a:bodyPr wrap="square" anchor="t">
                <a:spAutoFit/>
              </a:bodyPr>
              <a:lstStyle/>
              <a:p>
                <a:pPr algn="l"/>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part 3</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1111"/>
              <p:cNvSpPr txBox="1"/>
              <p:nvPr/>
            </p:nvSpPr>
            <p:spPr>
              <a:xfrm>
                <a:off x="1432" y="4491"/>
                <a:ext cx="4983" cy="1929"/>
              </a:xfrm>
              <a:prstGeom prst="rect">
                <a:avLst/>
              </a:prstGeom>
              <a:noFill/>
              <a:ln w="9525">
                <a:noFill/>
              </a:ln>
            </p:spPr>
            <p:txBody>
              <a:bodyPr wrap="square" anchor="t">
                <a:spAutoFit/>
              </a:bodyPr>
              <a:lstStyle/>
              <a:p>
                <a:pPr algn="just">
                  <a:lnSpc>
                    <a:spcPct val="120000"/>
                  </a:lnSpc>
                </a:pPr>
                <a:r>
                  <a:rPr lang="zh-CN" altLang="zh-CN" kern="100" dirty="0">
                    <a:effectLst/>
                    <a:latin typeface="+mj-ea"/>
                    <a:ea typeface="+mj-ea"/>
                    <a:sym typeface="+mn-ea"/>
                  </a:rPr>
                  <a:t>对提取出的</a:t>
                </a:r>
                <a:r>
                  <a:rPr lang="en-US" altLang="zh-CN" kern="100" dirty="0">
                    <a:effectLst/>
                    <a:latin typeface="+mj-ea"/>
                    <a:ea typeface="+mj-ea"/>
                    <a:sym typeface="+mn-ea"/>
                  </a:rPr>
                  <a:t>w</a:t>
                </a:r>
                <a:r>
                  <a:rPr lang="zh-CN" altLang="zh-CN" kern="100" dirty="0">
                    <a:effectLst/>
                    <a:latin typeface="+mj-ea"/>
                    <a:ea typeface="+mj-ea"/>
                    <a:sym typeface="+mn-ea"/>
                  </a:rPr>
                  <a:t>和原信息</a:t>
                </a:r>
                <a:r>
                  <a:rPr lang="en-US" altLang="zh-CN" kern="100" dirty="0">
                    <a:effectLst/>
                    <a:latin typeface="+mj-ea"/>
                    <a:ea typeface="+mj-ea"/>
                    <a:sym typeface="+mn-ea"/>
                  </a:rPr>
                  <a:t>d</a:t>
                </a:r>
                <a:r>
                  <a:rPr lang="zh-CN" altLang="zh-CN" kern="100" dirty="0">
                    <a:effectLst/>
                    <a:latin typeface="+mj-ea"/>
                    <a:ea typeface="+mj-ea"/>
                    <a:sym typeface="+mn-ea"/>
                  </a:rPr>
                  <a:t>进行比较，得到误码率，实验结果可以看到最终得到的误码率</a:t>
                </a:r>
                <a:r>
                  <a:rPr lang="en-US" altLang="zh-CN" kern="100" dirty="0">
                    <a:effectLst/>
                    <a:latin typeface="+mj-ea"/>
                    <a:ea typeface="+mj-ea"/>
                    <a:sym typeface="+mn-ea"/>
                  </a:rPr>
                  <a:t>rate</a:t>
                </a:r>
                <a:r>
                  <a:rPr lang="zh-CN" altLang="zh-CN" kern="100" dirty="0">
                    <a:effectLst/>
                    <a:latin typeface="+mj-ea"/>
                    <a:ea typeface="+mj-ea"/>
                    <a:sym typeface="+mn-ea"/>
                  </a:rPr>
                  <a:t>为</a:t>
                </a:r>
                <a:r>
                  <a:rPr lang="en-US" altLang="zh-CN" kern="100" dirty="0">
                    <a:effectLst/>
                    <a:latin typeface="+mj-ea"/>
                    <a:ea typeface="+mj-ea"/>
                    <a:sym typeface="+mn-ea"/>
                  </a:rPr>
                  <a:t>0</a:t>
                </a:r>
                <a:r>
                  <a:rPr lang="zh-CN" altLang="en-US" kern="100" dirty="0">
                    <a:effectLst/>
                    <a:latin typeface="+mj-ea"/>
                    <a:ea typeface="+mj-ea"/>
                    <a:sym typeface="+mn-ea"/>
                  </a:rPr>
                  <a:t>，成功提取秘密信息</a:t>
                </a:r>
                <a:r>
                  <a:rPr lang="zh-CN" altLang="zh-CN" kern="100" dirty="0">
                    <a:effectLst/>
                    <a:latin typeface="+mj-ea"/>
                    <a:ea typeface="+mj-ea"/>
                    <a:sym typeface="+mn-ea"/>
                  </a:rPr>
                  <a:t>。</a:t>
                </a:r>
                <a:endParaRPr lang="en-US" altLang="zh-CN" dirty="0">
                  <a:solidFill>
                    <a:schemeClr val="tx1">
                      <a:lumMod val="85000"/>
                      <a:lumOff val="15000"/>
                    </a:schemeClr>
                  </a:solidFill>
                  <a:latin typeface="+mj-ea"/>
                  <a:ea typeface="+mj-ea"/>
                </a:endParaRPr>
              </a:p>
            </p:txBody>
          </p:sp>
        </p:grpSp>
      </p:grpSp>
      <p:sp>
        <p:nvSpPr>
          <p:cNvPr id="7" name="1111"/>
          <p:cNvSpPr txBox="1"/>
          <p:nvPr/>
        </p:nvSpPr>
        <p:spPr>
          <a:xfrm>
            <a:off x="363696" y="3122808"/>
            <a:ext cx="3164205" cy="1445717"/>
          </a:xfrm>
          <a:prstGeom prst="rect">
            <a:avLst/>
          </a:prstGeom>
          <a:noFill/>
          <a:ln w="9525">
            <a:noFill/>
          </a:ln>
        </p:spPr>
        <p:txBody>
          <a:bodyPr wrap="square" anchor="t">
            <a:spAutoFit/>
          </a:bodyPr>
          <a:lstStyle/>
          <a:p>
            <a:pPr>
              <a:lnSpc>
                <a:spcPct val="125000"/>
              </a:lnSpc>
              <a:spcBef>
                <a:spcPts val="600"/>
              </a:spcBef>
            </a:pPr>
            <a:r>
              <a:rPr lang="zh-CN" altLang="zh-CN" sz="1800" kern="100" dirty="0">
                <a:effectLst/>
                <a:latin typeface="+mj-ea"/>
                <a:ea typeface="+mj-ea"/>
                <a:sym typeface="+mn-ea"/>
              </a:rPr>
              <a:t>利用</a:t>
            </a:r>
            <a:r>
              <a:rPr lang="en-US" altLang="zh-CN" sz="1800" kern="100" dirty="0" err="1">
                <a:effectLst/>
                <a:latin typeface="+mj-ea"/>
                <a:ea typeface="+mj-ea"/>
                <a:sym typeface="+mn-ea"/>
              </a:rPr>
              <a:t>bitget</a:t>
            </a:r>
            <a:r>
              <a:rPr lang="zh-CN" altLang="zh-CN" sz="1800" kern="100" dirty="0">
                <a:effectLst/>
                <a:latin typeface="+mj-ea"/>
                <a:ea typeface="+mj-ea"/>
                <a:sym typeface="+mn-ea"/>
              </a:rPr>
              <a:t>函数，将</a:t>
            </a:r>
            <a:r>
              <a:rPr lang="en-US" altLang="zh-CN" sz="1800" kern="100" dirty="0">
                <a:effectLst/>
                <a:latin typeface="+mj-ea"/>
                <a:ea typeface="+mj-ea"/>
                <a:sym typeface="+mn-ea"/>
              </a:rPr>
              <a:t>m</a:t>
            </a:r>
            <a:r>
              <a:rPr lang="zh-CN" altLang="zh-CN" sz="1800" kern="100" dirty="0">
                <a:effectLst/>
                <a:latin typeface="+mj-ea"/>
                <a:ea typeface="+mj-ea"/>
                <a:sym typeface="+mn-ea"/>
              </a:rPr>
              <a:t>从第</a:t>
            </a:r>
            <a:r>
              <a:rPr lang="en-US" altLang="zh-CN" sz="1800" kern="100" dirty="0">
                <a:effectLst/>
                <a:latin typeface="+mj-ea"/>
                <a:ea typeface="+mj-ea"/>
                <a:sym typeface="+mn-ea"/>
              </a:rPr>
              <a:t>157</a:t>
            </a:r>
            <a:r>
              <a:rPr lang="zh-CN" altLang="zh-CN" sz="1800" kern="100" dirty="0">
                <a:effectLst/>
                <a:latin typeface="+mj-ea"/>
                <a:ea typeface="+mj-ea"/>
                <a:sym typeface="+mn-ea"/>
              </a:rPr>
              <a:t>个元素开始的每一位的最低位提取出来，存储到</a:t>
            </a:r>
            <a:r>
              <a:rPr lang="en-US" altLang="zh-CN" sz="1800" kern="100" dirty="0">
                <a:effectLst/>
                <a:latin typeface="+mj-ea"/>
                <a:ea typeface="+mj-ea"/>
                <a:sym typeface="+mn-ea"/>
              </a:rPr>
              <a:t>w</a:t>
            </a:r>
            <a:r>
              <a:rPr lang="zh-CN" altLang="zh-CN" sz="1800" kern="100" dirty="0">
                <a:effectLst/>
                <a:latin typeface="+mj-ea"/>
                <a:ea typeface="+mj-ea"/>
                <a:sym typeface="+mn-ea"/>
              </a:rPr>
              <a:t>中，</a:t>
            </a:r>
            <a:r>
              <a:rPr lang="en-US" altLang="zh-CN" sz="1800" kern="100" dirty="0">
                <a:effectLst/>
                <a:latin typeface="+mj-ea"/>
                <a:ea typeface="+mj-ea"/>
                <a:sym typeface="+mn-ea"/>
              </a:rPr>
              <a:t>w</a:t>
            </a:r>
            <a:r>
              <a:rPr lang="zh-CN" altLang="zh-CN" sz="1800" kern="100" dirty="0">
                <a:effectLst/>
                <a:latin typeface="+mj-ea"/>
                <a:ea typeface="+mj-ea"/>
                <a:sym typeface="+mn-ea"/>
              </a:rPr>
              <a:t>就是秘密数据；</a:t>
            </a:r>
            <a:r>
              <a:rPr lang="en-US" altLang="zh-CN" sz="1600" dirty="0">
                <a:solidFill>
                  <a:schemeClr val="tx1">
                    <a:lumMod val="85000"/>
                    <a:lumOff val="15000"/>
                  </a:schemeClr>
                </a:solidFill>
                <a:latin typeface="+mj-ea"/>
                <a:ea typeface="+mj-ea"/>
              </a:rPr>
              <a:t> </a:t>
            </a:r>
            <a:endParaRPr lang="en-US" altLang="zh-CN" sz="1600" dirty="0">
              <a:solidFill>
                <a:schemeClr val="tx1">
                  <a:lumMod val="85000"/>
                  <a:lumOff val="15000"/>
                </a:schemeClr>
              </a:solidFill>
              <a:latin typeface="+mj-ea"/>
              <a:ea typeface="+mj-ea"/>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90658" y="1526824"/>
            <a:ext cx="7057546" cy="2538831"/>
          </a:xfrm>
          <a:prstGeom prst="rect">
            <a:avLst/>
          </a:prstGeom>
        </p:spPr>
      </p:pic>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9857" y="4864232"/>
            <a:ext cx="9182100" cy="61912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2"/>
          <p:cNvSpPr>
            <a:spLocks noChangeArrowheads="1"/>
          </p:cNvSpPr>
          <p:nvPr/>
        </p:nvSpPr>
        <p:spPr bwMode="auto">
          <a:xfrm>
            <a:off x="3869373" y="50046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文本框 12"/>
          <p:cNvSpPr txBox="1"/>
          <p:nvPr/>
        </p:nvSpPr>
        <p:spPr>
          <a:xfrm>
            <a:off x="3990658" y="4245296"/>
            <a:ext cx="6527800" cy="400110"/>
          </a:xfrm>
          <a:prstGeom prst="rect">
            <a:avLst/>
          </a:prstGeom>
          <a:noFill/>
        </p:spPr>
        <p:txBody>
          <a:bodyPr wrap="square">
            <a:spAutoFit/>
          </a:bodyPr>
          <a:lstStyle/>
          <a:p>
            <a:r>
              <a:rPr lang="zh-CN" altLang="en-US" sz="2000" b="1" dirty="0">
                <a:latin typeface="仿宋" panose="02010609060101010101" pitchFamily="49" charset="-122"/>
                <a:ea typeface="仿宋" panose="02010609060101010101" pitchFamily="49" charset="-122"/>
              </a:rPr>
              <a:t>提取结果</a:t>
            </a:r>
            <a:r>
              <a:rPr lang="zh-CN" altLang="en-US" sz="2000" b="1" dirty="0"/>
              <a:t>：</a:t>
            </a:r>
            <a:endParaRPr lang="zh-CN" altLang="en-US" sz="2000" b="1" dirty="0"/>
          </a:p>
        </p:txBody>
      </p:sp>
      <p:sp>
        <p:nvSpPr>
          <p:cNvPr id="15" name="文本框 14"/>
          <p:cNvSpPr txBox="1"/>
          <p:nvPr/>
        </p:nvSpPr>
        <p:spPr>
          <a:xfrm>
            <a:off x="3898266" y="1048284"/>
            <a:ext cx="6527800" cy="400110"/>
          </a:xfrm>
          <a:prstGeom prst="rect">
            <a:avLst/>
          </a:prstGeom>
          <a:noFill/>
        </p:spPr>
        <p:txBody>
          <a:bodyPr wrap="square">
            <a:spAutoFit/>
          </a:bodyPr>
          <a:lstStyle/>
          <a:p>
            <a:r>
              <a:rPr lang="zh-CN" altLang="en-US" sz="2000" b="1" dirty="0">
                <a:latin typeface="仿宋" panose="02010609060101010101" pitchFamily="49" charset="-122"/>
                <a:ea typeface="仿宋" panose="02010609060101010101" pitchFamily="49" charset="-122"/>
              </a:rPr>
              <a:t>实验代码</a:t>
            </a:r>
            <a:r>
              <a:rPr lang="zh-CN" altLang="en-US" sz="2000" b="1" dirty="0"/>
              <a:t>：</a:t>
            </a:r>
            <a:endParaRPr lang="zh-CN" altLang="en-US" sz="2000" b="1" dirty="0"/>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608070" y="570865"/>
            <a:ext cx="1198245" cy="5734685"/>
          </a:xfrm>
          <a:prstGeom prst="rect">
            <a:avLst/>
          </a:prstGeom>
          <a:noFill/>
          <a:extLst>
            <a:ext uri="{909E8E84-426E-40DD-AFC4-6F175D3DCCD1}">
              <a14:hiddenFill xmlns:a14="http://schemas.microsoft.com/office/drawing/2010/main">
                <a:solidFill>
                  <a:schemeClr val="bg1"/>
                </a:solidFill>
              </a14:hiddenFill>
            </a:ext>
          </a:extLst>
        </p:spPr>
        <p:txBody>
          <a:bodyPr vert="eaVert" wrap="square" rtlCol="0" anchor="ctr" anchorCtr="1">
            <a:spAutoFit/>
          </a:bodyPr>
          <a:lstStyle/>
          <a:p>
            <a:pPr algn="dist">
              <a:lnSpc>
                <a:spcPct val="100000"/>
              </a:lnSpc>
            </a:pPr>
            <a:r>
              <a:rPr lang="zh-CN" altLang="en-US" sz="6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谢谢大家</a:t>
            </a:r>
            <a:endParaRPr lang="zh-CN" altLang="en-US" sz="6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2038410" y="2707320"/>
            <a:ext cx="1569660" cy="4176784"/>
          </a:xfrm>
          <a:prstGeom prst="rect">
            <a:avLst/>
          </a:prstGeom>
          <a:noFill/>
        </p:spPr>
        <p:txBody>
          <a:bodyPr vert="eaVert" wrap="none" rtlCol="0">
            <a:spAutoFit/>
          </a:bodyPr>
          <a:lstStyle/>
          <a:p>
            <a:pPr algn="l">
              <a:lnSpc>
                <a:spcPct val="150000"/>
              </a:lnSpc>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汇报人：李佳璐 王峥 黄煜斐</a:t>
            </a:r>
            <a:endParaRPr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学号：</a:t>
            </a:r>
            <a:r>
              <a:rPr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2211985 2211267 2213028</a:t>
            </a:r>
            <a:endPar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专业：信息安全</a:t>
            </a:r>
            <a:endPar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3042451" y="655320"/>
            <a:ext cx="442429" cy="2052000"/>
          </a:xfrm>
          <a:prstGeom prst="rect">
            <a:avLst/>
          </a:prstGeom>
          <a:solidFill>
            <a:schemeClr val="bg1"/>
          </a:solidFill>
        </p:spPr>
        <p:txBody>
          <a:bodyPr vert="eaVert" wrap="square" lIns="36195" rIns="36195" rtlCol="0">
            <a:spAutoFit/>
          </a:bodyPr>
          <a:lstStyle/>
          <a:p>
            <a:r>
              <a:rPr lang="en-US" altLang="zh-CN" sz="2400" b="1" dirty="0">
                <a:solidFill>
                  <a:srgbClr val="701E5E"/>
                </a:solidFill>
                <a:latin typeface="微软雅黑" panose="020B0503020204020204" pitchFamily="34" charset="-122"/>
                <a:ea typeface="微软雅黑" panose="020B0503020204020204" pitchFamily="34" charset="-122"/>
              </a:rPr>
              <a:t>THANK YOU</a:t>
            </a:r>
            <a:endParaRPr lang="en-US" altLang="zh-CN" sz="2400" b="1" dirty="0">
              <a:solidFill>
                <a:srgbClr val="701E5E"/>
              </a:solidFill>
              <a:latin typeface="微软雅黑" panose="020B0503020204020204" pitchFamily="34" charset="-122"/>
              <a:ea typeface="微软雅黑" panose="020B0503020204020204" pitchFamily="34" charset="-122"/>
            </a:endParaRPr>
          </a:p>
        </p:txBody>
      </p:sp>
      <p:sp>
        <p:nvSpPr>
          <p:cNvPr id="4" name="矩形 3"/>
          <p:cNvSpPr/>
          <p:nvPr/>
        </p:nvSpPr>
        <p:spPr>
          <a:xfrm>
            <a:off x="10404475" y="985766"/>
            <a:ext cx="994410" cy="3390900"/>
          </a:xfrm>
          <a:prstGeom prst="rect">
            <a:avLst/>
          </a:prstGeom>
          <a:solidFill>
            <a:srgbClr val="701E5E">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tIns="0" rtlCol="0" anchor="ctr"/>
          <a:lstStyle/>
          <a:p>
            <a:pPr algn="ctr">
              <a:lnSpc>
                <a:spcPct val="100000"/>
              </a:lnSpc>
            </a:pPr>
            <a:r>
              <a:rPr lang="zh-CN" altLang="en-US" sz="3000" kern="3000" spc="1000" dirty="0">
                <a:solidFill>
                  <a:schemeClr val="bg2"/>
                </a:solidFill>
                <a:latin typeface="微软雅黑 Light" panose="020B0502040204020203" charset="-122"/>
                <a:ea typeface="微软雅黑 Light" panose="020B0502040204020203" charset="-122"/>
              </a:rPr>
              <a:t> 信息隐藏技术</a:t>
            </a:r>
            <a:endParaRPr lang="zh-CN" altLang="en-US" sz="3000" kern="3000" spc="1000" dirty="0">
              <a:solidFill>
                <a:schemeClr val="bg2"/>
              </a:solidFill>
              <a:uFillTx/>
              <a:latin typeface="微软雅黑 Light" panose="020B0502040204020203" charset="-122"/>
              <a:ea typeface="微软雅黑 Light" panose="020B0502040204020203" charset="-122"/>
            </a:endParaRPr>
          </a:p>
          <a:p>
            <a:pPr algn="ctr">
              <a:lnSpc>
                <a:spcPct val="100000"/>
              </a:lnSpc>
            </a:pPr>
            <a:r>
              <a:rPr lang="en-US" altLang="zh-CN" sz="3000" kern="3000" spc="1000" dirty="0">
                <a:solidFill>
                  <a:schemeClr val="bg2"/>
                </a:solidFill>
                <a:uFillTx/>
                <a:latin typeface="微软雅黑 Light" panose="020B0502040204020203" charset="-122"/>
                <a:ea typeface="微软雅黑 Light" panose="020B0502040204020203" charset="-122"/>
              </a:rPr>
              <a:t>   </a:t>
            </a:r>
            <a:r>
              <a:rPr lang="zh-CN" altLang="en-US" sz="3000" kern="3000" spc="1000" dirty="0">
                <a:solidFill>
                  <a:schemeClr val="bg2"/>
                </a:solidFill>
                <a:uFillTx/>
                <a:latin typeface="微软雅黑 Light" panose="020B0502040204020203" charset="-122"/>
                <a:ea typeface="微软雅黑 Light" panose="020B0502040204020203" charset="-122"/>
              </a:rPr>
              <a:t>实验汇报</a:t>
            </a:r>
            <a:endParaRPr lang="zh-CN" altLang="en-US" sz="3000" kern="3000" spc="1000" dirty="0">
              <a:solidFill>
                <a:schemeClr val="bg2"/>
              </a:solidFill>
              <a:uFillTx/>
              <a:latin typeface="微软雅黑 Light" panose="020B0502040204020203" charset="-122"/>
              <a:ea typeface="微软雅黑 Light" panose="020B0502040204020203" charset="-122"/>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PLACING_PICTURE_USER_VIEWPORT" val="{&quot;height&quot;:10796,&quot;width&quot;:15203}"/>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PLACING_PICTURE_USER_VIEWPORT" val="{&quot;height&quot;:10796,&quot;width&quot;:12706}"/>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0.xml><?xml version="1.0" encoding="utf-8"?>
<p:tagLst xmlns:p="http://schemas.openxmlformats.org/presentationml/2006/main">
  <p:tag name="KSO_WM_DIAGRAM_VIRTUALLY_FRAME" val="{&quot;height&quot;:707.15,&quot;left&quot;:273.4,&quot;top&quot;:116.95,&quot;width&quot;:718.8}"/>
</p:tagLst>
</file>

<file path=ppt/tags/tag51.xml><?xml version="1.0" encoding="utf-8"?>
<p:tagLst xmlns:p="http://schemas.openxmlformats.org/presentationml/2006/main">
  <p:tag name="KSO_WM_DIAGRAM_VIRTUALLY_FRAME" val="{&quot;height&quot;:707.15,&quot;left&quot;:273.4,&quot;top&quot;:116.95,&quot;width&quot;:718.8}"/>
</p:tagLst>
</file>

<file path=ppt/tags/tag52.xml><?xml version="1.0" encoding="utf-8"?>
<p:tagLst xmlns:p="http://schemas.openxmlformats.org/presentationml/2006/main">
  <p:tag name="KSO_WM_DIAGRAM_VIRTUALLY_FRAME" val="{&quot;height&quot;:707.15,&quot;left&quot;:273.4,&quot;top&quot;:116.95,&quot;width&quot;:718.8}"/>
</p:tagLst>
</file>

<file path=ppt/tags/tag53.xml><?xml version="1.0" encoding="utf-8"?>
<p:tagLst xmlns:p="http://schemas.openxmlformats.org/presentationml/2006/main">
  <p:tag name="KSO_WM_DIAGRAM_VIRTUALLY_FRAME" val="{&quot;height&quot;:305.2830708661417,&quot;left&quot;:58.97874015748032,&quot;top&quot;:81.95748031496063,&quot;width&quot;:603.6955118110237}"/>
</p:tagLst>
</file>

<file path=ppt/tags/tag54.xml><?xml version="1.0" encoding="utf-8"?>
<p:tagLst xmlns:p="http://schemas.openxmlformats.org/presentationml/2006/main">
  <p:tag name="KSO_WM_DIAGRAM_VIRTUALLY_FRAME" val="{&quot;height&quot;:305.2830708661417,&quot;left&quot;:58.97874015748032,&quot;top&quot;:81.95748031496063,&quot;width&quot;:603.6955118110237}"/>
</p:tagLst>
</file>

<file path=ppt/tags/tag55.xml><?xml version="1.0" encoding="utf-8"?>
<p:tagLst xmlns:p="http://schemas.openxmlformats.org/presentationml/2006/main">
  <p:tag name="KSO_WM_BEAUTIFY_FLAG" val="#wm#"/>
  <p:tag name="KSO_WM_TEMPLATE_CATEGORY" val="custom"/>
  <p:tag name="KSO_WM_TEMPLATE_INDEX" val="20205081"/>
</p:tagLst>
</file>

<file path=ppt/tags/tag56.xml><?xml version="1.0" encoding="utf-8"?>
<p:tagLst xmlns:p="http://schemas.openxmlformats.org/presentationml/2006/main">
  <p:tag name="KSO_WM_BEAUTIFY_FLAG" val="#wm#"/>
  <p:tag name="KSO_WM_TEMPLATE_CATEGORY" val="custom"/>
  <p:tag name="KSO_WM_TEMPLATE_INDEX" val="20205081"/>
</p:tagLst>
</file>

<file path=ppt/tags/tag5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8.xml><?xml version="1.0" encoding="utf-8"?>
<p:tagLst xmlns:p="http://schemas.openxmlformats.org/presentationml/2006/main">
  <p:tag name="KSO_WM_BEAUTIFY_FLAG" val="#wm#"/>
  <p:tag name="KSO_WM_TEMPLATE_CATEGORY" val="custom"/>
  <p:tag name="KSO_WM_TEMPLATE_INDEX" val="20205081"/>
</p:tagLst>
</file>

<file path=ppt/tags/tag59.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0.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1.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2.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3.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4.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5.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6.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7.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8.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69.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0.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1.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2.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3.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4.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5.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6.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7.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8.xml><?xml version="1.0" encoding="utf-8"?>
<p:tagLst xmlns:p="http://schemas.openxmlformats.org/presentationml/2006/main">
  <p:tag name="KSO_WM_DIAGRAM_VIRTUALLY_FRAME" val="{&quot;height&quot;:548.1276879303131,&quot;left&quot;:29.53285169576561,&quot;top&quot;:26.131181102362188,&quot;width&quot;:921.3171483042345}"/>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DIAGRAM_VIRTUALLY_FRAME" val="{&quot;height&quot;:431.6,&quot;left&quot;:82.4,&quot;top&quot;:85.45,&quot;width&quot;:793.7007874015748}"/>
</p:tagLst>
</file>

<file path=ppt/tags/tag82.xml><?xml version="1.0" encoding="utf-8"?>
<p:tagLst xmlns:p="http://schemas.openxmlformats.org/presentationml/2006/main">
  <p:tag name="KSO_WM_DIAGRAM_VIRTUALLY_FRAME" val="{&quot;height&quot;:431.6,&quot;left&quot;:82.4,&quot;top&quot;:85.45,&quot;width&quot;:793.7007874015748}"/>
</p:tagLst>
</file>

<file path=ppt/tags/tag83.xml><?xml version="1.0" encoding="utf-8"?>
<p:tagLst xmlns:p="http://schemas.openxmlformats.org/presentationml/2006/main">
  <p:tag name="KSO_WM_DIAGRAM_VIRTUALLY_FRAME" val="{&quot;height&quot;:431.6,&quot;left&quot;:82.4,&quot;top&quot;:85.45,&quot;width&quot;:793.7007874015748}"/>
</p:tagLst>
</file>

<file path=ppt/tags/tag84.xml><?xml version="1.0" encoding="utf-8"?>
<p:tagLst xmlns:p="http://schemas.openxmlformats.org/presentationml/2006/main">
  <p:tag name="KSO_WM_DIAGRAM_VIRTUALLY_FRAME" val="{&quot;height&quot;:431.6,&quot;left&quot;:82.4,&quot;top&quot;:85.45,&quot;width&quot;:793.7007874015748}"/>
</p:tagLst>
</file>

<file path=ppt/tags/tag85.xml><?xml version="1.0" encoding="utf-8"?>
<p:tagLst xmlns:p="http://schemas.openxmlformats.org/presentationml/2006/main">
  <p:tag name="KSO_WM_DIAGRAM_VIRTUALLY_FRAME" val="{&quot;height&quot;:431.6,&quot;left&quot;:82.4,&quot;top&quot;:85.45,&quot;width&quot;:793.7007874015748}"/>
</p:tagLst>
</file>

<file path=ppt/tags/tag86.xml><?xml version="1.0" encoding="utf-8"?>
<p:tagLst xmlns:p="http://schemas.openxmlformats.org/presentationml/2006/main">
  <p:tag name="KSO_WM_DIAGRAM_VIRTUALLY_FRAME" val="{&quot;height&quot;:431.6,&quot;left&quot;:82.4,&quot;top&quot;:85.45,&quot;width&quot;:793.7007874015748}"/>
</p:tagLst>
</file>

<file path=ppt/tags/tag87.xml><?xml version="1.0" encoding="utf-8"?>
<p:tagLst xmlns:p="http://schemas.openxmlformats.org/presentationml/2006/main">
  <p:tag name="KSO_WM_DIAGRAM_VIRTUALLY_FRAME" val="{&quot;height&quot;:431.6,&quot;left&quot;:82.4,&quot;top&quot;:85.45,&quot;width&quot;:793.7007874015748}"/>
</p:tagLst>
</file>

<file path=ppt/tags/tag88.xml><?xml version="1.0" encoding="utf-8"?>
<p:tagLst xmlns:p="http://schemas.openxmlformats.org/presentationml/2006/main">
  <p:tag name="KSO_WM_DIAGRAM_VIRTUALLY_FRAME" val="{&quot;height&quot;:431.6,&quot;left&quot;:82.4,&quot;top&quot;:85.45,&quot;width&quot;:793.7007874015748}"/>
</p:tagLst>
</file>

<file path=ppt/tags/tag89.xml><?xml version="1.0" encoding="utf-8"?>
<p:tagLst xmlns:p="http://schemas.openxmlformats.org/presentationml/2006/main">
  <p:tag name="KSO_WM_DIAGRAM_VIRTUALLY_FRAME" val="{&quot;height&quot;:431.6,&quot;left&quot;:82.4,&quot;top&quot;:85.45,&quot;width&quot;:793.7007874015748}"/>
</p:tagLst>
</file>

<file path=ppt/tags/tag90.xml><?xml version="1.0" encoding="utf-8"?>
<p:tagLst xmlns:p="http://schemas.openxmlformats.org/presentationml/2006/main">
  <p:tag name="KSO_WM_DIAGRAM_VIRTUALLY_FRAME" val="{&quot;height&quot;:431.6,&quot;left&quot;:82.4,&quot;top&quot;:85.45,&quot;width&quot;:793.7007874015748}"/>
</p:tagLst>
</file>

<file path=ppt/tags/tag91.xml><?xml version="1.0" encoding="utf-8"?>
<p:tagLst xmlns:p="http://schemas.openxmlformats.org/presentationml/2006/main">
  <p:tag name="KSO_WM_DIAGRAM_VIRTUALLY_FRAME" val="{&quot;height&quot;:431.6,&quot;left&quot;:82.4,&quot;top&quot;:85.45,&quot;width&quot;:793.7007874015748}"/>
</p:tagLst>
</file>

<file path=ppt/tags/tag92.xml><?xml version="1.0" encoding="utf-8"?>
<p:tagLst xmlns:p="http://schemas.openxmlformats.org/presentationml/2006/main">
  <p:tag name="KSO_WM_DIAGRAM_VIRTUALLY_FRAME" val="{&quot;height&quot;:431.6,&quot;left&quot;:82.4,&quot;top&quot;:85.45,&quot;width&quot;:793.7007874015748}"/>
</p:tagLst>
</file>

<file path=ppt/tags/tag93.xml><?xml version="1.0" encoding="utf-8"?>
<p:tagLst xmlns:p="http://schemas.openxmlformats.org/presentationml/2006/main">
  <p:tag name="KSO_WM_DIAGRAM_VIRTUALLY_FRAME" val="{&quot;height&quot;:431.6,&quot;left&quot;:82.4,&quot;top&quot;:85.45,&quot;width&quot;:793.7007874015748}"/>
</p:tagLst>
</file>

<file path=ppt/tags/tag94.xml><?xml version="1.0" encoding="utf-8"?>
<p:tagLst xmlns:p="http://schemas.openxmlformats.org/presentationml/2006/main">
  <p:tag name="KSO_WM_DIAGRAM_VIRTUALLY_FRAME" val="{&quot;height&quot;:431.6,&quot;left&quot;:82.4,&quot;top&quot;:85.45,&quot;width&quot;:793.7007874015748}"/>
</p:tagLst>
</file>

<file path=ppt/tags/tag95.xml><?xml version="1.0" encoding="utf-8"?>
<p:tagLst xmlns:p="http://schemas.openxmlformats.org/presentationml/2006/main">
  <p:tag name="KSO_WM_DIAGRAM_VIRTUALLY_FRAME" val="{&quot;height&quot;:431.6,&quot;left&quot;:82.4,&quot;top&quot;:85.45,&quot;width&quot;:793.7007874015748}"/>
</p:tagLst>
</file>

<file path=ppt/tags/tag96.xml><?xml version="1.0" encoding="utf-8"?>
<p:tagLst xmlns:p="http://schemas.openxmlformats.org/presentationml/2006/main">
  <p:tag name="KSO_WM_DIAGRAM_VIRTUALLY_FRAME" val="{&quot;height&quot;:431.6,&quot;left&quot;:82.4,&quot;top&quot;:85.45,&quot;width&quot;:793.7007874015748}"/>
</p:tagLst>
</file>

<file path=ppt/tags/tag97.xml><?xml version="1.0" encoding="utf-8"?>
<p:tagLst xmlns:p="http://schemas.openxmlformats.org/presentationml/2006/main">
  <p:tag name="KSO_WM_DIAGRAM_VIRTUALLY_FRAME" val="{&quot;height&quot;:431.6,&quot;left&quot;:82.4,&quot;top&quot;:85.45,&quot;width&quot;:793.7007874015748}"/>
</p:tagLst>
</file>

<file path=ppt/tags/tag98.xml><?xml version="1.0" encoding="utf-8"?>
<p:tagLst xmlns:p="http://schemas.openxmlformats.org/presentationml/2006/main">
  <p:tag name="KSO_WM_DIAGRAM_VIRTUALLY_FRAME" val="{&quot;height&quot;:431.6,&quot;left&quot;:82.4,&quot;top&quot;:85.45,&quot;width&quot;:793.7007874015748}"/>
</p:tagLst>
</file>

<file path=ppt/tags/tag99.xml><?xml version="1.0" encoding="utf-8"?>
<p:tagLst xmlns:p="http://schemas.openxmlformats.org/presentationml/2006/main">
  <p:tag name="KSO_WM_DIAGRAM_VIRTUALLY_FRAME" val="{&quot;height&quot;:431.6,&quot;left&quot;:82.4,&quot;top&quot;:85.45,&quot;width&quot;:793.7007874015748}"/>
</p:tagLst>
</file>

<file path=ppt/tags/tag100.xml><?xml version="1.0" encoding="utf-8"?>
<p:tagLst xmlns:p="http://schemas.openxmlformats.org/presentationml/2006/main">
  <p:tag name="KSO_WM_DIAGRAM_VIRTUALLY_FRAME" val="{&quot;height&quot;:431.6,&quot;left&quot;:82.4,&quot;top&quot;:85.45,&quot;width&quot;:793.7007874015748}"/>
</p:tagLst>
</file>

<file path=ppt/tags/tag101.xml><?xml version="1.0" encoding="utf-8"?>
<p:tagLst xmlns:p="http://schemas.openxmlformats.org/presentationml/2006/main">
  <p:tag name="KSO_WM_DIAGRAM_VIRTUALLY_FRAME" val="{&quot;height&quot;:431.6,&quot;left&quot;:82.4,&quot;top&quot;:85.45,&quot;width&quot;:793.7007874015748}"/>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ags/tag103.xml><?xml version="1.0" encoding="utf-8"?>
<p:tagLst xmlns:p="http://schemas.openxmlformats.org/presentationml/2006/main">
  <p:tag name="KSO_WM_DIAGRAM_VIRTUALLY_FRAME" val="{&quot;height&quot;:364.33968503937,&quot;left&quot;:135.42503937007874,&quot;top&quot;:165.1,&quot;width&quot;:703.3249606299212}"/>
</p:tagLst>
</file>

<file path=ppt/tags/tag104.xml><?xml version="1.0" encoding="utf-8"?>
<p:tagLst xmlns:p="http://schemas.openxmlformats.org/presentationml/2006/main">
  <p:tag name="KSO_WM_DIAGRAM_VIRTUALLY_FRAME" val="{&quot;height&quot;:364.33968503937,&quot;left&quot;:135.42503937007874,&quot;top&quot;:165.1,&quot;width&quot;:703.3249606299212}"/>
</p:tagLst>
</file>

<file path=ppt/tags/tag105.xml><?xml version="1.0" encoding="utf-8"?>
<p:tagLst xmlns:p="http://schemas.openxmlformats.org/presentationml/2006/main">
  <p:tag name="KSO_WM_DIAGRAM_VIRTUALLY_FRAME" val="{&quot;height&quot;:364.33968503937,&quot;left&quot;:135.42503937007874,&quot;top&quot;:165.1,&quot;width&quot;:703.3249606299212}"/>
</p:tagLst>
</file>

<file path=ppt/tags/tag106.xml><?xml version="1.0" encoding="utf-8"?>
<p:tagLst xmlns:p="http://schemas.openxmlformats.org/presentationml/2006/main">
  <p:tag name="KSO_WM_DIAGRAM_VIRTUALLY_FRAME" val="{&quot;height&quot;:364.33968503937,&quot;left&quot;:135.42503937007874,&quot;top&quot;:165.1,&quot;width&quot;:703.3249606299212}"/>
</p:tagLst>
</file>

<file path=ppt/tags/tag107.xml><?xml version="1.0" encoding="utf-8"?>
<p:tagLst xmlns:p="http://schemas.openxmlformats.org/presentationml/2006/main">
  <p:tag name="KSO_WM_DIAGRAM_VIRTUALLY_FRAME" val="{&quot;height&quot;:364.33968503937,&quot;left&quot;:135.42503937007874,&quot;top&quot;:165.1,&quot;width&quot;:703.3249606299212}"/>
</p:tagLst>
</file>

<file path=ppt/tags/tag108.xml><?xml version="1.0" encoding="utf-8"?>
<p:tagLst xmlns:p="http://schemas.openxmlformats.org/presentationml/2006/main">
  <p:tag name="KSO_WM_DIAGRAM_VIRTUALLY_FRAME" val="{&quot;height&quot;:364.33968503937,&quot;left&quot;:135.42503937007874,&quot;top&quot;:165.1,&quot;width&quot;:703.3249606299212}"/>
</p:tagLst>
</file>

<file path=ppt/tags/tag109.xml><?xml version="1.0" encoding="utf-8"?>
<p:tagLst xmlns:p="http://schemas.openxmlformats.org/presentationml/2006/main">
  <p:tag name="KSO_WM_DIAGRAM_VIRTUALLY_FRAME" val="{&quot;height&quot;:364.33968503937,&quot;left&quot;:135.42503937007874,&quot;top&quot;:165.1,&quot;width&quot;:703.3249606299212}"/>
</p:tagLst>
</file>

<file path=ppt/tags/tag110.xml><?xml version="1.0" encoding="utf-8"?>
<p:tagLst xmlns:p="http://schemas.openxmlformats.org/presentationml/2006/main">
  <p:tag name="KSO_WM_DIAGRAM_VIRTUALLY_FRAME" val="{&quot;height&quot;:364.33968503937,&quot;left&quot;:135.42503937007874,&quot;top&quot;:165.1,&quot;width&quot;:703.3249606299212}"/>
</p:tagLst>
</file>

<file path=ppt/tags/tag111.xml><?xml version="1.0" encoding="utf-8"?>
<p:tagLst xmlns:p="http://schemas.openxmlformats.org/presentationml/2006/main">
  <p:tag name="KSO_WM_DIAGRAM_VIRTUALLY_FRAME" val="{&quot;height&quot;:364.33968503937,&quot;left&quot;:135.42503937007874,&quot;top&quot;:165.1,&quot;width&quot;:703.3249606299212}"/>
</p:tagLst>
</file>

<file path=ppt/tags/tag112.xml><?xml version="1.0" encoding="utf-8"?>
<p:tagLst xmlns:p="http://schemas.openxmlformats.org/presentationml/2006/main">
  <p:tag name="KSO_WM_DIAGRAM_VIRTUALLY_FRAME" val="{&quot;height&quot;:364.33968503937,&quot;left&quot;:135.42503937007874,&quot;top&quot;:165.1,&quot;width&quot;:703.3249606299212}"/>
</p:tagLst>
</file>

<file path=ppt/tags/tag113.xml><?xml version="1.0" encoding="utf-8"?>
<p:tagLst xmlns:p="http://schemas.openxmlformats.org/presentationml/2006/main">
  <p:tag name="KSO_WM_DIAGRAM_VIRTUALLY_FRAME" val="{&quot;height&quot;:364.33968503937,&quot;left&quot;:135.42503937007874,&quot;top&quot;:165.1,&quot;width&quot;:703.3249606299212}"/>
</p:tagLst>
</file>

<file path=ppt/tags/tag114.xml><?xml version="1.0" encoding="utf-8"?>
<p:tagLst xmlns:p="http://schemas.openxmlformats.org/presentationml/2006/main">
  <p:tag name="KSO_WM_DIAGRAM_VIRTUALLY_FRAME" val="{&quot;height&quot;:364.33968503937,&quot;left&quot;:135.42503937007874,&quot;top&quot;:165.1,&quot;width&quot;:703.3249606299212}"/>
</p:tagLst>
</file>

<file path=ppt/tags/tag115.xml><?xml version="1.0" encoding="utf-8"?>
<p:tagLst xmlns:p="http://schemas.openxmlformats.org/presentationml/2006/main">
  <p:tag name="KSO_WM_DIAGRAM_VIRTUALLY_FRAME" val="{&quot;height&quot;:364.33968503937,&quot;left&quot;:135.42503937007874,&quot;top&quot;:165.1,&quot;width&quot;:703.3249606299212}"/>
</p:tagLst>
</file>

<file path=ppt/tags/tag116.xml><?xml version="1.0" encoding="utf-8"?>
<p:tagLst xmlns:p="http://schemas.openxmlformats.org/presentationml/2006/main">
  <p:tag name="KSO_WM_DIAGRAM_VIRTUALLY_FRAME" val="{&quot;height&quot;:364.33968503937,&quot;left&quot;:135.42503937007874,&quot;top&quot;:165.1,&quot;width&quot;:703.3249606299212}"/>
</p:tagLst>
</file>

<file path=ppt/tags/tag117.xml><?xml version="1.0" encoding="utf-8"?>
<p:tagLst xmlns:p="http://schemas.openxmlformats.org/presentationml/2006/main">
  <p:tag name="KSO_WM_DIAGRAM_VIRTUALLY_FRAME" val="{&quot;height&quot;:364.33968503937,&quot;left&quot;:135.42503937007874,&quot;top&quot;:165.1,&quot;width&quot;:703.3249606299212}"/>
</p:tagLst>
</file>

<file path=ppt/tags/tag118.xml><?xml version="1.0" encoding="utf-8"?>
<p:tagLst xmlns:p="http://schemas.openxmlformats.org/presentationml/2006/main">
  <p:tag name="KSO_WM_DIAGRAM_VIRTUALLY_FRAME" val="{&quot;height&quot;:364.33968503937,&quot;left&quot;:135.42503937007874,&quot;top&quot;:165.1,&quot;width&quot;:703.3249606299212}"/>
</p:tagLst>
</file>

<file path=ppt/tags/tag119.xml><?xml version="1.0" encoding="utf-8"?>
<p:tagLst xmlns:p="http://schemas.openxmlformats.org/presentationml/2006/main">
  <p:tag name="KSO_WM_DIAGRAM_VIRTUALLY_FRAME" val="{&quot;height&quot;:364.33968503937,&quot;left&quot;:135.42503937007874,&quot;top&quot;:165.1,&quot;width&quot;:703.3249606299212}"/>
</p:tagLst>
</file>

<file path=ppt/tags/tag120.xml><?xml version="1.0" encoding="utf-8"?>
<p:tagLst xmlns:p="http://schemas.openxmlformats.org/presentationml/2006/main">
  <p:tag name="KSO_WM_DIAGRAM_VIRTUALLY_FRAME" val="{&quot;height&quot;:364.33968503937,&quot;left&quot;:135.42503937007874,&quot;top&quot;:165.1,&quot;width&quot;:703.3249606299212}"/>
</p:tagLst>
</file>

<file path=ppt/tags/tag121.xml><?xml version="1.0" encoding="utf-8"?>
<p:tagLst xmlns:p="http://schemas.openxmlformats.org/presentationml/2006/main">
  <p:tag name="KSO_WM_DIAGRAM_VIRTUALLY_FRAME" val="{&quot;height&quot;:364.33968503937,&quot;left&quot;:135.42503937007874,&quot;top&quot;:165.1,&quot;width&quot;:703.3249606299212}"/>
</p:tagLst>
</file>

<file path=ppt/tags/tag122.xml><?xml version="1.0" encoding="utf-8"?>
<p:tagLst xmlns:p="http://schemas.openxmlformats.org/presentationml/2006/main">
  <p:tag name="KSO_WM_DIAGRAM_VIRTUALLY_FRAME" val="{&quot;height&quot;:364.33968503937,&quot;left&quot;:135.42503937007874,&quot;top&quot;:165.1,&quot;width&quot;:703.3249606299212}"/>
</p:tagLst>
</file>

<file path=ppt/tags/tag123.xml><?xml version="1.0" encoding="utf-8"?>
<p:tagLst xmlns:p="http://schemas.openxmlformats.org/presentationml/2006/main">
  <p:tag name="KSO_WM_DIAGRAM_VIRTUALLY_FRAME" val="{&quot;height&quot;:364.33968503937,&quot;left&quot;:135.42503937007874,&quot;top&quot;:165.1,&quot;width&quot;:703.3249606299212}"/>
</p:tagLst>
</file>

<file path=ppt/tags/tag124.xml><?xml version="1.0" encoding="utf-8"?>
<p:tagLst xmlns:p="http://schemas.openxmlformats.org/presentationml/2006/main">
  <p:tag name="KSO_WM_DIAGRAM_VIRTUALLY_FRAME" val="{&quot;height&quot;:364.33968503937,&quot;left&quot;:135.42503937007874,&quot;top&quot;:165.1,&quot;width&quot;:703.3249606299212}"/>
</p:tagLst>
</file>

<file path=ppt/tags/tag125.xml><?xml version="1.0" encoding="utf-8"?>
<p:tagLst xmlns:p="http://schemas.openxmlformats.org/presentationml/2006/main">
  <p:tag name="KSO_WM_DIAGRAM_VIRTUALLY_FRAME" val="{&quot;height&quot;:364.33968503937,&quot;left&quot;:135.42503937007874,&quot;top&quot;:165.1,&quot;width&quot;:703.3249606299212}"/>
</p:tagLst>
</file>

<file path=ppt/tags/tag126.xml><?xml version="1.0" encoding="utf-8"?>
<p:tagLst xmlns:p="http://schemas.openxmlformats.org/presentationml/2006/main">
  <p:tag name="KSO_WM_DIAGRAM_VIRTUALLY_FRAME" val="{&quot;height&quot;:364.33968503937,&quot;left&quot;:135.42503937007874,&quot;top&quot;:165.1,&quot;width&quot;:703.3249606299212}"/>
</p:tagLst>
</file>

<file path=ppt/tags/tag127.xml><?xml version="1.0" encoding="utf-8"?>
<p:tagLst xmlns:p="http://schemas.openxmlformats.org/presentationml/2006/main">
  <p:tag name="KSO_WM_BEAUTIFY_FLAG" val="#wm#"/>
  <p:tag name="KSO_WM_TEMPLATE_CATEGORY" val="custom"/>
  <p:tag name="KSO_WM_TEMPLATE_INDEX" val="20205081"/>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ags/tag129.xml><?xml version="1.0" encoding="utf-8"?>
<p:tagLst xmlns:p="http://schemas.openxmlformats.org/presentationml/2006/main">
  <p:tag name="KSO_WM_DIAGRAM_VIRTUALLY_FRAME" val="{&quot;height&quot;:531.627632895472,&quot;left&quot;:42.8,&quot;top&quot;:109.13118110236219,&quot;width&quot;:874.85}"/>
</p:tagLst>
</file>

<file path=ppt/tags/tag130.xml><?xml version="1.0" encoding="utf-8"?>
<p:tagLst xmlns:p="http://schemas.openxmlformats.org/presentationml/2006/main">
  <p:tag name="KSO_WM_DIAGRAM_VIRTUALLY_FRAME" val="{&quot;height&quot;:531.627632895472,&quot;left&quot;:42.8,&quot;top&quot;:109.13118110236219,&quot;width&quot;:874.85}"/>
</p:tagLst>
</file>

<file path=ppt/tags/tag131.xml><?xml version="1.0" encoding="utf-8"?>
<p:tagLst xmlns:p="http://schemas.openxmlformats.org/presentationml/2006/main">
  <p:tag name="KSO_WM_DIAGRAM_VIRTUALLY_FRAME" val="{&quot;height&quot;:531.627632895472,&quot;left&quot;:42.8,&quot;top&quot;:109.13118110236219,&quot;width&quot;:874.85}"/>
</p:tagLst>
</file>

<file path=ppt/tags/tag132.xml><?xml version="1.0" encoding="utf-8"?>
<p:tagLst xmlns:p="http://schemas.openxmlformats.org/presentationml/2006/main">
  <p:tag name="KSO_WM_DIAGRAM_VIRTUALLY_FRAME" val="{&quot;height&quot;:531.627632895472,&quot;left&quot;:42.8,&quot;top&quot;:109.13118110236219,&quot;width&quot;:874.85}"/>
</p:tagLst>
</file>

<file path=ppt/tags/tag133.xml><?xml version="1.0" encoding="utf-8"?>
<p:tagLst xmlns:p="http://schemas.openxmlformats.org/presentationml/2006/main">
  <p:tag name="KSO_WM_DIAGRAM_VIRTUALLY_FRAME" val="{&quot;height&quot;:531.627632895472,&quot;left&quot;:42.8,&quot;top&quot;:109.13118110236219,&quot;width&quot;:874.85}"/>
</p:tagLst>
</file>

<file path=ppt/tags/tag134.xml><?xml version="1.0" encoding="utf-8"?>
<p:tagLst xmlns:p="http://schemas.openxmlformats.org/presentationml/2006/main">
  <p:tag name="KSO_WM_DIAGRAM_VIRTUALLY_FRAME" val="{&quot;height&quot;:531.627632895472,&quot;left&quot;:42.8,&quot;top&quot;:109.13118110236219,&quot;width&quot;:874.85}"/>
</p:tagLst>
</file>

<file path=ppt/tags/tag135.xml><?xml version="1.0" encoding="utf-8"?>
<p:tagLst xmlns:p="http://schemas.openxmlformats.org/presentationml/2006/main">
  <p:tag name="KSO_WM_DIAGRAM_VIRTUALLY_FRAME" val="{&quot;height&quot;:531.627632895472,&quot;left&quot;:42.8,&quot;top&quot;:109.13118110236219,&quot;width&quot;:874.85}"/>
</p:tagLst>
</file>

<file path=ppt/tags/tag136.xml><?xml version="1.0" encoding="utf-8"?>
<p:tagLst xmlns:p="http://schemas.openxmlformats.org/presentationml/2006/main">
  <p:tag name="KSO_WM_DIAGRAM_VIRTUALLY_FRAME" val="{&quot;height&quot;:531.627632895472,&quot;left&quot;:42.8,&quot;top&quot;:109.13118110236219,&quot;width&quot;:874.85}"/>
</p:tagLst>
</file>

<file path=ppt/tags/tag137.xml><?xml version="1.0" encoding="utf-8"?>
<p:tagLst xmlns:p="http://schemas.openxmlformats.org/presentationml/2006/main">
  <p:tag name="KSO_WM_DIAGRAM_VIRTUALLY_FRAME" val="{&quot;height&quot;:531.627632895472,&quot;left&quot;:42.8,&quot;top&quot;:109.13118110236219,&quot;width&quot;:874.85}"/>
</p:tagLst>
</file>

<file path=ppt/tags/tag138.xml><?xml version="1.0" encoding="utf-8"?>
<p:tagLst xmlns:p="http://schemas.openxmlformats.org/presentationml/2006/main">
  <p:tag name="KSO_WM_DIAGRAM_VIRTUALLY_FRAME" val="{&quot;height&quot;:531.627632895472,&quot;left&quot;:42.8,&quot;top&quot;:109.13118110236219,&quot;width&quot;:874.85}"/>
</p:tagLst>
</file>

<file path=ppt/tags/tag139.xml><?xml version="1.0" encoding="utf-8"?>
<p:tagLst xmlns:p="http://schemas.openxmlformats.org/presentationml/2006/main">
  <p:tag name="KSO_WM_DIAGRAM_VIRTUALLY_FRAME" val="{&quot;height&quot;:531.627632895472,&quot;left&quot;:42.8,&quot;top&quot;:109.13118110236219,&quot;width&quot;:874.85}"/>
</p:tagLst>
</file>

<file path=ppt/tags/tag140.xml><?xml version="1.0" encoding="utf-8"?>
<p:tagLst xmlns:p="http://schemas.openxmlformats.org/presentationml/2006/main">
  <p:tag name="KSO_WM_DIAGRAM_VIRTUALLY_FRAME" val="{&quot;height&quot;:531.627632895472,&quot;left&quot;:42.8,&quot;top&quot;:109.13118110236219,&quot;width&quot;:874.85}"/>
</p:tagLst>
</file>

<file path=ppt/tags/tag141.xml><?xml version="1.0" encoding="utf-8"?>
<p:tagLst xmlns:p="http://schemas.openxmlformats.org/presentationml/2006/main">
  <p:tag name="KSO_WM_DIAGRAM_VIRTUALLY_FRAME" val="{&quot;height&quot;:531.627632895472,&quot;left&quot;:42.8,&quot;top&quot;:109.13118110236219,&quot;width&quot;:874.85}"/>
</p:tagLst>
</file>

<file path=ppt/tags/tag142.xml><?xml version="1.0" encoding="utf-8"?>
<p:tagLst xmlns:p="http://schemas.openxmlformats.org/presentationml/2006/main">
  <p:tag name="KSO_WM_DIAGRAM_VIRTUALLY_FRAME" val="{&quot;height&quot;:531.627632895472,&quot;left&quot;:42.8,&quot;top&quot;:109.13118110236219,&quot;width&quot;:874.85}"/>
</p:tagLst>
</file>

<file path=ppt/tags/tag143.xml><?xml version="1.0" encoding="utf-8"?>
<p:tagLst xmlns:p="http://schemas.openxmlformats.org/presentationml/2006/main">
  <p:tag name="KSO_WM_DIAGRAM_VIRTUALLY_FRAME" val="{&quot;height&quot;:531.627632895472,&quot;left&quot;:42.8,&quot;top&quot;:109.13118110236219,&quot;width&quot;:874.85}"/>
</p:tagLst>
</file>

<file path=ppt/tags/tag144.xml><?xml version="1.0" encoding="utf-8"?>
<p:tagLst xmlns:p="http://schemas.openxmlformats.org/presentationml/2006/main">
  <p:tag name="KSO_WM_BEAUTIFY_FLAG" val="#wm#"/>
  <p:tag name="KSO_WM_TEMPLATE_CATEGORY" val="custom"/>
  <p:tag name="KSO_WM_TEMPLATE_INDEX" val="20205081"/>
</p:tagLst>
</file>

<file path=ppt/tags/tag145.xml><?xml version="1.0" encoding="utf-8"?>
<p:tagLst xmlns:p="http://schemas.openxmlformats.org/presentationml/2006/main">
  <p:tag name="KSO_WM_UNIT_PLACING_PICTURE_USER_VIEWPORT" val="{&quot;height&quot;:10796,&quot;width&quot;:12706}"/>
  <p:tag name="KSO_WM_DIAGRAM_VIRTUALLY_FRAME" val="{&quot;height&quot;:609.5,&quot;left&quot;:21.663468534012374,&quot;top&quot;:115.5,&quot;width&quot;:925.4062485560571}"/>
</p:tagLst>
</file>

<file path=ppt/tags/tag146.xml><?xml version="1.0" encoding="utf-8"?>
<p:tagLst xmlns:p="http://schemas.openxmlformats.org/presentationml/2006/main">
  <p:tag name="KSO_WM_DIAGRAM_VIRTUALLY_FRAME" val="{&quot;height&quot;:609.5,&quot;left&quot;:21.663468534012374,&quot;top&quot;:115.5,&quot;width&quot;:925.4062485560571}"/>
</p:tagLst>
</file>

<file path=ppt/tags/tag147.xml><?xml version="1.0" encoding="utf-8"?>
<p:tagLst xmlns:p="http://schemas.openxmlformats.org/presentationml/2006/main">
  <p:tag name="KSO_WM_DIAGRAM_VIRTUALLY_FRAME" val="{&quot;height&quot;:609.5,&quot;left&quot;:21.663468534012374,&quot;top&quot;:115.5,&quot;width&quot;:925.4062485560571}"/>
</p:tagLst>
</file>

<file path=ppt/tags/tag148.xml><?xml version="1.0" encoding="utf-8"?>
<p:tagLst xmlns:p="http://schemas.openxmlformats.org/presentationml/2006/main">
  <p:tag name="KSO_WM_DIAGRAM_VIRTUALLY_FRAME" val="{&quot;height&quot;:609.5,&quot;left&quot;:21.663468534012374,&quot;top&quot;:115.5,&quot;width&quot;:925.4062485560571}"/>
</p:tagLst>
</file>

<file path=ppt/tags/tag149.xml><?xml version="1.0" encoding="utf-8"?>
<p:tagLst xmlns:p="http://schemas.openxmlformats.org/presentationml/2006/main">
  <p:tag name="KSO_WM_DIAGRAM_VIRTUALLY_FRAME" val="{&quot;height&quot;:609.5,&quot;left&quot;:21.663468534012374,&quot;top&quot;:115.5,&quot;width&quot;:925.4062485560571}"/>
</p:tagLst>
</file>

<file path=ppt/tags/tag150.xml><?xml version="1.0" encoding="utf-8"?>
<p:tagLst xmlns:p="http://schemas.openxmlformats.org/presentationml/2006/main">
  <p:tag name="KSO_WM_DIAGRAM_VIRTUALLY_FRAME" val="{&quot;height&quot;:609.5,&quot;left&quot;:21.663468534012374,&quot;top&quot;:115.5,&quot;width&quot;:925.4062485560571}"/>
</p:tagLst>
</file>

<file path=ppt/tags/tag151.xml><?xml version="1.0" encoding="utf-8"?>
<p:tagLst xmlns:p="http://schemas.openxmlformats.org/presentationml/2006/main">
  <p:tag name="KSO_WM_DIAGRAM_VIRTUALLY_FRAME" val="{&quot;height&quot;:609.5,&quot;left&quot;:21.663468534012374,&quot;top&quot;:115.5,&quot;width&quot;:925.4062485560571}"/>
</p:tagLst>
</file>

<file path=ppt/tags/tag152.xml><?xml version="1.0" encoding="utf-8"?>
<p:tagLst xmlns:p="http://schemas.openxmlformats.org/presentationml/2006/main">
  <p:tag name="KSO_WM_DIAGRAM_VIRTUALLY_FRAME" val="{&quot;height&quot;:609.5,&quot;left&quot;:21.663468534012374,&quot;top&quot;:115.5,&quot;width&quot;:925.4062485560571}"/>
</p:tagLst>
</file>

<file path=ppt/tags/tag153.xml><?xml version="1.0" encoding="utf-8"?>
<p:tagLst xmlns:p="http://schemas.openxmlformats.org/presentationml/2006/main">
  <p:tag name="KSO_WM_DIAGRAM_VIRTUALLY_FRAME" val="{&quot;height&quot;:609.5,&quot;left&quot;:21.663468534012374,&quot;top&quot;:115.5,&quot;width&quot;:925.4062485560571}"/>
</p:tagLst>
</file>

<file path=ppt/tags/tag154.xml><?xml version="1.0" encoding="utf-8"?>
<p:tagLst xmlns:p="http://schemas.openxmlformats.org/presentationml/2006/main">
  <p:tag name="KSO_WM_DIAGRAM_VIRTUALLY_FRAME" val="{&quot;height&quot;:609.5,&quot;left&quot;:21.663468534012374,&quot;top&quot;:115.5,&quot;width&quot;:925.4062485560571}"/>
</p:tagLst>
</file>

<file path=ppt/tags/tag155.xml><?xml version="1.0" encoding="utf-8"?>
<p:tagLst xmlns:p="http://schemas.openxmlformats.org/presentationml/2006/main">
  <p:tag name="KSO_WM_DIAGRAM_VIRTUALLY_FRAME" val="{&quot;height&quot;:609.5,&quot;left&quot;:21.663468534012374,&quot;top&quot;:115.5,&quot;width&quot;:925.4062485560571}"/>
</p:tagLst>
</file>

<file path=ppt/tags/tag156.xml><?xml version="1.0" encoding="utf-8"?>
<p:tagLst xmlns:p="http://schemas.openxmlformats.org/presentationml/2006/main">
  <p:tag name="KSO_WM_DIAGRAM_VIRTUALLY_FRAME" val="{&quot;height&quot;:609.5,&quot;left&quot;:21.663468534012374,&quot;top&quot;:115.5,&quot;width&quot;:925.4062485560571}"/>
</p:tagLst>
</file>

<file path=ppt/tags/tag157.xml><?xml version="1.0" encoding="utf-8"?>
<p:tagLst xmlns:p="http://schemas.openxmlformats.org/presentationml/2006/main">
  <p:tag name="KSO_WM_DIAGRAM_VIRTUALLY_FRAME" val="{&quot;height&quot;:609.5,&quot;left&quot;:21.663468534012374,&quot;top&quot;:115.5,&quot;width&quot;:925.4062485560571}"/>
</p:tagLst>
</file>

<file path=ppt/tags/tag158.xml><?xml version="1.0" encoding="utf-8"?>
<p:tagLst xmlns:p="http://schemas.openxmlformats.org/presentationml/2006/main">
  <p:tag name="KSO_WM_DIAGRAM_VIRTUALLY_FRAME" val="{&quot;height&quot;:609.5,&quot;left&quot;:21.663468534012374,&quot;top&quot;:115.5,&quot;width&quot;:925.4062485560571}"/>
</p:tagLst>
</file>

<file path=ppt/tags/tag159.xml><?xml version="1.0" encoding="utf-8"?>
<p:tagLst xmlns:p="http://schemas.openxmlformats.org/presentationml/2006/main">
  <p:tag name="KSO_WM_BEAUTIFY_FLAG" val="#wm#"/>
  <p:tag name="KSO_WM_TEMPLATE_CATEGORY" val="custom"/>
  <p:tag name="KSO_WM_TEMPLATE_INDEX" val="20205081"/>
</p:tagLst>
</file>

<file path=ppt/tags/tag160.xml><?xml version="1.0" encoding="utf-8"?>
<p:tagLst xmlns:p="http://schemas.openxmlformats.org/presentationml/2006/main">
  <p:tag name="KSO_WM_DIAGRAM_VIRTUALLY_FRAME" val="{&quot;height&quot;:383.5188188976378,&quot;left&quot;:47.5,&quot;top&quot;:99.1311811023622,&quot;width&quot;:869.15}"/>
</p:tagLst>
</file>

<file path=ppt/tags/tag161.xml><?xml version="1.0" encoding="utf-8"?>
<p:tagLst xmlns:p="http://schemas.openxmlformats.org/presentationml/2006/main">
  <p:tag name="KSO_WM_DIAGRAM_VIRTUALLY_FRAME" val="{&quot;height&quot;:383.5188188976378,&quot;left&quot;:47.5,&quot;top&quot;:99.1311811023622,&quot;width&quot;:869.15}"/>
</p:tagLst>
</file>

<file path=ppt/tags/tag162.xml><?xml version="1.0" encoding="utf-8"?>
<p:tagLst xmlns:p="http://schemas.openxmlformats.org/presentationml/2006/main">
  <p:tag name="KSO_WM_DIAGRAM_VIRTUALLY_FRAME" val="{&quot;height&quot;:383.5188188976378,&quot;left&quot;:47.5,&quot;top&quot;:99.1311811023622,&quot;width&quot;:869.15}"/>
</p:tagLst>
</file>

<file path=ppt/tags/tag163.xml><?xml version="1.0" encoding="utf-8"?>
<p:tagLst xmlns:p="http://schemas.openxmlformats.org/presentationml/2006/main">
  <p:tag name="KSO_WM_BEAUTIFY_FLAG" val="#wm#"/>
  <p:tag name="KSO_WM_TEMPLATE_CATEGORY" val="custom"/>
  <p:tag name="KSO_WM_TEMPLATE_INDEX" val="20205081"/>
</p:tagLst>
</file>

<file path=ppt/tags/tag1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2932</Words>
  <Application>WPS 演示</Application>
  <PresentationFormat>宽屏</PresentationFormat>
  <Paragraphs>220</Paragraphs>
  <Slides>18</Slides>
  <Notes>4</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18</vt:i4>
      </vt:variant>
    </vt:vector>
  </HeadingPairs>
  <TitlesOfParts>
    <vt:vector size="38" baseType="lpstr">
      <vt:lpstr>Arial</vt:lpstr>
      <vt:lpstr>宋体</vt:lpstr>
      <vt:lpstr>Wingdings</vt:lpstr>
      <vt:lpstr>微软雅黑</vt:lpstr>
      <vt:lpstr>Wingdings</vt:lpstr>
      <vt:lpstr>微软雅黑 Light</vt:lpstr>
      <vt:lpstr>Calibri</vt:lpstr>
      <vt:lpstr>Calibri Light</vt:lpstr>
      <vt:lpstr>方正宋刻本秀楷简体</vt:lpstr>
      <vt:lpstr>方正兰亭黑_GBK</vt:lpstr>
      <vt:lpstr>黑体</vt:lpstr>
      <vt:lpstr>Calibri Light</vt:lpstr>
      <vt:lpstr>Times New Roman</vt:lpstr>
      <vt:lpstr>Bauhaus 93</vt:lpstr>
      <vt:lpstr>华文中宋</vt:lpstr>
      <vt:lpstr>仿宋</vt:lpstr>
      <vt:lpstr>Arial Unicode MS</vt:lpstr>
      <vt:lpstr>等线</vt:lpstr>
      <vt:lpstr>Gabriola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王峥峥</dc:creator>
  <cp:lastModifiedBy>李佳璐</cp:lastModifiedBy>
  <cp:revision>184</cp:revision>
  <dcterms:created xsi:type="dcterms:W3CDTF">2019-06-19T02:08:00Z</dcterms:created>
  <dcterms:modified xsi:type="dcterms:W3CDTF">2025-04-14T00:55:58Z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FAF77A18945C4E0EA39F51BB99982922_13</vt:lpwstr>
  </property>
</Properties>
</file>